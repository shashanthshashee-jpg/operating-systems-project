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610"/>
  </p:normalViewPr>
  <p:slideViewPr>
    <p:cSldViewPr snapToGrid="0" snapToObjects="1">
      <p:cViewPr varScale="1">
        <p:scale>
          <a:sx n="89" d="100"/>
          <a:sy n="89" d="100"/>
        </p:scale>
        <p:origin x="46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48625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I am presenting our Operating Systems and Systems Programming project titled Linux Deadlock Detection and Resource Management System. This project explores how an operating system can detect and recover from deadlocks that occur when multiple processes compete for limited resources. Over the next few minutes I will walk through the problem, our approach, and the expected outcomes.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discussing deadlock, let us understand a few basics. A process is a running program managed by the OS. A resource is anything a process needs, such as memory or a file. Because resources are limited, multiple processes competing for them can lead to conflicts — and in the worst case, a deadlock, where processes wait on each other forever.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core problem we are addressing. When processes compete for limited resources, one process can hold a resource while waiting for another that is held by a second process, which in turn waits on the first. This circular waiting is a deadlock, and once it happens, the affected processes cannot continue. This is why we need a system that can actively detect and manage such conditions.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has four clear objectives: first, simulate multiple processes competing for limited resources; second, detect deadlock conditions using a suitable algorithm; third, identify exactly which processes and resources are involved; and fourth, provide resource management with basic recovery mechanisms so the system can move forward again.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deadlock occurs only when four conditions are true at the same time: mutual exclusion, where a resource can be used by just one process; hold and wait, where a process keeps a resource while asking for another; no preemption, where resources cannot be forcibly taken away; and circular wait, where processes end up waiting on each other in a loop. If all four hold together, the system is deadlocked.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proposed architecture. The Process Manager and Resource Manager maintain the current state of processes and resources. The Resource Allocation Module handles requests, while the Deadlock Detection and Recovery Modules analyze that state to find and resolve deadlocks. A simple Command-Line Interface lets the user drive the simulation and observe results.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flowchart shows the overall working of the system. We initialize resources, create processes, and allocate resources as requests come in. After each request, we check the resource state and run deadlock detection. If no deadlock is found, execution continues. If a deadlock is detected, we identify the involved processes, trigger recovery, and update the resource state before the loop continues.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detection algorithm compares available, allocated, and requested resources for each process. If a process request can be satisfied, we simulate its completion and release its resources, then repeat for the rest. Processes that can never complete are flagged as deadlocked. In our example, P1 holds R1 but wants R2, while P2 holds R2 but wants R1 — a circular wait, so both are deadlocked.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 management covers the full lifecycle: allocation, requests, release, and continuous monitoring. When a deadlock is identified, our system supports two basic recovery strategies — releasing a resource from one process to break the wait cycle, or terminating a selected process outright. Either way, the system returns from a stalled state to one where execution can resume.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summarizes the OS concepts and Linux APIs relevant to our project. The deadlock detection algorithm, resource allocation logic, and the resource allocation graph are the core pieces we actually implement. The Banker's Algorithm is referenced conceptually for safety checking. Linux process APIs such as fork, wait, and kill are planned for a Linux-based implementation and are only used where genuinely needed — we are careful not to claim functionality we have not built.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is built entirely on a Linux-based stack. We use C and C plus plus with GCC and G plus plus for compilation, POSIX APIs for system-level functionality, and the Linux terminal for running and testing the simulation. Git and GitHub are used for version control and collaboration, with VS Code as our primary editor.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our system simulates multiple processes and resources, monitors allocation and requests in real time, reliably detects deadlocks, and precisely identifies the processes involved. It also demonstrates basic recovery mechanisms, giving practical, hands-on understanding of process and resource management in an operating system. Thank you, and I am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9.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3.png"/><Relationship Id="rId4" Type="http://schemas.openxmlformats.org/officeDocument/2006/relationships/image" Target="../media/image6.png"/><Relationship Id="rId9"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3.png"/></Relationships>
</file>

<file path=ppt/slides/_rels/slide1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128"/>
        </a:solidFill>
        <a:effectLst/>
      </p:bgPr>
    </p:bg>
    <p:spTree>
      <p:nvGrpSpPr>
        <p:cNvPr id="1" name=""/>
        <p:cNvGrpSpPr/>
        <p:nvPr/>
      </p:nvGrpSpPr>
      <p:grpSpPr>
        <a:xfrm>
          <a:off x="0" y="0"/>
          <a:ext cx="0" cy="0"/>
          <a:chOff x="0" y="0"/>
          <a:chExt cx="0" cy="0"/>
        </a:xfrm>
      </p:grpSpPr>
      <p:sp>
        <p:nvSpPr>
          <p:cNvPr id="2" name="Shape 0"/>
          <p:cNvSpPr/>
          <p:nvPr/>
        </p:nvSpPr>
        <p:spPr>
          <a:xfrm>
            <a:off x="9966960" y="502920"/>
            <a:ext cx="54864" cy="54864"/>
          </a:xfrm>
          <a:prstGeom prst="ellipse">
            <a:avLst/>
          </a:prstGeom>
          <a:solidFill>
            <a:srgbClr val="2A4574"/>
          </a:solidFill>
          <a:ln/>
        </p:spPr>
      </p:sp>
      <p:sp>
        <p:nvSpPr>
          <p:cNvPr id="3" name="Shape 1"/>
          <p:cNvSpPr/>
          <p:nvPr/>
        </p:nvSpPr>
        <p:spPr>
          <a:xfrm>
            <a:off x="10351008" y="502920"/>
            <a:ext cx="54864" cy="54864"/>
          </a:xfrm>
          <a:prstGeom prst="ellipse">
            <a:avLst/>
          </a:prstGeom>
          <a:solidFill>
            <a:srgbClr val="2A4574"/>
          </a:solidFill>
          <a:ln/>
        </p:spPr>
      </p:sp>
      <p:sp>
        <p:nvSpPr>
          <p:cNvPr id="4" name="Shape 2"/>
          <p:cNvSpPr/>
          <p:nvPr/>
        </p:nvSpPr>
        <p:spPr>
          <a:xfrm>
            <a:off x="10735056" y="502920"/>
            <a:ext cx="54864" cy="54864"/>
          </a:xfrm>
          <a:prstGeom prst="ellipse">
            <a:avLst/>
          </a:prstGeom>
          <a:solidFill>
            <a:srgbClr val="2A4574"/>
          </a:solidFill>
          <a:ln/>
        </p:spPr>
      </p:sp>
      <p:sp>
        <p:nvSpPr>
          <p:cNvPr id="5" name="Shape 3"/>
          <p:cNvSpPr/>
          <p:nvPr/>
        </p:nvSpPr>
        <p:spPr>
          <a:xfrm>
            <a:off x="11119104" y="502920"/>
            <a:ext cx="54864" cy="54864"/>
          </a:xfrm>
          <a:prstGeom prst="ellipse">
            <a:avLst/>
          </a:prstGeom>
          <a:solidFill>
            <a:srgbClr val="2A4574"/>
          </a:solidFill>
          <a:ln/>
        </p:spPr>
      </p:sp>
      <p:sp>
        <p:nvSpPr>
          <p:cNvPr id="6" name="Shape 4"/>
          <p:cNvSpPr/>
          <p:nvPr/>
        </p:nvSpPr>
        <p:spPr>
          <a:xfrm>
            <a:off x="11503152" y="502920"/>
            <a:ext cx="54864" cy="54864"/>
          </a:xfrm>
          <a:prstGeom prst="ellipse">
            <a:avLst/>
          </a:prstGeom>
          <a:solidFill>
            <a:srgbClr val="2A4574"/>
          </a:solidFill>
          <a:ln/>
        </p:spPr>
      </p:sp>
      <p:sp>
        <p:nvSpPr>
          <p:cNvPr id="7" name="Shape 5"/>
          <p:cNvSpPr/>
          <p:nvPr/>
        </p:nvSpPr>
        <p:spPr>
          <a:xfrm>
            <a:off x="5616245" y="937260"/>
            <a:ext cx="960120" cy="960120"/>
          </a:xfrm>
          <a:prstGeom prst="ellipse">
            <a:avLst/>
          </a:prstGeom>
          <a:solidFill>
            <a:srgbClr val="1B3A63"/>
          </a:solidFill>
          <a:ln/>
        </p:spPr>
      </p:sp>
      <p:pic>
        <p:nvPicPr>
          <p:cNvPr id="8" name="Image 0" descr="icons/cpu_cyan.png"/>
          <p:cNvPicPr>
            <a:picLocks noChangeAspect="1"/>
          </p:cNvPicPr>
          <p:nvPr/>
        </p:nvPicPr>
        <p:blipFill>
          <a:blip r:embed="rId3"/>
          <a:stretch>
            <a:fillRect/>
          </a:stretch>
        </p:blipFill>
        <p:spPr>
          <a:xfrm>
            <a:off x="5872277" y="1193292"/>
            <a:ext cx="448056" cy="448056"/>
          </a:xfrm>
          <a:prstGeom prst="rect">
            <a:avLst/>
          </a:prstGeom>
        </p:spPr>
      </p:pic>
      <p:sp>
        <p:nvSpPr>
          <p:cNvPr id="9" name="Text 6"/>
          <p:cNvSpPr/>
          <p:nvPr/>
        </p:nvSpPr>
        <p:spPr>
          <a:xfrm>
            <a:off x="914400" y="2331720"/>
            <a:ext cx="10360152" cy="320040"/>
          </a:xfrm>
          <a:prstGeom prst="rect">
            <a:avLst/>
          </a:prstGeom>
          <a:noFill/>
          <a:ln/>
        </p:spPr>
        <p:txBody>
          <a:bodyPr wrap="square" lIns="0" tIns="0" rIns="0" bIns="0" rtlCol="0" anchor="ctr"/>
          <a:lstStyle/>
          <a:p>
            <a:pPr marL="0" indent="0" algn="ctr">
              <a:buNone/>
            </a:pPr>
            <a:r>
              <a:rPr lang="en-US" sz="1300" b="1" kern="0" spc="200" dirty="0">
                <a:solidFill>
                  <a:srgbClr val="38BDF8"/>
                </a:solidFill>
                <a:latin typeface="Calibri" pitchFamily="34" charset="0"/>
                <a:ea typeface="Calibri" pitchFamily="34" charset="-122"/>
                <a:cs typeface="Calibri" pitchFamily="34" charset="-120"/>
              </a:rPr>
              <a:t>OPERATING SYSTEMS AND SYSTEMS PROGRAMMING</a:t>
            </a:r>
            <a:endParaRPr lang="en-US" sz="1300" dirty="0"/>
          </a:p>
        </p:txBody>
      </p:sp>
      <p:sp>
        <p:nvSpPr>
          <p:cNvPr id="10" name="Text 7"/>
          <p:cNvSpPr/>
          <p:nvPr/>
        </p:nvSpPr>
        <p:spPr>
          <a:xfrm>
            <a:off x="914400" y="2697480"/>
            <a:ext cx="10360152" cy="1371600"/>
          </a:xfrm>
          <a:prstGeom prst="rect">
            <a:avLst/>
          </a:prstGeom>
          <a:noFill/>
          <a:ln/>
        </p:spPr>
        <p:txBody>
          <a:bodyPr wrap="square" lIns="0" tIns="0" rIns="0" bIns="0" rtlCol="0" anchor="ctr"/>
          <a:lstStyle/>
          <a:p>
            <a:pPr marL="0" indent="0" algn="ctr">
              <a:lnSpc>
                <a:spcPct val="108000"/>
              </a:lnSpc>
              <a:buNone/>
            </a:pPr>
            <a:r>
              <a:rPr lang="en-US" sz="3800" b="1" dirty="0">
                <a:solidFill>
                  <a:srgbClr val="FFFFFF"/>
                </a:solidFill>
                <a:latin typeface="Cambria" pitchFamily="34" charset="0"/>
                <a:ea typeface="Cambria" pitchFamily="34" charset="-122"/>
                <a:cs typeface="Cambria" pitchFamily="34" charset="-120"/>
              </a:rPr>
              <a:t>Linux Deadlock Detection and</a:t>
            </a:r>
            <a:endParaRPr lang="en-US" sz="3800" dirty="0"/>
          </a:p>
          <a:p>
            <a:pPr marL="0" indent="0" algn="ctr">
              <a:lnSpc>
                <a:spcPct val="108000"/>
              </a:lnSpc>
              <a:buNone/>
            </a:pPr>
            <a:r>
              <a:rPr lang="en-US" sz="3800" b="1" dirty="0">
                <a:solidFill>
                  <a:srgbClr val="FFFFFF"/>
                </a:solidFill>
                <a:latin typeface="Cambria" pitchFamily="34" charset="0"/>
                <a:ea typeface="Cambria" pitchFamily="34" charset="-122"/>
                <a:cs typeface="Cambria" pitchFamily="34" charset="-120"/>
              </a:rPr>
              <a:t>Resource Management System</a:t>
            </a:r>
            <a:endParaRPr lang="en-US" sz="3800" dirty="0"/>
          </a:p>
        </p:txBody>
      </p:sp>
      <p:sp>
        <p:nvSpPr>
          <p:cNvPr id="11" name="Shape 8"/>
          <p:cNvSpPr/>
          <p:nvPr/>
        </p:nvSpPr>
        <p:spPr>
          <a:xfrm>
            <a:off x="5184648" y="4160520"/>
            <a:ext cx="1828800" cy="0"/>
          </a:xfrm>
          <a:prstGeom prst="line">
            <a:avLst/>
          </a:prstGeom>
          <a:noFill/>
          <a:ln w="12700">
            <a:solidFill>
              <a:srgbClr val="2A4574"/>
            </a:solidFill>
            <a:prstDash val="solid"/>
          </a:ln>
        </p:spPr>
      </p:sp>
      <p:sp>
        <p:nvSpPr>
          <p:cNvPr id="12" name="Text 9"/>
          <p:cNvSpPr/>
          <p:nvPr/>
        </p:nvSpPr>
        <p:spPr>
          <a:xfrm>
            <a:off x="914400" y="4297680"/>
            <a:ext cx="10360152" cy="320040"/>
          </a:xfrm>
          <a:prstGeom prst="rect">
            <a:avLst/>
          </a:prstGeom>
          <a:noFill/>
          <a:ln/>
        </p:spPr>
        <p:txBody>
          <a:bodyPr wrap="square" lIns="0" tIns="0" rIns="0" bIns="0" rtlCol="0" anchor="ctr"/>
          <a:lstStyle/>
          <a:p>
            <a:pPr marL="0" indent="0" algn="ctr">
              <a:buNone/>
            </a:pPr>
            <a:r>
              <a:rPr lang="en-US" sz="1400" dirty="0">
                <a:solidFill>
                  <a:srgbClr val="B9D4FF"/>
                </a:solidFill>
                <a:latin typeface="Calibri" pitchFamily="34" charset="0"/>
                <a:ea typeface="Calibri" pitchFamily="34" charset="-122"/>
                <a:cs typeface="Calibri" pitchFamily="34" charset="-120"/>
              </a:rPr>
              <a:t>Course Code: 25CS2104E   |   Academic Year 2026–27, Term-I</a:t>
            </a:r>
            <a:endParaRPr lang="en-US" sz="1400" dirty="0"/>
          </a:p>
        </p:txBody>
      </p:sp>
      <p:sp>
        <p:nvSpPr>
          <p:cNvPr id="13" name="Shape 10"/>
          <p:cNvSpPr/>
          <p:nvPr/>
        </p:nvSpPr>
        <p:spPr>
          <a:xfrm>
            <a:off x="3355848" y="4846320"/>
            <a:ext cx="5486400" cy="1508760"/>
          </a:xfrm>
          <a:prstGeom prst="roundRect">
            <a:avLst>
              <a:gd name="adj" fmla="val 4848"/>
            </a:avLst>
          </a:prstGeom>
          <a:solidFill>
            <a:srgbClr val="13294B"/>
          </a:solidFill>
          <a:ln/>
          <a:effectLst>
            <a:outerShdw blurRad="101600" dist="38100" dir="5400000" algn="bl" rotWithShape="0">
              <a:srgbClr val="000000">
                <a:alpha val="35000"/>
              </a:srgbClr>
            </a:outerShdw>
          </a:effectLst>
        </p:spPr>
      </p:sp>
      <p:sp>
        <p:nvSpPr>
          <p:cNvPr id="14" name="Text 11"/>
          <p:cNvSpPr/>
          <p:nvPr/>
        </p:nvSpPr>
        <p:spPr>
          <a:xfrm>
            <a:off x="3630168" y="5010912"/>
            <a:ext cx="4937760" cy="274320"/>
          </a:xfrm>
          <a:prstGeom prst="rect">
            <a:avLst/>
          </a:prstGeom>
          <a:noFill/>
          <a:ln/>
        </p:spPr>
        <p:txBody>
          <a:bodyPr wrap="square" lIns="0" tIns="0" rIns="0" bIns="0" rtlCol="0" anchor="ctr"/>
          <a:lstStyle/>
          <a:p>
            <a:pPr marL="0" indent="0">
              <a:buNone/>
            </a:pPr>
            <a:r>
              <a:rPr lang="en-US" sz="1100" b="1" kern="0" spc="150" dirty="0">
                <a:solidFill>
                  <a:srgbClr val="38BDF8"/>
                </a:solidFill>
                <a:latin typeface="Calibri" pitchFamily="34" charset="0"/>
                <a:ea typeface="Calibri" pitchFamily="34" charset="-122"/>
                <a:cs typeface="Calibri" pitchFamily="34" charset="-120"/>
              </a:rPr>
              <a:t>TEAM MEMBERS</a:t>
            </a:r>
            <a:endParaRPr lang="en-US" sz="1100" dirty="0"/>
          </a:p>
        </p:txBody>
      </p:sp>
      <p:sp>
        <p:nvSpPr>
          <p:cNvPr id="15" name="Text 12"/>
          <p:cNvSpPr/>
          <p:nvPr/>
        </p:nvSpPr>
        <p:spPr>
          <a:xfrm>
            <a:off x="3630168" y="5303520"/>
            <a:ext cx="4937760" cy="960120"/>
          </a:xfrm>
          <a:prstGeom prst="rect">
            <a:avLst/>
          </a:prstGeom>
          <a:noFill/>
          <a:ln/>
        </p:spPr>
        <p:txBody>
          <a:bodyPr wrap="square" lIns="0" tIns="0" rIns="0" bIns="0" rtlCol="0" anchor="t"/>
          <a:lstStyle/>
          <a:p>
            <a:pPr marL="0" indent="0">
              <a:lnSpc>
                <a:spcPct val="125000"/>
              </a:lnSpc>
              <a:buNone/>
            </a:pPr>
            <a:r>
              <a:rPr lang="en-US" sz="1300" b="1" dirty="0">
                <a:solidFill>
                  <a:srgbClr val="FFFFFF"/>
                </a:solidFill>
                <a:latin typeface="Calibri" pitchFamily="34" charset="0"/>
                <a:ea typeface="Calibri" pitchFamily="34" charset="-122"/>
                <a:cs typeface="Calibri" pitchFamily="34" charset="-120"/>
              </a:rPr>
              <a:t>M Shashanth</a:t>
            </a:r>
            <a:r>
              <a:rPr lang="en-US" sz="1300" dirty="0">
                <a:solidFill>
                  <a:srgbClr val="8FA3C7"/>
                </a:solidFill>
                <a:latin typeface="Calibri" pitchFamily="34" charset="0"/>
                <a:ea typeface="Calibri" pitchFamily="34" charset="-122"/>
                <a:cs typeface="Calibri" pitchFamily="34" charset="-120"/>
              </a:rPr>
              <a:t>  —   Roll No. </a:t>
            </a:r>
            <a:r>
              <a:rPr lang="en-US" sz="1300">
                <a:solidFill>
                  <a:srgbClr val="8FA3C7"/>
                </a:solidFill>
                <a:latin typeface="Calibri" pitchFamily="34" charset="0"/>
                <a:ea typeface="Calibri" pitchFamily="34" charset="-122"/>
                <a:cs typeface="Calibri" pitchFamily="34" charset="-120"/>
              </a:rPr>
              <a:t>[2520090129]</a:t>
            </a:r>
            <a:r>
              <a:rPr lang="en-US" sz="1300" dirty="0">
                <a:solidFill>
                  <a:srgbClr val="8FA3C7"/>
                </a:solidFill>
                <a:latin typeface="Calibri" pitchFamily="34" charset="0"/>
                <a:ea typeface="Calibri" pitchFamily="34" charset="-122"/>
                <a:cs typeface="Calibri" pitchFamily="34" charset="-120"/>
              </a:rPr>
              <a:t>
</a:t>
            </a:r>
            <a:r>
              <a:rPr lang="en-US" sz="1300" b="1" dirty="0">
                <a:solidFill>
                  <a:srgbClr val="FFFFFF"/>
                </a:solidFill>
                <a:latin typeface="Calibri" pitchFamily="34" charset="0"/>
                <a:ea typeface="Calibri" pitchFamily="34" charset="-122"/>
                <a:cs typeface="Calibri" pitchFamily="34" charset="-120"/>
              </a:rPr>
              <a:t>M Anthony Akshay</a:t>
            </a:r>
            <a:r>
              <a:rPr lang="en-US" sz="1300" dirty="0">
                <a:solidFill>
                  <a:srgbClr val="8FA3C7"/>
                </a:solidFill>
                <a:latin typeface="Calibri" pitchFamily="34" charset="0"/>
                <a:ea typeface="Calibri" pitchFamily="34" charset="-122"/>
                <a:cs typeface="Calibri" pitchFamily="34" charset="-120"/>
              </a:rPr>
              <a:t>   —   Roll No. [2520090065]
</a:t>
            </a:r>
            <a:r>
              <a:rPr lang="en-US" sz="1300" b="1" dirty="0">
                <a:solidFill>
                  <a:srgbClr val="FFFFFF"/>
                </a:solidFill>
                <a:latin typeface="Calibri" pitchFamily="34" charset="0"/>
                <a:ea typeface="Calibri" pitchFamily="34" charset="-122"/>
                <a:cs typeface="Calibri" pitchFamily="34" charset="-120"/>
              </a:rPr>
              <a:t>G Nandha Kishore </a:t>
            </a:r>
            <a:r>
              <a:rPr lang="en-US" sz="1300" dirty="0">
                <a:solidFill>
                  <a:srgbClr val="8FA3C7"/>
                </a:solidFill>
                <a:latin typeface="Calibri" pitchFamily="34" charset="0"/>
                <a:ea typeface="Calibri" pitchFamily="34" charset="-122"/>
                <a:cs typeface="Calibri" pitchFamily="34" charset="-120"/>
              </a:rPr>
              <a:t>—   Roll No. [2520080050]</a:t>
            </a:r>
            <a:endParaRPr lang="en-US" sz="1300" dirty="0"/>
          </a:p>
        </p:txBody>
      </p:sp>
      <p:sp>
        <p:nvSpPr>
          <p:cNvPr id="16" name="Text 13"/>
          <p:cNvSpPr/>
          <p:nvPr/>
        </p:nvSpPr>
        <p:spPr>
          <a:xfrm>
            <a:off x="914400" y="6473952"/>
            <a:ext cx="10360152" cy="274320"/>
          </a:xfrm>
          <a:prstGeom prst="rect">
            <a:avLst/>
          </a:prstGeom>
          <a:noFill/>
          <a:ln/>
        </p:spPr>
        <p:txBody>
          <a:bodyPr wrap="square" lIns="0" tIns="0" rIns="0" bIns="0" rtlCol="0" anchor="ctr"/>
          <a:lstStyle/>
          <a:p>
            <a:pPr marL="0" indent="0" algn="ctr">
              <a:buNone/>
            </a:pPr>
            <a:r>
              <a:rPr lang="en-US" sz="1100" dirty="0">
                <a:solidFill>
                  <a:srgbClr val="8FA3C7"/>
                </a:solidFill>
                <a:latin typeface="Calibri" pitchFamily="34" charset="0"/>
                <a:ea typeface="Calibri" pitchFamily="34" charset="-122"/>
                <a:cs typeface="Calibri" pitchFamily="34" charset="-120"/>
              </a:rPr>
              <a:t>KLH, </a:t>
            </a:r>
            <a:r>
              <a:rPr lang="en-US" sz="1100" dirty="0" err="1">
                <a:solidFill>
                  <a:srgbClr val="8FA3C7"/>
                </a:solidFill>
                <a:latin typeface="Calibri" pitchFamily="34" charset="0"/>
                <a:ea typeface="Calibri" pitchFamily="34" charset="-122"/>
                <a:cs typeface="Calibri" pitchFamily="34" charset="-120"/>
              </a:rPr>
              <a:t>Bachupally</a:t>
            </a:r>
            <a:r>
              <a:rPr lang="en-US" sz="1100" dirty="0">
                <a:solidFill>
                  <a:srgbClr val="8FA3C7"/>
                </a:solidFill>
                <a:latin typeface="Calibri" pitchFamily="34" charset="0"/>
                <a:ea typeface="Calibri" pitchFamily="34" charset="-122"/>
                <a:cs typeface="Calibri" pitchFamily="34" charset="-120"/>
              </a:rPr>
              <a:t>   |   [CSIT]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128"/>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marL="0" indent="0">
              <a:buNone/>
            </a:pPr>
            <a:r>
              <a:rPr lang="en-US" sz="1200" b="1" kern="0" spc="200" dirty="0">
                <a:solidFill>
                  <a:srgbClr val="38BDF8"/>
                </a:solidFill>
                <a:latin typeface="Calibri" pitchFamily="34" charset="0"/>
                <a:ea typeface="Calibri" pitchFamily="34" charset="-122"/>
                <a:cs typeface="Calibri" pitchFamily="34" charset="-120"/>
              </a:rPr>
              <a:t>GETTING STARTED</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Introduction</a:t>
            </a:r>
            <a:endParaRPr lang="en-US" sz="3000" dirty="0"/>
          </a:p>
        </p:txBody>
      </p:sp>
      <p:sp>
        <p:nvSpPr>
          <p:cNvPr id="4" name="Shape 2"/>
          <p:cNvSpPr/>
          <p:nvPr/>
        </p:nvSpPr>
        <p:spPr>
          <a:xfrm>
            <a:off x="548640" y="1600200"/>
            <a:ext cx="5212080" cy="1965960"/>
          </a:xfrm>
          <a:prstGeom prst="roundRect">
            <a:avLst>
              <a:gd name="adj" fmla="val 3721"/>
            </a:avLst>
          </a:prstGeom>
          <a:solidFill>
            <a:srgbClr val="13294B"/>
          </a:solidFill>
          <a:ln/>
          <a:effectLst>
            <a:outerShdw blurRad="101600" dist="38100" dir="5400000" algn="bl" rotWithShape="0">
              <a:srgbClr val="000000">
                <a:alpha val="35000"/>
              </a:srgbClr>
            </a:outerShdw>
          </a:effectLst>
        </p:spPr>
      </p:sp>
      <p:sp>
        <p:nvSpPr>
          <p:cNvPr id="5" name="Shape 3"/>
          <p:cNvSpPr/>
          <p:nvPr/>
        </p:nvSpPr>
        <p:spPr>
          <a:xfrm>
            <a:off x="832104" y="1819656"/>
            <a:ext cx="566928" cy="566928"/>
          </a:xfrm>
          <a:prstGeom prst="ellipse">
            <a:avLst/>
          </a:prstGeom>
          <a:solidFill>
            <a:srgbClr val="1B3A63"/>
          </a:solidFill>
          <a:ln/>
        </p:spPr>
      </p:sp>
      <p:pic>
        <p:nvPicPr>
          <p:cNvPr id="6" name="Image 0" descr="icons/cpu_cyan.png"/>
          <p:cNvPicPr>
            <a:picLocks noChangeAspect="1"/>
          </p:cNvPicPr>
          <p:nvPr/>
        </p:nvPicPr>
        <p:blipFill>
          <a:blip r:embed="rId3"/>
          <a:stretch>
            <a:fillRect/>
          </a:stretch>
        </p:blipFill>
        <p:spPr>
          <a:xfrm>
            <a:off x="978408" y="1965960"/>
            <a:ext cx="274320" cy="274320"/>
          </a:xfrm>
          <a:prstGeom prst="rect">
            <a:avLst/>
          </a:prstGeom>
        </p:spPr>
      </p:pic>
      <p:sp>
        <p:nvSpPr>
          <p:cNvPr id="7" name="Text 4"/>
          <p:cNvSpPr/>
          <p:nvPr/>
        </p:nvSpPr>
        <p:spPr>
          <a:xfrm>
            <a:off x="1508760" y="1801368"/>
            <a:ext cx="4023360" cy="457200"/>
          </a:xfrm>
          <a:prstGeom prst="rect">
            <a:avLst/>
          </a:prstGeom>
          <a:noFill/>
          <a:ln/>
        </p:spPr>
        <p:txBody>
          <a:bodyPr wrap="square" lIns="0" tIns="0" rIns="0" bIns="0"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What is a Process?</a:t>
            </a:r>
            <a:endParaRPr lang="en-US" sz="1600" dirty="0"/>
          </a:p>
        </p:txBody>
      </p:sp>
      <p:sp>
        <p:nvSpPr>
          <p:cNvPr id="8" name="Text 5"/>
          <p:cNvSpPr/>
          <p:nvPr/>
        </p:nvSpPr>
        <p:spPr>
          <a:xfrm>
            <a:off x="868680" y="2468880"/>
            <a:ext cx="4572000" cy="960120"/>
          </a:xfrm>
          <a:prstGeom prst="rect">
            <a:avLst/>
          </a:prstGeom>
          <a:noFill/>
          <a:ln/>
        </p:spPr>
        <p:txBody>
          <a:bodyPr wrap="square" lIns="0" tIns="0" rIns="0" bIns="0" rtlCol="0" anchor="t"/>
          <a:lstStyle/>
          <a:p>
            <a:pPr marL="0" indent="0">
              <a:lnSpc>
                <a:spcPct val="115000"/>
              </a:lnSpc>
              <a:buNone/>
            </a:pPr>
            <a:r>
              <a:rPr lang="en-US" sz="1250" dirty="0">
                <a:solidFill>
                  <a:srgbClr val="B9D4FF"/>
                </a:solidFill>
                <a:latin typeface="Calibri" pitchFamily="34" charset="0"/>
                <a:ea typeface="Calibri" pitchFamily="34" charset="-122"/>
                <a:cs typeface="Calibri" pitchFamily="34" charset="-120"/>
              </a:rPr>
              <a:t>A program in execution — an independent unit of work managed by the OS, with its own memory, state, and resource needs.</a:t>
            </a:r>
            <a:endParaRPr lang="en-US" sz="1250" dirty="0"/>
          </a:p>
        </p:txBody>
      </p:sp>
      <p:sp>
        <p:nvSpPr>
          <p:cNvPr id="9" name="Shape 6"/>
          <p:cNvSpPr/>
          <p:nvPr/>
        </p:nvSpPr>
        <p:spPr>
          <a:xfrm>
            <a:off x="6217920" y="1600200"/>
            <a:ext cx="5212080" cy="1965960"/>
          </a:xfrm>
          <a:prstGeom prst="roundRect">
            <a:avLst>
              <a:gd name="adj" fmla="val 3721"/>
            </a:avLst>
          </a:prstGeom>
          <a:solidFill>
            <a:srgbClr val="13294B"/>
          </a:solidFill>
          <a:ln/>
          <a:effectLst>
            <a:outerShdw blurRad="101600" dist="38100" dir="5400000" algn="bl" rotWithShape="0">
              <a:srgbClr val="000000">
                <a:alpha val="35000"/>
              </a:srgbClr>
            </a:outerShdw>
          </a:effectLst>
        </p:spPr>
      </p:sp>
      <p:sp>
        <p:nvSpPr>
          <p:cNvPr id="10" name="Shape 7"/>
          <p:cNvSpPr/>
          <p:nvPr/>
        </p:nvSpPr>
        <p:spPr>
          <a:xfrm>
            <a:off x="6501384" y="1819656"/>
            <a:ext cx="566928" cy="566928"/>
          </a:xfrm>
          <a:prstGeom prst="ellipse">
            <a:avLst/>
          </a:prstGeom>
          <a:solidFill>
            <a:srgbClr val="1B3A63"/>
          </a:solidFill>
          <a:ln/>
        </p:spPr>
      </p:sp>
      <p:pic>
        <p:nvPicPr>
          <p:cNvPr id="11" name="Image 1" descr="icons/database_cyan.png"/>
          <p:cNvPicPr>
            <a:picLocks noChangeAspect="1"/>
          </p:cNvPicPr>
          <p:nvPr/>
        </p:nvPicPr>
        <p:blipFill>
          <a:blip r:embed="rId4"/>
          <a:stretch>
            <a:fillRect/>
          </a:stretch>
        </p:blipFill>
        <p:spPr>
          <a:xfrm>
            <a:off x="6647688" y="1965960"/>
            <a:ext cx="274320" cy="274320"/>
          </a:xfrm>
          <a:prstGeom prst="rect">
            <a:avLst/>
          </a:prstGeom>
        </p:spPr>
      </p:pic>
      <p:sp>
        <p:nvSpPr>
          <p:cNvPr id="12" name="Text 8"/>
          <p:cNvSpPr/>
          <p:nvPr/>
        </p:nvSpPr>
        <p:spPr>
          <a:xfrm>
            <a:off x="7178040" y="1801368"/>
            <a:ext cx="4023360" cy="457200"/>
          </a:xfrm>
          <a:prstGeom prst="rect">
            <a:avLst/>
          </a:prstGeom>
          <a:noFill/>
          <a:ln/>
        </p:spPr>
        <p:txBody>
          <a:bodyPr wrap="square" lIns="0" tIns="0" rIns="0" bIns="0"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What is a System Resource?</a:t>
            </a:r>
            <a:endParaRPr lang="en-US" sz="1600" dirty="0"/>
          </a:p>
        </p:txBody>
      </p:sp>
      <p:sp>
        <p:nvSpPr>
          <p:cNvPr id="13" name="Text 9"/>
          <p:cNvSpPr/>
          <p:nvPr/>
        </p:nvSpPr>
        <p:spPr>
          <a:xfrm>
            <a:off x="6537960" y="2468880"/>
            <a:ext cx="4572000" cy="960120"/>
          </a:xfrm>
          <a:prstGeom prst="rect">
            <a:avLst/>
          </a:prstGeom>
          <a:noFill/>
          <a:ln/>
        </p:spPr>
        <p:txBody>
          <a:bodyPr wrap="square" lIns="0" tIns="0" rIns="0" bIns="0" rtlCol="0" anchor="t"/>
          <a:lstStyle/>
          <a:p>
            <a:pPr marL="0" indent="0">
              <a:lnSpc>
                <a:spcPct val="115000"/>
              </a:lnSpc>
              <a:buNone/>
            </a:pPr>
            <a:r>
              <a:rPr lang="en-US" sz="1250" dirty="0">
                <a:solidFill>
                  <a:srgbClr val="B9D4FF"/>
                </a:solidFill>
                <a:latin typeface="Calibri" pitchFamily="34" charset="0"/>
                <a:ea typeface="Calibri" pitchFamily="34" charset="-122"/>
                <a:cs typeface="Calibri" pitchFamily="34" charset="-120"/>
              </a:rPr>
              <a:t>Anything a process needs to run: CPU time, memory, files, printers, or I/O devices. Resources are often limited in number.</a:t>
            </a:r>
            <a:endParaRPr lang="en-US" sz="1250" dirty="0"/>
          </a:p>
        </p:txBody>
      </p:sp>
      <p:sp>
        <p:nvSpPr>
          <p:cNvPr id="14" name="Shape 10"/>
          <p:cNvSpPr/>
          <p:nvPr/>
        </p:nvSpPr>
        <p:spPr>
          <a:xfrm>
            <a:off x="548640" y="3886200"/>
            <a:ext cx="5212080" cy="1965960"/>
          </a:xfrm>
          <a:prstGeom prst="roundRect">
            <a:avLst>
              <a:gd name="adj" fmla="val 3721"/>
            </a:avLst>
          </a:prstGeom>
          <a:solidFill>
            <a:srgbClr val="13294B"/>
          </a:solidFill>
          <a:ln/>
          <a:effectLst>
            <a:outerShdw blurRad="101600" dist="38100" dir="5400000" algn="bl" rotWithShape="0">
              <a:srgbClr val="000000">
                <a:alpha val="35000"/>
              </a:srgbClr>
            </a:outerShdw>
          </a:effectLst>
        </p:spPr>
      </p:sp>
      <p:sp>
        <p:nvSpPr>
          <p:cNvPr id="15" name="Shape 11"/>
          <p:cNvSpPr/>
          <p:nvPr/>
        </p:nvSpPr>
        <p:spPr>
          <a:xfrm>
            <a:off x="832104" y="4105656"/>
            <a:ext cx="566928" cy="566928"/>
          </a:xfrm>
          <a:prstGeom prst="ellipse">
            <a:avLst/>
          </a:prstGeom>
          <a:solidFill>
            <a:srgbClr val="1B3A63"/>
          </a:solidFill>
          <a:ln/>
        </p:spPr>
      </p:sp>
      <p:pic>
        <p:nvPicPr>
          <p:cNvPr id="16" name="Image 2" descr="icons/users_cyan.png"/>
          <p:cNvPicPr>
            <a:picLocks noChangeAspect="1"/>
          </p:cNvPicPr>
          <p:nvPr/>
        </p:nvPicPr>
        <p:blipFill>
          <a:blip r:embed="rId5"/>
          <a:stretch>
            <a:fillRect/>
          </a:stretch>
        </p:blipFill>
        <p:spPr>
          <a:xfrm>
            <a:off x="978408" y="4251960"/>
            <a:ext cx="274320" cy="274320"/>
          </a:xfrm>
          <a:prstGeom prst="rect">
            <a:avLst/>
          </a:prstGeom>
        </p:spPr>
      </p:pic>
      <p:sp>
        <p:nvSpPr>
          <p:cNvPr id="17" name="Text 12"/>
          <p:cNvSpPr/>
          <p:nvPr/>
        </p:nvSpPr>
        <p:spPr>
          <a:xfrm>
            <a:off x="1508760" y="4087368"/>
            <a:ext cx="4023360" cy="457200"/>
          </a:xfrm>
          <a:prstGeom prst="rect">
            <a:avLst/>
          </a:prstGeom>
          <a:noFill/>
          <a:ln/>
        </p:spPr>
        <p:txBody>
          <a:bodyPr wrap="square" lIns="0" tIns="0" rIns="0" bIns="0"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Why Processes Compete</a:t>
            </a:r>
            <a:endParaRPr lang="en-US" sz="1600" dirty="0"/>
          </a:p>
        </p:txBody>
      </p:sp>
      <p:sp>
        <p:nvSpPr>
          <p:cNvPr id="18" name="Text 13"/>
          <p:cNvSpPr/>
          <p:nvPr/>
        </p:nvSpPr>
        <p:spPr>
          <a:xfrm>
            <a:off x="868680" y="4754880"/>
            <a:ext cx="4572000" cy="960120"/>
          </a:xfrm>
          <a:prstGeom prst="rect">
            <a:avLst/>
          </a:prstGeom>
          <a:noFill/>
          <a:ln/>
        </p:spPr>
        <p:txBody>
          <a:bodyPr wrap="square" lIns="0" tIns="0" rIns="0" bIns="0" rtlCol="0" anchor="t"/>
          <a:lstStyle/>
          <a:p>
            <a:pPr marL="0" indent="0">
              <a:lnSpc>
                <a:spcPct val="115000"/>
              </a:lnSpc>
              <a:buNone/>
            </a:pPr>
            <a:r>
              <a:rPr lang="en-US" sz="1250" dirty="0">
                <a:solidFill>
                  <a:srgbClr val="B9D4FF"/>
                </a:solidFill>
                <a:latin typeface="Calibri" pitchFamily="34" charset="0"/>
                <a:ea typeface="Calibri" pitchFamily="34" charset="-122"/>
                <a:cs typeface="Calibri" pitchFamily="34" charset="-120"/>
              </a:rPr>
              <a:t>Multiple processes run concurrently but resources are finite, so the OS must allocate and share them fairly among competing processes.</a:t>
            </a:r>
            <a:endParaRPr lang="en-US" sz="1250" dirty="0"/>
          </a:p>
        </p:txBody>
      </p:sp>
      <p:sp>
        <p:nvSpPr>
          <p:cNvPr id="19" name="Shape 14"/>
          <p:cNvSpPr/>
          <p:nvPr/>
        </p:nvSpPr>
        <p:spPr>
          <a:xfrm>
            <a:off x="6217920" y="3886200"/>
            <a:ext cx="5212080" cy="1965960"/>
          </a:xfrm>
          <a:prstGeom prst="roundRect">
            <a:avLst>
              <a:gd name="adj" fmla="val 3721"/>
            </a:avLst>
          </a:prstGeom>
          <a:solidFill>
            <a:srgbClr val="13294B"/>
          </a:solidFill>
          <a:ln/>
          <a:effectLst>
            <a:outerShdw blurRad="101600" dist="38100" dir="5400000" algn="bl" rotWithShape="0">
              <a:srgbClr val="000000">
                <a:alpha val="35000"/>
              </a:srgbClr>
            </a:outerShdw>
          </a:effectLst>
        </p:spPr>
      </p:sp>
      <p:sp>
        <p:nvSpPr>
          <p:cNvPr id="20" name="Shape 15"/>
          <p:cNvSpPr/>
          <p:nvPr/>
        </p:nvSpPr>
        <p:spPr>
          <a:xfrm>
            <a:off x="6501384" y="4105656"/>
            <a:ext cx="566928" cy="566928"/>
          </a:xfrm>
          <a:prstGeom prst="ellipse">
            <a:avLst/>
          </a:prstGeom>
          <a:solidFill>
            <a:srgbClr val="1B3A63"/>
          </a:solidFill>
          <a:ln/>
        </p:spPr>
      </p:sp>
      <p:pic>
        <p:nvPicPr>
          <p:cNvPr id="21" name="Image 3" descr="icons/lock_cyan.png"/>
          <p:cNvPicPr>
            <a:picLocks noChangeAspect="1"/>
          </p:cNvPicPr>
          <p:nvPr/>
        </p:nvPicPr>
        <p:blipFill>
          <a:blip r:embed="rId6"/>
          <a:stretch>
            <a:fillRect/>
          </a:stretch>
        </p:blipFill>
        <p:spPr>
          <a:xfrm>
            <a:off x="6647688" y="4251960"/>
            <a:ext cx="274320" cy="274320"/>
          </a:xfrm>
          <a:prstGeom prst="rect">
            <a:avLst/>
          </a:prstGeom>
        </p:spPr>
      </p:pic>
      <p:sp>
        <p:nvSpPr>
          <p:cNvPr id="22" name="Text 16"/>
          <p:cNvSpPr/>
          <p:nvPr/>
        </p:nvSpPr>
        <p:spPr>
          <a:xfrm>
            <a:off x="7178040" y="4087368"/>
            <a:ext cx="4023360" cy="457200"/>
          </a:xfrm>
          <a:prstGeom prst="rect">
            <a:avLst/>
          </a:prstGeom>
          <a:noFill/>
          <a:ln/>
        </p:spPr>
        <p:txBody>
          <a:bodyPr wrap="square" lIns="0" tIns="0" rIns="0" bIns="0"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Introducing Deadlock</a:t>
            </a:r>
            <a:endParaRPr lang="en-US" sz="1600" dirty="0"/>
          </a:p>
        </p:txBody>
      </p:sp>
      <p:sp>
        <p:nvSpPr>
          <p:cNvPr id="23" name="Text 17"/>
          <p:cNvSpPr/>
          <p:nvPr/>
        </p:nvSpPr>
        <p:spPr>
          <a:xfrm>
            <a:off x="6537960" y="4754880"/>
            <a:ext cx="4572000" cy="960120"/>
          </a:xfrm>
          <a:prstGeom prst="rect">
            <a:avLst/>
          </a:prstGeom>
          <a:noFill/>
          <a:ln/>
        </p:spPr>
        <p:txBody>
          <a:bodyPr wrap="square" lIns="0" tIns="0" rIns="0" bIns="0" rtlCol="0" anchor="t"/>
          <a:lstStyle/>
          <a:p>
            <a:pPr marL="0" indent="0">
              <a:lnSpc>
                <a:spcPct val="115000"/>
              </a:lnSpc>
              <a:buNone/>
            </a:pPr>
            <a:r>
              <a:rPr lang="en-US" sz="1250" dirty="0">
                <a:solidFill>
                  <a:srgbClr val="B9D4FF"/>
                </a:solidFill>
                <a:latin typeface="Calibri" pitchFamily="34" charset="0"/>
                <a:ea typeface="Calibri" pitchFamily="34" charset="-122"/>
                <a:cs typeface="Calibri" pitchFamily="34" charset="-120"/>
              </a:rPr>
              <a:t>When processes hold resources while waiting on each other in a cycle, none can proceed — the system reaches a deadlock.</a:t>
            </a:r>
            <a:endParaRPr lang="en-US" sz="1250" dirty="0"/>
          </a:p>
        </p:txBody>
      </p:sp>
      <p:sp>
        <p:nvSpPr>
          <p:cNvPr id="24" name="Text 18"/>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8FA3C7"/>
                </a:solidFill>
                <a:latin typeface="Calibri" pitchFamily="34" charset="0"/>
                <a:ea typeface="Calibri" pitchFamily="34" charset="-122"/>
                <a:cs typeface="Calibri" pitchFamily="34" charset="-120"/>
              </a:rPr>
              <a:t>Linux Deadlock Detection and Resource Management System</a:t>
            </a:r>
            <a:endParaRPr lang="en-US" sz="900" dirty="0"/>
          </a:p>
        </p:txBody>
      </p:sp>
      <p:sp>
        <p:nvSpPr>
          <p:cNvPr id="25" name="Text 19"/>
          <p:cNvSpPr/>
          <p:nvPr/>
        </p:nvSpPr>
        <p:spPr>
          <a:xfrm>
            <a:off x="11457432" y="6510528"/>
            <a:ext cx="365760" cy="274320"/>
          </a:xfrm>
          <a:prstGeom prst="rect">
            <a:avLst/>
          </a:prstGeom>
          <a:noFill/>
          <a:ln/>
        </p:spPr>
        <p:txBody>
          <a:bodyPr wrap="square" lIns="0" tIns="0" rIns="0" bIns="0" rtlCol="0" anchor="ctr"/>
          <a:lstStyle/>
          <a:p>
            <a:pPr marL="0" indent="0" algn="r">
              <a:buNone/>
            </a:pPr>
            <a:r>
              <a:rPr lang="en-US" sz="900" dirty="0">
                <a:solidFill>
                  <a:srgbClr val="8FA3C7"/>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128"/>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marL="0" indent="0">
              <a:buNone/>
            </a:pPr>
            <a:r>
              <a:rPr lang="en-US" sz="1200" b="1" kern="0" spc="200" dirty="0">
                <a:solidFill>
                  <a:srgbClr val="38BDF8"/>
                </a:solidFill>
                <a:latin typeface="Calibri" pitchFamily="34" charset="0"/>
                <a:ea typeface="Calibri" pitchFamily="34" charset="-122"/>
                <a:cs typeface="Calibri" pitchFamily="34" charset="-120"/>
              </a:rPr>
              <a:t>THE CHALLENGE</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Problem Statement</a:t>
            </a:r>
            <a:endParaRPr lang="en-US" sz="3000" dirty="0"/>
          </a:p>
        </p:txBody>
      </p:sp>
      <p:sp>
        <p:nvSpPr>
          <p:cNvPr id="4" name="Shape 2"/>
          <p:cNvSpPr/>
          <p:nvPr/>
        </p:nvSpPr>
        <p:spPr>
          <a:xfrm>
            <a:off x="548640" y="1554480"/>
            <a:ext cx="5943600" cy="4663440"/>
          </a:xfrm>
          <a:prstGeom prst="roundRect">
            <a:avLst>
              <a:gd name="adj" fmla="val 1569"/>
            </a:avLst>
          </a:prstGeom>
          <a:solidFill>
            <a:srgbClr val="13294B"/>
          </a:solidFill>
          <a:ln/>
          <a:effectLst>
            <a:outerShdw blurRad="101600" dist="38100" dir="5400000" algn="bl" rotWithShape="0">
              <a:srgbClr val="000000">
                <a:alpha val="35000"/>
              </a:srgbClr>
            </a:outerShdw>
          </a:effectLst>
        </p:spPr>
      </p:sp>
      <p:sp>
        <p:nvSpPr>
          <p:cNvPr id="5" name="Shape 3"/>
          <p:cNvSpPr/>
          <p:nvPr/>
        </p:nvSpPr>
        <p:spPr>
          <a:xfrm>
            <a:off x="868680" y="1929384"/>
            <a:ext cx="310896" cy="310896"/>
          </a:xfrm>
          <a:prstGeom prst="ellipse">
            <a:avLst/>
          </a:prstGeom>
          <a:solidFill>
            <a:srgbClr val="38BDF8"/>
          </a:solidFill>
          <a:ln/>
        </p:spPr>
      </p:sp>
      <p:sp>
        <p:nvSpPr>
          <p:cNvPr id="6" name="Text 4"/>
          <p:cNvSpPr/>
          <p:nvPr/>
        </p:nvSpPr>
        <p:spPr>
          <a:xfrm>
            <a:off x="868680" y="1929384"/>
            <a:ext cx="310896" cy="310896"/>
          </a:xfrm>
          <a:prstGeom prst="rect">
            <a:avLst/>
          </a:prstGeom>
          <a:noFill/>
          <a:ln/>
        </p:spPr>
        <p:txBody>
          <a:bodyPr wrap="square" lIns="0" tIns="0" rIns="0" bIns="0" rtlCol="0" anchor="ctr"/>
          <a:lstStyle/>
          <a:p>
            <a:pPr marL="0" indent="0" algn="ctr">
              <a:buNone/>
            </a:pPr>
            <a:r>
              <a:rPr lang="en-US" sz="1300" b="1" dirty="0">
                <a:solidFill>
                  <a:srgbClr val="0A1128"/>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325880" y="1801368"/>
            <a:ext cx="4846320" cy="640080"/>
          </a:xfrm>
          <a:prstGeom prst="rect">
            <a:avLst/>
          </a:prstGeom>
          <a:noFill/>
          <a:ln/>
        </p:spPr>
        <p:txBody>
          <a:bodyPr wrap="square" lIns="0" tIns="0" rIns="0" bIns="0" rtlCol="0" anchor="ctr"/>
          <a:lstStyle/>
          <a:p>
            <a:pPr marL="0" indent="0">
              <a:lnSpc>
                <a:spcPct val="110000"/>
              </a:lnSpc>
              <a:buNone/>
            </a:pPr>
            <a:r>
              <a:rPr lang="en-US" sz="1350" dirty="0">
                <a:solidFill>
                  <a:srgbClr val="B9D4FF"/>
                </a:solidFill>
                <a:latin typeface="Calibri" pitchFamily="34" charset="0"/>
                <a:ea typeface="Calibri" pitchFamily="34" charset="-122"/>
                <a:cs typeface="Calibri" pitchFamily="34" charset="-120"/>
              </a:rPr>
              <a:t>Multiple processes compete for a limited pool of system resources.</a:t>
            </a:r>
            <a:endParaRPr lang="en-US" sz="1350" dirty="0"/>
          </a:p>
        </p:txBody>
      </p:sp>
      <p:sp>
        <p:nvSpPr>
          <p:cNvPr id="8" name="Shape 6"/>
          <p:cNvSpPr/>
          <p:nvPr/>
        </p:nvSpPr>
        <p:spPr>
          <a:xfrm>
            <a:off x="868680" y="2706624"/>
            <a:ext cx="310896" cy="310896"/>
          </a:xfrm>
          <a:prstGeom prst="ellipse">
            <a:avLst/>
          </a:prstGeom>
          <a:solidFill>
            <a:srgbClr val="38BDF8"/>
          </a:solidFill>
          <a:ln/>
        </p:spPr>
      </p:sp>
      <p:sp>
        <p:nvSpPr>
          <p:cNvPr id="9" name="Text 7"/>
          <p:cNvSpPr/>
          <p:nvPr/>
        </p:nvSpPr>
        <p:spPr>
          <a:xfrm>
            <a:off x="868680" y="2706624"/>
            <a:ext cx="310896" cy="310896"/>
          </a:xfrm>
          <a:prstGeom prst="rect">
            <a:avLst/>
          </a:prstGeom>
          <a:noFill/>
          <a:ln/>
        </p:spPr>
        <p:txBody>
          <a:bodyPr wrap="square" lIns="0" tIns="0" rIns="0" bIns="0" rtlCol="0" anchor="ctr"/>
          <a:lstStyle/>
          <a:p>
            <a:pPr marL="0" indent="0" algn="ctr">
              <a:buNone/>
            </a:pPr>
            <a:r>
              <a:rPr lang="en-US" sz="1300" b="1" dirty="0">
                <a:solidFill>
                  <a:srgbClr val="0A1128"/>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325880" y="2578608"/>
            <a:ext cx="4846320" cy="640080"/>
          </a:xfrm>
          <a:prstGeom prst="rect">
            <a:avLst/>
          </a:prstGeom>
          <a:noFill/>
          <a:ln/>
        </p:spPr>
        <p:txBody>
          <a:bodyPr wrap="square" lIns="0" tIns="0" rIns="0" bIns="0" rtlCol="0" anchor="ctr"/>
          <a:lstStyle/>
          <a:p>
            <a:pPr marL="0" indent="0">
              <a:lnSpc>
                <a:spcPct val="110000"/>
              </a:lnSpc>
              <a:buNone/>
            </a:pPr>
            <a:r>
              <a:rPr lang="en-US" sz="1350" dirty="0">
                <a:solidFill>
                  <a:srgbClr val="B9D4FF"/>
                </a:solidFill>
                <a:latin typeface="Calibri" pitchFamily="34" charset="0"/>
                <a:ea typeface="Calibri" pitchFamily="34" charset="-122"/>
                <a:cs typeface="Calibri" pitchFamily="34" charset="-120"/>
              </a:rPr>
              <a:t>A process may hold one resource while waiting to acquire another.</a:t>
            </a:r>
            <a:endParaRPr lang="en-US" sz="1350" dirty="0"/>
          </a:p>
        </p:txBody>
      </p:sp>
      <p:sp>
        <p:nvSpPr>
          <p:cNvPr id="11" name="Shape 9"/>
          <p:cNvSpPr/>
          <p:nvPr/>
        </p:nvSpPr>
        <p:spPr>
          <a:xfrm>
            <a:off x="868680" y="3483864"/>
            <a:ext cx="310896" cy="310896"/>
          </a:xfrm>
          <a:prstGeom prst="ellipse">
            <a:avLst/>
          </a:prstGeom>
          <a:solidFill>
            <a:srgbClr val="38BDF8"/>
          </a:solidFill>
          <a:ln/>
        </p:spPr>
      </p:sp>
      <p:sp>
        <p:nvSpPr>
          <p:cNvPr id="12" name="Text 10"/>
          <p:cNvSpPr/>
          <p:nvPr/>
        </p:nvSpPr>
        <p:spPr>
          <a:xfrm>
            <a:off x="868680" y="3483864"/>
            <a:ext cx="310896" cy="310896"/>
          </a:xfrm>
          <a:prstGeom prst="rect">
            <a:avLst/>
          </a:prstGeom>
          <a:noFill/>
          <a:ln/>
        </p:spPr>
        <p:txBody>
          <a:bodyPr wrap="square" lIns="0" tIns="0" rIns="0" bIns="0" rtlCol="0" anchor="ctr"/>
          <a:lstStyle/>
          <a:p>
            <a:pPr marL="0" indent="0" algn="ctr">
              <a:buNone/>
            </a:pPr>
            <a:r>
              <a:rPr lang="en-US" sz="1300" b="1" dirty="0">
                <a:solidFill>
                  <a:srgbClr val="0A1128"/>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325880" y="3355848"/>
            <a:ext cx="4846320" cy="640080"/>
          </a:xfrm>
          <a:prstGeom prst="rect">
            <a:avLst/>
          </a:prstGeom>
          <a:noFill/>
          <a:ln/>
        </p:spPr>
        <p:txBody>
          <a:bodyPr wrap="square" lIns="0" tIns="0" rIns="0" bIns="0" rtlCol="0" anchor="ctr"/>
          <a:lstStyle/>
          <a:p>
            <a:pPr marL="0" indent="0">
              <a:lnSpc>
                <a:spcPct val="110000"/>
              </a:lnSpc>
              <a:buNone/>
            </a:pPr>
            <a:r>
              <a:rPr lang="en-US" sz="1350" dirty="0">
                <a:solidFill>
                  <a:srgbClr val="B9D4FF"/>
                </a:solidFill>
                <a:latin typeface="Calibri" pitchFamily="34" charset="0"/>
                <a:ea typeface="Calibri" pitchFamily="34" charset="-122"/>
                <a:cs typeface="Calibri" pitchFamily="34" charset="-120"/>
              </a:rPr>
              <a:t>This mutual waiting can form a circular chain among processes.</a:t>
            </a:r>
            <a:endParaRPr lang="en-US" sz="1350" dirty="0"/>
          </a:p>
        </p:txBody>
      </p:sp>
      <p:sp>
        <p:nvSpPr>
          <p:cNvPr id="14" name="Shape 12"/>
          <p:cNvSpPr/>
          <p:nvPr/>
        </p:nvSpPr>
        <p:spPr>
          <a:xfrm>
            <a:off x="868680" y="4261104"/>
            <a:ext cx="310896" cy="310896"/>
          </a:xfrm>
          <a:prstGeom prst="ellipse">
            <a:avLst/>
          </a:prstGeom>
          <a:solidFill>
            <a:srgbClr val="38BDF8"/>
          </a:solidFill>
          <a:ln/>
        </p:spPr>
      </p:sp>
      <p:sp>
        <p:nvSpPr>
          <p:cNvPr id="15" name="Text 13"/>
          <p:cNvSpPr/>
          <p:nvPr/>
        </p:nvSpPr>
        <p:spPr>
          <a:xfrm>
            <a:off x="868680" y="4261104"/>
            <a:ext cx="310896" cy="310896"/>
          </a:xfrm>
          <a:prstGeom prst="rect">
            <a:avLst/>
          </a:prstGeom>
          <a:noFill/>
          <a:ln/>
        </p:spPr>
        <p:txBody>
          <a:bodyPr wrap="square" lIns="0" tIns="0" rIns="0" bIns="0" rtlCol="0" anchor="ctr"/>
          <a:lstStyle/>
          <a:p>
            <a:pPr marL="0" indent="0" algn="ctr">
              <a:buNone/>
            </a:pPr>
            <a:r>
              <a:rPr lang="en-US" sz="1300" b="1" dirty="0">
                <a:solidFill>
                  <a:srgbClr val="0A1128"/>
                </a:solidFill>
                <a:latin typeface="Calibri" pitchFamily="34" charset="0"/>
                <a:ea typeface="Calibri" pitchFamily="34" charset="-122"/>
                <a:cs typeface="Calibri" pitchFamily="34" charset="-120"/>
              </a:rPr>
              <a:t>4</a:t>
            </a:r>
            <a:endParaRPr lang="en-US" sz="1300" dirty="0"/>
          </a:p>
        </p:txBody>
      </p:sp>
      <p:sp>
        <p:nvSpPr>
          <p:cNvPr id="16" name="Text 14"/>
          <p:cNvSpPr/>
          <p:nvPr/>
        </p:nvSpPr>
        <p:spPr>
          <a:xfrm>
            <a:off x="1325880" y="4133088"/>
            <a:ext cx="4846320" cy="640080"/>
          </a:xfrm>
          <a:prstGeom prst="rect">
            <a:avLst/>
          </a:prstGeom>
          <a:noFill/>
          <a:ln/>
        </p:spPr>
        <p:txBody>
          <a:bodyPr wrap="square" lIns="0" tIns="0" rIns="0" bIns="0" rtlCol="0" anchor="ctr"/>
          <a:lstStyle/>
          <a:p>
            <a:pPr marL="0" indent="0">
              <a:lnSpc>
                <a:spcPct val="110000"/>
              </a:lnSpc>
              <a:buNone/>
            </a:pPr>
            <a:r>
              <a:rPr lang="en-US" sz="1350" dirty="0">
                <a:solidFill>
                  <a:srgbClr val="B9D4FF"/>
                </a:solidFill>
                <a:latin typeface="Calibri" pitchFamily="34" charset="0"/>
                <a:ea typeface="Calibri" pitchFamily="34" charset="-122"/>
                <a:cs typeface="Calibri" pitchFamily="34" charset="-120"/>
              </a:rPr>
              <a:t>Deadlocked processes stop making progress and cannot continue normally.</a:t>
            </a:r>
            <a:endParaRPr lang="en-US" sz="1350" dirty="0"/>
          </a:p>
        </p:txBody>
      </p:sp>
      <p:sp>
        <p:nvSpPr>
          <p:cNvPr id="17" name="Shape 15"/>
          <p:cNvSpPr/>
          <p:nvPr/>
        </p:nvSpPr>
        <p:spPr>
          <a:xfrm>
            <a:off x="6766560" y="1554480"/>
            <a:ext cx="4873752" cy="4663440"/>
          </a:xfrm>
          <a:prstGeom prst="roundRect">
            <a:avLst>
              <a:gd name="adj" fmla="val 1569"/>
            </a:avLst>
          </a:prstGeom>
          <a:solidFill>
            <a:srgbClr val="1B3A63"/>
          </a:solidFill>
          <a:ln/>
          <a:effectLst>
            <a:outerShdw blurRad="101600" dist="38100" dir="5400000" algn="bl" rotWithShape="0">
              <a:srgbClr val="000000">
                <a:alpha val="35000"/>
              </a:srgbClr>
            </a:outerShdw>
          </a:effectLst>
        </p:spPr>
      </p:sp>
      <p:sp>
        <p:nvSpPr>
          <p:cNvPr id="18" name="Shape 16"/>
          <p:cNvSpPr/>
          <p:nvPr/>
        </p:nvSpPr>
        <p:spPr>
          <a:xfrm>
            <a:off x="8791956" y="1920240"/>
            <a:ext cx="822960" cy="822960"/>
          </a:xfrm>
          <a:prstGeom prst="ellipse">
            <a:avLst/>
          </a:prstGeom>
          <a:solidFill>
            <a:srgbClr val="13294B"/>
          </a:solidFill>
          <a:ln/>
        </p:spPr>
      </p:sp>
      <p:pic>
        <p:nvPicPr>
          <p:cNvPr id="19" name="Image 0" descr="icons/alert_amber.png"/>
          <p:cNvPicPr>
            <a:picLocks noChangeAspect="1"/>
          </p:cNvPicPr>
          <p:nvPr/>
        </p:nvPicPr>
        <p:blipFill>
          <a:blip r:embed="rId3"/>
          <a:stretch>
            <a:fillRect/>
          </a:stretch>
        </p:blipFill>
        <p:spPr>
          <a:xfrm>
            <a:off x="8993124" y="2121408"/>
            <a:ext cx="420624" cy="420624"/>
          </a:xfrm>
          <a:prstGeom prst="rect">
            <a:avLst/>
          </a:prstGeom>
        </p:spPr>
      </p:pic>
      <p:sp>
        <p:nvSpPr>
          <p:cNvPr id="20" name="Text 17"/>
          <p:cNvSpPr/>
          <p:nvPr/>
        </p:nvSpPr>
        <p:spPr>
          <a:xfrm>
            <a:off x="7132320" y="2971800"/>
            <a:ext cx="4142232" cy="274320"/>
          </a:xfrm>
          <a:prstGeom prst="rect">
            <a:avLst/>
          </a:prstGeom>
          <a:noFill/>
          <a:ln/>
        </p:spPr>
        <p:txBody>
          <a:bodyPr wrap="square" lIns="0" tIns="0" rIns="0" bIns="0" rtlCol="0" anchor="ctr"/>
          <a:lstStyle/>
          <a:p>
            <a:pPr marL="0" indent="0" algn="ctr">
              <a:buNone/>
            </a:pPr>
            <a:r>
              <a:rPr lang="en-US" sz="1100" b="1" kern="0" spc="150" dirty="0">
                <a:solidFill>
                  <a:srgbClr val="FBBF24"/>
                </a:solidFill>
                <a:latin typeface="Calibri" pitchFamily="34" charset="0"/>
                <a:ea typeface="Calibri" pitchFamily="34" charset="-122"/>
                <a:cs typeface="Calibri" pitchFamily="34" charset="-120"/>
              </a:rPr>
              <a:t>A SYSTEM IS NEEDED TO</a:t>
            </a:r>
            <a:endParaRPr lang="en-US" sz="1100" dirty="0"/>
          </a:p>
        </p:txBody>
      </p:sp>
      <p:sp>
        <p:nvSpPr>
          <p:cNvPr id="21" name="Text 18"/>
          <p:cNvSpPr/>
          <p:nvPr/>
        </p:nvSpPr>
        <p:spPr>
          <a:xfrm>
            <a:off x="7132320" y="3246120"/>
            <a:ext cx="4142232" cy="914400"/>
          </a:xfrm>
          <a:prstGeom prst="rect">
            <a:avLst/>
          </a:prstGeom>
          <a:noFill/>
          <a:ln/>
        </p:spPr>
        <p:txBody>
          <a:bodyPr wrap="square" lIns="0" tIns="0" rIns="0" bIns="0" rtlCol="0" anchor="ctr"/>
          <a:lstStyle/>
          <a:p>
            <a:pPr marL="0" indent="0" algn="ctr">
              <a:lnSpc>
                <a:spcPct val="110000"/>
              </a:lnSpc>
              <a:buNone/>
            </a:pPr>
            <a:r>
              <a:rPr lang="en-US" sz="2200" b="1" dirty="0">
                <a:solidFill>
                  <a:srgbClr val="FFFFFF"/>
                </a:solidFill>
                <a:latin typeface="Cambria" pitchFamily="34" charset="0"/>
                <a:ea typeface="Cambria" pitchFamily="34" charset="-122"/>
                <a:cs typeface="Cambria" pitchFamily="34" charset="-120"/>
              </a:rPr>
              <a:t>Detect and Manage</a:t>
            </a:r>
            <a:endParaRPr lang="en-US" sz="2200" dirty="0"/>
          </a:p>
          <a:p>
            <a:pPr marL="0" indent="0" algn="ctr">
              <a:lnSpc>
                <a:spcPct val="110000"/>
              </a:lnSpc>
              <a:buNone/>
            </a:pPr>
            <a:r>
              <a:rPr lang="en-US" sz="2200" b="1" dirty="0">
                <a:solidFill>
                  <a:srgbClr val="FFFFFF"/>
                </a:solidFill>
                <a:latin typeface="Cambria" pitchFamily="34" charset="0"/>
                <a:ea typeface="Cambria" pitchFamily="34" charset="-122"/>
                <a:cs typeface="Cambria" pitchFamily="34" charset="-120"/>
              </a:rPr>
              <a:t>Deadlock Conditions</a:t>
            </a:r>
            <a:endParaRPr lang="en-US" sz="2200" dirty="0"/>
          </a:p>
        </p:txBody>
      </p:sp>
      <p:sp>
        <p:nvSpPr>
          <p:cNvPr id="22" name="Text 19"/>
          <p:cNvSpPr/>
          <p:nvPr/>
        </p:nvSpPr>
        <p:spPr>
          <a:xfrm>
            <a:off x="7269480" y="4251960"/>
            <a:ext cx="3867912" cy="1463040"/>
          </a:xfrm>
          <a:prstGeom prst="rect">
            <a:avLst/>
          </a:prstGeom>
          <a:noFill/>
          <a:ln/>
        </p:spPr>
        <p:txBody>
          <a:bodyPr wrap="square" lIns="0" tIns="0" rIns="0" bIns="0" rtlCol="0" anchor="ctr"/>
          <a:lstStyle/>
          <a:p>
            <a:pPr marL="0" indent="0" algn="ctr">
              <a:lnSpc>
                <a:spcPct val="120000"/>
              </a:lnSpc>
              <a:buNone/>
            </a:pPr>
            <a:r>
              <a:rPr lang="en-US" sz="1300" dirty="0">
                <a:solidFill>
                  <a:srgbClr val="B9D4FF"/>
                </a:solidFill>
                <a:latin typeface="Calibri" pitchFamily="34" charset="0"/>
                <a:ea typeface="Calibri" pitchFamily="34" charset="-122"/>
                <a:cs typeface="Calibri" pitchFamily="34" charset="-120"/>
              </a:rPr>
              <a:t>so that the operating system can identify affected processes and recover without a full restart.</a:t>
            </a:r>
            <a:endParaRPr lang="en-US" sz="1300" dirty="0"/>
          </a:p>
        </p:txBody>
      </p:sp>
      <p:sp>
        <p:nvSpPr>
          <p:cNvPr id="23" name="Text 20"/>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8FA3C7"/>
                </a:solidFill>
                <a:latin typeface="Calibri" pitchFamily="34" charset="0"/>
                <a:ea typeface="Calibri" pitchFamily="34" charset="-122"/>
                <a:cs typeface="Calibri" pitchFamily="34" charset="-120"/>
              </a:rPr>
              <a:t>Linux Deadlock Detection and Resource Management System</a:t>
            </a:r>
            <a:endParaRPr lang="en-US" sz="900" dirty="0"/>
          </a:p>
        </p:txBody>
      </p:sp>
      <p:sp>
        <p:nvSpPr>
          <p:cNvPr id="24" name="Text 21"/>
          <p:cNvSpPr/>
          <p:nvPr/>
        </p:nvSpPr>
        <p:spPr>
          <a:xfrm>
            <a:off x="11457432" y="6510528"/>
            <a:ext cx="365760" cy="274320"/>
          </a:xfrm>
          <a:prstGeom prst="rect">
            <a:avLst/>
          </a:prstGeom>
          <a:noFill/>
          <a:ln/>
        </p:spPr>
        <p:txBody>
          <a:bodyPr wrap="square" lIns="0" tIns="0" rIns="0" bIns="0" rtlCol="0" anchor="ctr"/>
          <a:lstStyle/>
          <a:p>
            <a:pPr marL="0" indent="0" algn="r">
              <a:buNone/>
            </a:pPr>
            <a:r>
              <a:rPr lang="en-US" sz="900" dirty="0">
                <a:solidFill>
                  <a:srgbClr val="8FA3C7"/>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128"/>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marL="0" indent="0">
              <a:buNone/>
            </a:pPr>
            <a:r>
              <a:rPr lang="en-US" sz="1200" b="1" kern="0" spc="200" dirty="0">
                <a:solidFill>
                  <a:srgbClr val="38BDF8"/>
                </a:solidFill>
                <a:latin typeface="Calibri" pitchFamily="34" charset="0"/>
                <a:ea typeface="Calibri" pitchFamily="34" charset="-122"/>
                <a:cs typeface="Calibri" pitchFamily="34" charset="-120"/>
              </a:rPr>
              <a:t>PROJECT GOALS</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Objectives</a:t>
            </a:r>
            <a:endParaRPr lang="en-US" sz="3000" dirty="0"/>
          </a:p>
        </p:txBody>
      </p:sp>
      <p:sp>
        <p:nvSpPr>
          <p:cNvPr id="4" name="Shape 2"/>
          <p:cNvSpPr/>
          <p:nvPr/>
        </p:nvSpPr>
        <p:spPr>
          <a:xfrm>
            <a:off x="548640" y="1737360"/>
            <a:ext cx="2606040" cy="4114800"/>
          </a:xfrm>
          <a:prstGeom prst="roundRect">
            <a:avLst>
              <a:gd name="adj" fmla="val 2807"/>
            </a:avLst>
          </a:prstGeom>
          <a:solidFill>
            <a:srgbClr val="13294B"/>
          </a:solidFill>
          <a:ln/>
          <a:effectLst>
            <a:outerShdw blurRad="101600" dist="38100" dir="5400000" algn="bl" rotWithShape="0">
              <a:srgbClr val="000000">
                <a:alpha val="35000"/>
              </a:srgbClr>
            </a:outerShdw>
          </a:effectLst>
        </p:spPr>
      </p:sp>
      <p:sp>
        <p:nvSpPr>
          <p:cNvPr id="5" name="Text 3"/>
          <p:cNvSpPr/>
          <p:nvPr/>
        </p:nvSpPr>
        <p:spPr>
          <a:xfrm>
            <a:off x="777240" y="1920240"/>
            <a:ext cx="2148840" cy="548640"/>
          </a:xfrm>
          <a:prstGeom prst="rect">
            <a:avLst/>
          </a:prstGeom>
          <a:noFill/>
          <a:ln/>
        </p:spPr>
        <p:txBody>
          <a:bodyPr wrap="square" lIns="0" tIns="0" rIns="0" bIns="0" rtlCol="0" anchor="ctr"/>
          <a:lstStyle/>
          <a:p>
            <a:pPr marL="0" indent="0">
              <a:buNone/>
            </a:pPr>
            <a:r>
              <a:rPr lang="en-US" sz="2600" b="1" dirty="0">
                <a:solidFill>
                  <a:srgbClr val="2A4574"/>
                </a:solidFill>
                <a:latin typeface="Cambria" pitchFamily="34" charset="0"/>
                <a:ea typeface="Cambria" pitchFamily="34" charset="-122"/>
                <a:cs typeface="Cambria" pitchFamily="34" charset="-120"/>
              </a:rPr>
              <a:t>01</a:t>
            </a:r>
            <a:endParaRPr lang="en-US" sz="2600" dirty="0"/>
          </a:p>
        </p:txBody>
      </p:sp>
      <p:sp>
        <p:nvSpPr>
          <p:cNvPr id="6" name="Text 4"/>
          <p:cNvSpPr/>
          <p:nvPr/>
        </p:nvSpPr>
        <p:spPr>
          <a:xfrm>
            <a:off x="777240" y="1874520"/>
            <a:ext cx="1280160" cy="640080"/>
          </a:xfrm>
          <a:prstGeom prst="rect">
            <a:avLst/>
          </a:prstGeom>
          <a:noFill/>
          <a:ln/>
        </p:spPr>
        <p:txBody>
          <a:bodyPr wrap="square" lIns="0" tIns="0" rIns="0" bIns="0" rtlCol="0" anchor="ctr"/>
          <a:lstStyle/>
          <a:p>
            <a:pPr marL="0" indent="0">
              <a:buNone/>
            </a:pPr>
            <a:r>
              <a:rPr lang="en-US" sz="3000" b="1" dirty="0">
                <a:solidFill>
                  <a:srgbClr val="1B3A63"/>
                </a:solidFill>
                <a:latin typeface="Cambria" pitchFamily="34" charset="0"/>
                <a:ea typeface="Cambria" pitchFamily="34" charset="-122"/>
                <a:cs typeface="Cambria" pitchFamily="34" charset="-120"/>
              </a:rPr>
              <a:t>01</a:t>
            </a:r>
            <a:endParaRPr lang="en-US" sz="3000" dirty="0"/>
          </a:p>
        </p:txBody>
      </p:sp>
      <p:sp>
        <p:nvSpPr>
          <p:cNvPr id="7" name="Shape 5"/>
          <p:cNvSpPr/>
          <p:nvPr/>
        </p:nvSpPr>
        <p:spPr>
          <a:xfrm>
            <a:off x="1522476" y="2825496"/>
            <a:ext cx="658368" cy="658368"/>
          </a:xfrm>
          <a:prstGeom prst="ellipse">
            <a:avLst/>
          </a:prstGeom>
          <a:solidFill>
            <a:srgbClr val="1B3A63"/>
          </a:solidFill>
          <a:ln/>
        </p:spPr>
      </p:sp>
      <p:pic>
        <p:nvPicPr>
          <p:cNvPr id="8" name="Image 0" descr="icons/users_cyan.png"/>
          <p:cNvPicPr>
            <a:picLocks noChangeAspect="1"/>
          </p:cNvPicPr>
          <p:nvPr/>
        </p:nvPicPr>
        <p:blipFill>
          <a:blip r:embed="rId3"/>
          <a:stretch>
            <a:fillRect/>
          </a:stretch>
        </p:blipFill>
        <p:spPr>
          <a:xfrm>
            <a:off x="1687068" y="2990088"/>
            <a:ext cx="329184" cy="329184"/>
          </a:xfrm>
          <a:prstGeom prst="rect">
            <a:avLst/>
          </a:prstGeom>
        </p:spPr>
      </p:pic>
      <p:sp>
        <p:nvSpPr>
          <p:cNvPr id="9" name="Text 6"/>
          <p:cNvSpPr/>
          <p:nvPr/>
        </p:nvSpPr>
        <p:spPr>
          <a:xfrm>
            <a:off x="749808" y="3703320"/>
            <a:ext cx="2203704" cy="685800"/>
          </a:xfrm>
          <a:prstGeom prst="rect">
            <a:avLst/>
          </a:prstGeom>
          <a:noFill/>
          <a:ln/>
        </p:spPr>
        <p:txBody>
          <a:bodyPr wrap="square" lIns="0" tIns="0" rIns="0" bIns="0" rtlCol="0" anchor="t"/>
          <a:lstStyle/>
          <a:p>
            <a:pPr marL="0" indent="0" algn="ctr">
              <a:buNone/>
            </a:pPr>
            <a:r>
              <a:rPr lang="en-US" sz="1450" b="1" dirty="0">
                <a:solidFill>
                  <a:srgbClr val="FFFFFF"/>
                </a:solidFill>
                <a:latin typeface="Cambria" pitchFamily="34" charset="0"/>
                <a:ea typeface="Cambria" pitchFamily="34" charset="-122"/>
                <a:cs typeface="Cambria" pitchFamily="34" charset="-120"/>
              </a:rPr>
              <a:t>Simulate Competing Processes</a:t>
            </a:r>
            <a:endParaRPr lang="en-US" sz="1450" dirty="0"/>
          </a:p>
        </p:txBody>
      </p:sp>
      <p:sp>
        <p:nvSpPr>
          <p:cNvPr id="10" name="Text 7"/>
          <p:cNvSpPr/>
          <p:nvPr/>
        </p:nvSpPr>
        <p:spPr>
          <a:xfrm>
            <a:off x="777240" y="4434840"/>
            <a:ext cx="2148840" cy="1280160"/>
          </a:xfrm>
          <a:prstGeom prst="rect">
            <a:avLst/>
          </a:prstGeom>
          <a:noFill/>
          <a:ln/>
        </p:spPr>
        <p:txBody>
          <a:bodyPr wrap="square" lIns="0" tIns="0" rIns="0" bIns="0" rtlCol="0" anchor="t"/>
          <a:lstStyle/>
          <a:p>
            <a:pPr marL="0" indent="0" algn="ctr">
              <a:lnSpc>
                <a:spcPct val="115000"/>
              </a:lnSpc>
              <a:buNone/>
            </a:pPr>
            <a:r>
              <a:rPr lang="en-US" sz="1150" dirty="0">
                <a:solidFill>
                  <a:srgbClr val="B9D4FF"/>
                </a:solidFill>
                <a:latin typeface="Calibri" pitchFamily="34" charset="0"/>
                <a:ea typeface="Calibri" pitchFamily="34" charset="-122"/>
                <a:cs typeface="Calibri" pitchFamily="34" charset="-120"/>
              </a:rPr>
              <a:t>Model multiple processes competing for a limited set of system resources.</a:t>
            </a:r>
            <a:endParaRPr lang="en-US" sz="1150" dirty="0"/>
          </a:p>
        </p:txBody>
      </p:sp>
      <p:sp>
        <p:nvSpPr>
          <p:cNvPr id="11" name="Shape 8"/>
          <p:cNvSpPr/>
          <p:nvPr/>
        </p:nvSpPr>
        <p:spPr>
          <a:xfrm>
            <a:off x="3374136" y="1737360"/>
            <a:ext cx="2606040" cy="4114800"/>
          </a:xfrm>
          <a:prstGeom prst="roundRect">
            <a:avLst>
              <a:gd name="adj" fmla="val 2807"/>
            </a:avLst>
          </a:prstGeom>
          <a:solidFill>
            <a:srgbClr val="13294B"/>
          </a:solidFill>
          <a:ln/>
          <a:effectLst>
            <a:outerShdw blurRad="101600" dist="38100" dir="5400000" algn="bl" rotWithShape="0">
              <a:srgbClr val="000000">
                <a:alpha val="35000"/>
              </a:srgbClr>
            </a:outerShdw>
          </a:effectLst>
        </p:spPr>
      </p:sp>
      <p:sp>
        <p:nvSpPr>
          <p:cNvPr id="12" name="Text 9"/>
          <p:cNvSpPr/>
          <p:nvPr/>
        </p:nvSpPr>
        <p:spPr>
          <a:xfrm>
            <a:off x="3602736" y="1920240"/>
            <a:ext cx="2148840" cy="548640"/>
          </a:xfrm>
          <a:prstGeom prst="rect">
            <a:avLst/>
          </a:prstGeom>
          <a:noFill/>
          <a:ln/>
        </p:spPr>
        <p:txBody>
          <a:bodyPr wrap="square" lIns="0" tIns="0" rIns="0" bIns="0" rtlCol="0" anchor="ctr"/>
          <a:lstStyle/>
          <a:p>
            <a:pPr marL="0" indent="0">
              <a:buNone/>
            </a:pPr>
            <a:r>
              <a:rPr lang="en-US" sz="2600" b="1" dirty="0">
                <a:solidFill>
                  <a:srgbClr val="2A4574"/>
                </a:solidFill>
                <a:latin typeface="Cambria" pitchFamily="34" charset="0"/>
                <a:ea typeface="Cambria" pitchFamily="34" charset="-122"/>
                <a:cs typeface="Cambria" pitchFamily="34" charset="-120"/>
              </a:rPr>
              <a:t>02</a:t>
            </a:r>
            <a:endParaRPr lang="en-US" sz="2600" dirty="0"/>
          </a:p>
        </p:txBody>
      </p:sp>
      <p:sp>
        <p:nvSpPr>
          <p:cNvPr id="13" name="Text 10"/>
          <p:cNvSpPr/>
          <p:nvPr/>
        </p:nvSpPr>
        <p:spPr>
          <a:xfrm>
            <a:off x="3602736" y="1874520"/>
            <a:ext cx="1280160" cy="640080"/>
          </a:xfrm>
          <a:prstGeom prst="rect">
            <a:avLst/>
          </a:prstGeom>
          <a:noFill/>
          <a:ln/>
        </p:spPr>
        <p:txBody>
          <a:bodyPr wrap="square" lIns="0" tIns="0" rIns="0" bIns="0" rtlCol="0" anchor="ctr"/>
          <a:lstStyle/>
          <a:p>
            <a:pPr marL="0" indent="0">
              <a:buNone/>
            </a:pPr>
            <a:r>
              <a:rPr lang="en-US" sz="3000" b="1" dirty="0">
                <a:solidFill>
                  <a:srgbClr val="1B3A63"/>
                </a:solidFill>
                <a:latin typeface="Cambria" pitchFamily="34" charset="0"/>
                <a:ea typeface="Cambria" pitchFamily="34" charset="-122"/>
                <a:cs typeface="Cambria" pitchFamily="34" charset="-120"/>
              </a:rPr>
              <a:t>02</a:t>
            </a:r>
            <a:endParaRPr lang="en-US" sz="3000" dirty="0"/>
          </a:p>
        </p:txBody>
      </p:sp>
      <p:sp>
        <p:nvSpPr>
          <p:cNvPr id="14" name="Shape 11"/>
          <p:cNvSpPr/>
          <p:nvPr/>
        </p:nvSpPr>
        <p:spPr>
          <a:xfrm>
            <a:off x="4347972" y="2825496"/>
            <a:ext cx="658368" cy="658368"/>
          </a:xfrm>
          <a:prstGeom prst="ellipse">
            <a:avLst/>
          </a:prstGeom>
          <a:solidFill>
            <a:srgbClr val="1B3A63"/>
          </a:solidFill>
          <a:ln/>
        </p:spPr>
      </p:sp>
      <p:pic>
        <p:nvPicPr>
          <p:cNvPr id="15" name="Image 1" descr="icons/search_cyan.png"/>
          <p:cNvPicPr>
            <a:picLocks noChangeAspect="1"/>
          </p:cNvPicPr>
          <p:nvPr/>
        </p:nvPicPr>
        <p:blipFill>
          <a:blip r:embed="rId4"/>
          <a:stretch>
            <a:fillRect/>
          </a:stretch>
        </p:blipFill>
        <p:spPr>
          <a:xfrm>
            <a:off x="4512564" y="2990088"/>
            <a:ext cx="329184" cy="329184"/>
          </a:xfrm>
          <a:prstGeom prst="rect">
            <a:avLst/>
          </a:prstGeom>
        </p:spPr>
      </p:pic>
      <p:sp>
        <p:nvSpPr>
          <p:cNvPr id="16" name="Text 12"/>
          <p:cNvSpPr/>
          <p:nvPr/>
        </p:nvSpPr>
        <p:spPr>
          <a:xfrm>
            <a:off x="3575304" y="3703320"/>
            <a:ext cx="2203704" cy="685800"/>
          </a:xfrm>
          <a:prstGeom prst="rect">
            <a:avLst/>
          </a:prstGeom>
          <a:noFill/>
          <a:ln/>
        </p:spPr>
        <p:txBody>
          <a:bodyPr wrap="square" lIns="0" tIns="0" rIns="0" bIns="0" rtlCol="0" anchor="t"/>
          <a:lstStyle/>
          <a:p>
            <a:pPr marL="0" indent="0" algn="ctr">
              <a:buNone/>
            </a:pPr>
            <a:r>
              <a:rPr lang="en-US" sz="1450" b="1" dirty="0">
                <a:solidFill>
                  <a:srgbClr val="FFFFFF"/>
                </a:solidFill>
                <a:latin typeface="Cambria" pitchFamily="34" charset="0"/>
                <a:ea typeface="Cambria" pitchFamily="34" charset="-122"/>
                <a:cs typeface="Cambria" pitchFamily="34" charset="-120"/>
              </a:rPr>
              <a:t>Detect Deadlock Conditions</a:t>
            </a:r>
            <a:endParaRPr lang="en-US" sz="1450" dirty="0"/>
          </a:p>
        </p:txBody>
      </p:sp>
      <p:sp>
        <p:nvSpPr>
          <p:cNvPr id="17" name="Text 13"/>
          <p:cNvSpPr/>
          <p:nvPr/>
        </p:nvSpPr>
        <p:spPr>
          <a:xfrm>
            <a:off x="3602736" y="4434840"/>
            <a:ext cx="2148840" cy="1280160"/>
          </a:xfrm>
          <a:prstGeom prst="rect">
            <a:avLst/>
          </a:prstGeom>
          <a:noFill/>
          <a:ln/>
        </p:spPr>
        <p:txBody>
          <a:bodyPr wrap="square" lIns="0" tIns="0" rIns="0" bIns="0" rtlCol="0" anchor="t"/>
          <a:lstStyle/>
          <a:p>
            <a:pPr marL="0" indent="0" algn="ctr">
              <a:lnSpc>
                <a:spcPct val="115000"/>
              </a:lnSpc>
              <a:buNone/>
            </a:pPr>
            <a:r>
              <a:rPr lang="en-US" sz="1150" dirty="0">
                <a:solidFill>
                  <a:srgbClr val="B9D4FF"/>
                </a:solidFill>
                <a:latin typeface="Calibri" pitchFamily="34" charset="0"/>
                <a:ea typeface="Calibri" pitchFamily="34" charset="-122"/>
                <a:cs typeface="Calibri" pitchFamily="34" charset="-120"/>
              </a:rPr>
              <a:t>Apply a suitable algorithm to identify when the system has entered a deadlocked state.</a:t>
            </a:r>
            <a:endParaRPr lang="en-US" sz="1150" dirty="0"/>
          </a:p>
        </p:txBody>
      </p:sp>
      <p:sp>
        <p:nvSpPr>
          <p:cNvPr id="18" name="Shape 14"/>
          <p:cNvSpPr/>
          <p:nvPr/>
        </p:nvSpPr>
        <p:spPr>
          <a:xfrm>
            <a:off x="6199632" y="1737360"/>
            <a:ext cx="2606040" cy="4114800"/>
          </a:xfrm>
          <a:prstGeom prst="roundRect">
            <a:avLst>
              <a:gd name="adj" fmla="val 2807"/>
            </a:avLst>
          </a:prstGeom>
          <a:solidFill>
            <a:srgbClr val="13294B"/>
          </a:solidFill>
          <a:ln/>
          <a:effectLst>
            <a:outerShdw blurRad="101600" dist="38100" dir="5400000" algn="bl" rotWithShape="0">
              <a:srgbClr val="000000">
                <a:alpha val="35000"/>
              </a:srgbClr>
            </a:outerShdw>
          </a:effectLst>
        </p:spPr>
      </p:sp>
      <p:sp>
        <p:nvSpPr>
          <p:cNvPr id="19" name="Text 15"/>
          <p:cNvSpPr/>
          <p:nvPr/>
        </p:nvSpPr>
        <p:spPr>
          <a:xfrm>
            <a:off x="6428232" y="1920240"/>
            <a:ext cx="2148840" cy="548640"/>
          </a:xfrm>
          <a:prstGeom prst="rect">
            <a:avLst/>
          </a:prstGeom>
          <a:noFill/>
          <a:ln/>
        </p:spPr>
        <p:txBody>
          <a:bodyPr wrap="square" lIns="0" tIns="0" rIns="0" bIns="0" rtlCol="0" anchor="ctr"/>
          <a:lstStyle/>
          <a:p>
            <a:pPr marL="0" indent="0">
              <a:buNone/>
            </a:pPr>
            <a:r>
              <a:rPr lang="en-US" sz="2600" b="1" dirty="0">
                <a:solidFill>
                  <a:srgbClr val="2A4574"/>
                </a:solidFill>
                <a:latin typeface="Cambria" pitchFamily="34" charset="0"/>
                <a:ea typeface="Cambria" pitchFamily="34" charset="-122"/>
                <a:cs typeface="Cambria" pitchFamily="34" charset="-120"/>
              </a:rPr>
              <a:t>03</a:t>
            </a:r>
            <a:endParaRPr lang="en-US" sz="2600" dirty="0"/>
          </a:p>
        </p:txBody>
      </p:sp>
      <p:sp>
        <p:nvSpPr>
          <p:cNvPr id="20" name="Text 16"/>
          <p:cNvSpPr/>
          <p:nvPr/>
        </p:nvSpPr>
        <p:spPr>
          <a:xfrm>
            <a:off x="6428232" y="1874520"/>
            <a:ext cx="1280160" cy="640080"/>
          </a:xfrm>
          <a:prstGeom prst="rect">
            <a:avLst/>
          </a:prstGeom>
          <a:noFill/>
          <a:ln/>
        </p:spPr>
        <p:txBody>
          <a:bodyPr wrap="square" lIns="0" tIns="0" rIns="0" bIns="0" rtlCol="0" anchor="ctr"/>
          <a:lstStyle/>
          <a:p>
            <a:pPr marL="0" indent="0">
              <a:buNone/>
            </a:pPr>
            <a:r>
              <a:rPr lang="en-US" sz="3000" b="1" dirty="0">
                <a:solidFill>
                  <a:srgbClr val="1B3A63"/>
                </a:solidFill>
                <a:latin typeface="Cambria" pitchFamily="34" charset="0"/>
                <a:ea typeface="Cambria" pitchFamily="34" charset="-122"/>
                <a:cs typeface="Cambria" pitchFamily="34" charset="-120"/>
              </a:rPr>
              <a:t>03</a:t>
            </a:r>
            <a:endParaRPr lang="en-US" sz="3000" dirty="0"/>
          </a:p>
        </p:txBody>
      </p:sp>
      <p:sp>
        <p:nvSpPr>
          <p:cNvPr id="21" name="Shape 17"/>
          <p:cNvSpPr/>
          <p:nvPr/>
        </p:nvSpPr>
        <p:spPr>
          <a:xfrm>
            <a:off x="7173468" y="2825496"/>
            <a:ext cx="658368" cy="658368"/>
          </a:xfrm>
          <a:prstGeom prst="ellipse">
            <a:avLst/>
          </a:prstGeom>
          <a:solidFill>
            <a:srgbClr val="1B3A63"/>
          </a:solidFill>
          <a:ln/>
        </p:spPr>
      </p:sp>
      <p:pic>
        <p:nvPicPr>
          <p:cNvPr id="22" name="Image 2" descr="icons/target_cyan.png"/>
          <p:cNvPicPr>
            <a:picLocks noChangeAspect="1"/>
          </p:cNvPicPr>
          <p:nvPr/>
        </p:nvPicPr>
        <p:blipFill>
          <a:blip r:embed="rId5"/>
          <a:stretch>
            <a:fillRect/>
          </a:stretch>
        </p:blipFill>
        <p:spPr>
          <a:xfrm>
            <a:off x="7338060" y="2990088"/>
            <a:ext cx="329184" cy="329184"/>
          </a:xfrm>
          <a:prstGeom prst="rect">
            <a:avLst/>
          </a:prstGeom>
        </p:spPr>
      </p:pic>
      <p:sp>
        <p:nvSpPr>
          <p:cNvPr id="23" name="Text 18"/>
          <p:cNvSpPr/>
          <p:nvPr/>
        </p:nvSpPr>
        <p:spPr>
          <a:xfrm>
            <a:off x="6400800" y="3703320"/>
            <a:ext cx="2203704" cy="685800"/>
          </a:xfrm>
          <a:prstGeom prst="rect">
            <a:avLst/>
          </a:prstGeom>
          <a:noFill/>
          <a:ln/>
        </p:spPr>
        <p:txBody>
          <a:bodyPr wrap="square" lIns="0" tIns="0" rIns="0" bIns="0" rtlCol="0" anchor="t"/>
          <a:lstStyle/>
          <a:p>
            <a:pPr marL="0" indent="0" algn="ctr">
              <a:buNone/>
            </a:pPr>
            <a:r>
              <a:rPr lang="en-US" sz="1450" b="1" dirty="0">
                <a:solidFill>
                  <a:srgbClr val="FFFFFF"/>
                </a:solidFill>
                <a:latin typeface="Cambria" pitchFamily="34" charset="0"/>
                <a:ea typeface="Cambria" pitchFamily="34" charset="-122"/>
                <a:cs typeface="Cambria" pitchFamily="34" charset="-120"/>
              </a:rPr>
              <a:t>Identify Involved Entities</a:t>
            </a:r>
            <a:endParaRPr lang="en-US" sz="1450" dirty="0"/>
          </a:p>
        </p:txBody>
      </p:sp>
      <p:sp>
        <p:nvSpPr>
          <p:cNvPr id="24" name="Text 19"/>
          <p:cNvSpPr/>
          <p:nvPr/>
        </p:nvSpPr>
        <p:spPr>
          <a:xfrm>
            <a:off x="6428232" y="4434840"/>
            <a:ext cx="2148840" cy="1280160"/>
          </a:xfrm>
          <a:prstGeom prst="rect">
            <a:avLst/>
          </a:prstGeom>
          <a:noFill/>
          <a:ln/>
        </p:spPr>
        <p:txBody>
          <a:bodyPr wrap="square" lIns="0" tIns="0" rIns="0" bIns="0" rtlCol="0" anchor="t"/>
          <a:lstStyle/>
          <a:p>
            <a:pPr marL="0" indent="0" algn="ctr">
              <a:lnSpc>
                <a:spcPct val="115000"/>
              </a:lnSpc>
              <a:buNone/>
            </a:pPr>
            <a:r>
              <a:rPr lang="en-US" sz="1150" dirty="0">
                <a:solidFill>
                  <a:srgbClr val="B9D4FF"/>
                </a:solidFill>
                <a:latin typeface="Calibri" pitchFamily="34" charset="0"/>
                <a:ea typeface="Calibri" pitchFamily="34" charset="-122"/>
                <a:cs typeface="Calibri" pitchFamily="34" charset="-120"/>
              </a:rPr>
              <a:t>Pinpoint exactly which processes and resources are part of the deadlock cycle.</a:t>
            </a:r>
            <a:endParaRPr lang="en-US" sz="1150" dirty="0"/>
          </a:p>
        </p:txBody>
      </p:sp>
      <p:sp>
        <p:nvSpPr>
          <p:cNvPr id="25" name="Shape 20"/>
          <p:cNvSpPr/>
          <p:nvPr/>
        </p:nvSpPr>
        <p:spPr>
          <a:xfrm>
            <a:off x="9025128" y="1737360"/>
            <a:ext cx="2606040" cy="4114800"/>
          </a:xfrm>
          <a:prstGeom prst="roundRect">
            <a:avLst>
              <a:gd name="adj" fmla="val 2807"/>
            </a:avLst>
          </a:prstGeom>
          <a:solidFill>
            <a:srgbClr val="13294B"/>
          </a:solidFill>
          <a:ln/>
          <a:effectLst>
            <a:outerShdw blurRad="101600" dist="38100" dir="5400000" algn="bl" rotWithShape="0">
              <a:srgbClr val="000000">
                <a:alpha val="35000"/>
              </a:srgbClr>
            </a:outerShdw>
          </a:effectLst>
        </p:spPr>
      </p:sp>
      <p:sp>
        <p:nvSpPr>
          <p:cNvPr id="26" name="Text 21"/>
          <p:cNvSpPr/>
          <p:nvPr/>
        </p:nvSpPr>
        <p:spPr>
          <a:xfrm>
            <a:off x="9253728" y="1920240"/>
            <a:ext cx="2148840" cy="548640"/>
          </a:xfrm>
          <a:prstGeom prst="rect">
            <a:avLst/>
          </a:prstGeom>
          <a:noFill/>
          <a:ln/>
        </p:spPr>
        <p:txBody>
          <a:bodyPr wrap="square" lIns="0" tIns="0" rIns="0" bIns="0" rtlCol="0" anchor="ctr"/>
          <a:lstStyle/>
          <a:p>
            <a:pPr marL="0" indent="0">
              <a:buNone/>
            </a:pPr>
            <a:r>
              <a:rPr lang="en-US" sz="2600" b="1" dirty="0">
                <a:solidFill>
                  <a:srgbClr val="2A4574"/>
                </a:solidFill>
                <a:latin typeface="Cambria" pitchFamily="34" charset="0"/>
                <a:ea typeface="Cambria" pitchFamily="34" charset="-122"/>
                <a:cs typeface="Cambria" pitchFamily="34" charset="-120"/>
              </a:rPr>
              <a:t>04</a:t>
            </a:r>
            <a:endParaRPr lang="en-US" sz="2600" dirty="0"/>
          </a:p>
        </p:txBody>
      </p:sp>
      <p:sp>
        <p:nvSpPr>
          <p:cNvPr id="27" name="Text 22"/>
          <p:cNvSpPr/>
          <p:nvPr/>
        </p:nvSpPr>
        <p:spPr>
          <a:xfrm>
            <a:off x="9253728" y="1874520"/>
            <a:ext cx="1280160" cy="640080"/>
          </a:xfrm>
          <a:prstGeom prst="rect">
            <a:avLst/>
          </a:prstGeom>
          <a:noFill/>
          <a:ln/>
        </p:spPr>
        <p:txBody>
          <a:bodyPr wrap="square" lIns="0" tIns="0" rIns="0" bIns="0" rtlCol="0" anchor="ctr"/>
          <a:lstStyle/>
          <a:p>
            <a:pPr marL="0" indent="0">
              <a:buNone/>
            </a:pPr>
            <a:r>
              <a:rPr lang="en-US" sz="3000" b="1" dirty="0">
                <a:solidFill>
                  <a:srgbClr val="1B3A63"/>
                </a:solidFill>
                <a:latin typeface="Cambria" pitchFamily="34" charset="0"/>
                <a:ea typeface="Cambria" pitchFamily="34" charset="-122"/>
                <a:cs typeface="Cambria" pitchFamily="34" charset="-120"/>
              </a:rPr>
              <a:t>04</a:t>
            </a:r>
            <a:endParaRPr lang="en-US" sz="3000" dirty="0"/>
          </a:p>
        </p:txBody>
      </p:sp>
      <p:sp>
        <p:nvSpPr>
          <p:cNvPr id="28" name="Shape 23"/>
          <p:cNvSpPr/>
          <p:nvPr/>
        </p:nvSpPr>
        <p:spPr>
          <a:xfrm>
            <a:off x="9998964" y="2825496"/>
            <a:ext cx="658368" cy="658368"/>
          </a:xfrm>
          <a:prstGeom prst="ellipse">
            <a:avLst/>
          </a:prstGeom>
          <a:solidFill>
            <a:srgbClr val="1B3A63"/>
          </a:solidFill>
          <a:ln/>
        </p:spPr>
      </p:sp>
      <p:pic>
        <p:nvPicPr>
          <p:cNvPr id="29" name="Image 3" descr="icons/refresh_cyan.png"/>
          <p:cNvPicPr>
            <a:picLocks noChangeAspect="1"/>
          </p:cNvPicPr>
          <p:nvPr/>
        </p:nvPicPr>
        <p:blipFill>
          <a:blip r:embed="rId6"/>
          <a:stretch>
            <a:fillRect/>
          </a:stretch>
        </p:blipFill>
        <p:spPr>
          <a:xfrm>
            <a:off x="10163556" y="2990088"/>
            <a:ext cx="329184" cy="329184"/>
          </a:xfrm>
          <a:prstGeom prst="rect">
            <a:avLst/>
          </a:prstGeom>
        </p:spPr>
      </p:pic>
      <p:sp>
        <p:nvSpPr>
          <p:cNvPr id="30" name="Text 24"/>
          <p:cNvSpPr/>
          <p:nvPr/>
        </p:nvSpPr>
        <p:spPr>
          <a:xfrm>
            <a:off x="9226296" y="3703320"/>
            <a:ext cx="2203704" cy="685800"/>
          </a:xfrm>
          <a:prstGeom prst="rect">
            <a:avLst/>
          </a:prstGeom>
          <a:noFill/>
          <a:ln/>
        </p:spPr>
        <p:txBody>
          <a:bodyPr wrap="square" lIns="0" tIns="0" rIns="0" bIns="0" rtlCol="0" anchor="t"/>
          <a:lstStyle/>
          <a:p>
            <a:pPr marL="0" indent="0" algn="ctr">
              <a:buNone/>
            </a:pPr>
            <a:r>
              <a:rPr lang="en-US" sz="1450" b="1" dirty="0">
                <a:solidFill>
                  <a:srgbClr val="FFFFFF"/>
                </a:solidFill>
                <a:latin typeface="Cambria" pitchFamily="34" charset="0"/>
                <a:ea typeface="Cambria" pitchFamily="34" charset="-122"/>
                <a:cs typeface="Cambria" pitchFamily="34" charset="-120"/>
              </a:rPr>
              <a:t>Enable Recovery</a:t>
            </a:r>
            <a:endParaRPr lang="en-US" sz="1450" dirty="0"/>
          </a:p>
        </p:txBody>
      </p:sp>
      <p:sp>
        <p:nvSpPr>
          <p:cNvPr id="31" name="Text 25"/>
          <p:cNvSpPr/>
          <p:nvPr/>
        </p:nvSpPr>
        <p:spPr>
          <a:xfrm>
            <a:off x="9253728" y="4434840"/>
            <a:ext cx="2148840" cy="1280160"/>
          </a:xfrm>
          <a:prstGeom prst="rect">
            <a:avLst/>
          </a:prstGeom>
          <a:noFill/>
          <a:ln/>
        </p:spPr>
        <p:txBody>
          <a:bodyPr wrap="square" lIns="0" tIns="0" rIns="0" bIns="0" rtlCol="0" anchor="t"/>
          <a:lstStyle/>
          <a:p>
            <a:pPr marL="0" indent="0" algn="ctr">
              <a:lnSpc>
                <a:spcPct val="115000"/>
              </a:lnSpc>
              <a:buNone/>
            </a:pPr>
            <a:r>
              <a:rPr lang="en-US" sz="1150" dirty="0">
                <a:solidFill>
                  <a:srgbClr val="B9D4FF"/>
                </a:solidFill>
                <a:latin typeface="Calibri" pitchFamily="34" charset="0"/>
                <a:ea typeface="Calibri" pitchFamily="34" charset="-122"/>
                <a:cs typeface="Calibri" pitchFamily="34" charset="-120"/>
              </a:rPr>
              <a:t>Provide resource management and basic recovery mechanisms to restore progress.</a:t>
            </a:r>
            <a:endParaRPr lang="en-US" sz="1150" dirty="0"/>
          </a:p>
        </p:txBody>
      </p:sp>
      <p:sp>
        <p:nvSpPr>
          <p:cNvPr id="32" name="Text 26"/>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8FA3C7"/>
                </a:solidFill>
                <a:latin typeface="Calibri" pitchFamily="34" charset="0"/>
                <a:ea typeface="Calibri" pitchFamily="34" charset="-122"/>
                <a:cs typeface="Calibri" pitchFamily="34" charset="-120"/>
              </a:rPr>
              <a:t>Linux Deadlock Detection and Resource Management System</a:t>
            </a:r>
            <a:endParaRPr lang="en-US" sz="900" dirty="0"/>
          </a:p>
        </p:txBody>
      </p:sp>
      <p:sp>
        <p:nvSpPr>
          <p:cNvPr id="33" name="Text 27"/>
          <p:cNvSpPr/>
          <p:nvPr/>
        </p:nvSpPr>
        <p:spPr>
          <a:xfrm>
            <a:off x="11457432" y="6510528"/>
            <a:ext cx="365760" cy="274320"/>
          </a:xfrm>
          <a:prstGeom prst="rect">
            <a:avLst/>
          </a:prstGeom>
          <a:noFill/>
          <a:ln/>
        </p:spPr>
        <p:txBody>
          <a:bodyPr wrap="square" lIns="0" tIns="0" rIns="0" bIns="0" rtlCol="0" anchor="ctr"/>
          <a:lstStyle/>
          <a:p>
            <a:pPr marL="0" indent="0" algn="r">
              <a:buNone/>
            </a:pPr>
            <a:r>
              <a:rPr lang="en-US" sz="900" dirty="0">
                <a:solidFill>
                  <a:srgbClr val="8FA3C7"/>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128"/>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marL="0" indent="0">
              <a:buNone/>
            </a:pPr>
            <a:r>
              <a:rPr lang="en-US" sz="1200" b="1" kern="0" spc="200" dirty="0">
                <a:solidFill>
                  <a:srgbClr val="38BDF8"/>
                </a:solidFill>
                <a:latin typeface="Calibri" pitchFamily="34" charset="0"/>
                <a:ea typeface="Calibri" pitchFamily="34" charset="-122"/>
                <a:cs typeface="Calibri" pitchFamily="34" charset="-120"/>
              </a:rPr>
              <a:t>CORE CONCEPT</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What is Deadlock?</a:t>
            </a:r>
            <a:endParaRPr lang="en-US" sz="3000" dirty="0"/>
          </a:p>
        </p:txBody>
      </p:sp>
      <p:sp>
        <p:nvSpPr>
          <p:cNvPr id="4" name="Text 2"/>
          <p:cNvSpPr/>
          <p:nvPr/>
        </p:nvSpPr>
        <p:spPr>
          <a:xfrm>
            <a:off x="548640" y="1417320"/>
            <a:ext cx="11064240" cy="365760"/>
          </a:xfrm>
          <a:prstGeom prst="rect">
            <a:avLst/>
          </a:prstGeom>
          <a:noFill/>
          <a:ln/>
        </p:spPr>
        <p:txBody>
          <a:bodyPr wrap="square" lIns="0" tIns="0" rIns="0" bIns="0" rtlCol="0" anchor="ctr"/>
          <a:lstStyle/>
          <a:p>
            <a:pPr marL="0" indent="0">
              <a:buNone/>
            </a:pPr>
            <a:r>
              <a:rPr lang="en-US" sz="1350" dirty="0">
                <a:solidFill>
                  <a:srgbClr val="B9D4FF"/>
                </a:solidFill>
                <a:latin typeface="Calibri" pitchFamily="34" charset="0"/>
                <a:ea typeface="Calibri" pitchFamily="34" charset="-122"/>
                <a:cs typeface="Calibri" pitchFamily="34" charset="-120"/>
              </a:rPr>
              <a:t>Four necessary conditions must hold simultaneously for a deadlock to occur:</a:t>
            </a:r>
            <a:endParaRPr lang="en-US" sz="1350" dirty="0"/>
          </a:p>
        </p:txBody>
      </p:sp>
      <p:sp>
        <p:nvSpPr>
          <p:cNvPr id="5" name="Shape 3"/>
          <p:cNvSpPr/>
          <p:nvPr/>
        </p:nvSpPr>
        <p:spPr>
          <a:xfrm>
            <a:off x="2621585" y="1920240"/>
            <a:ext cx="6949440" cy="4206240"/>
          </a:xfrm>
          <a:prstGeom prst="donut">
            <a:avLst/>
          </a:prstGeom>
          <a:ln w="25400">
            <a:solidFill>
              <a:srgbClr val="2A4574"/>
            </a:solidFill>
            <a:prstDash val="dash"/>
          </a:ln>
        </p:spPr>
      </p:sp>
      <p:sp>
        <p:nvSpPr>
          <p:cNvPr id="6" name="Shape 4"/>
          <p:cNvSpPr/>
          <p:nvPr/>
        </p:nvSpPr>
        <p:spPr>
          <a:xfrm>
            <a:off x="5136185" y="3429000"/>
            <a:ext cx="1920240" cy="1188720"/>
          </a:xfrm>
          <a:prstGeom prst="roundRect">
            <a:avLst>
              <a:gd name="adj" fmla="val 6154"/>
            </a:avLst>
          </a:prstGeom>
          <a:solidFill>
            <a:srgbClr val="1B3A63"/>
          </a:solidFill>
          <a:ln/>
        </p:spPr>
      </p:sp>
      <p:sp>
        <p:nvSpPr>
          <p:cNvPr id="7" name="Text 5"/>
          <p:cNvSpPr/>
          <p:nvPr/>
        </p:nvSpPr>
        <p:spPr>
          <a:xfrm>
            <a:off x="5136185" y="3730752"/>
            <a:ext cx="1920240" cy="365760"/>
          </a:xfrm>
          <a:prstGeom prst="rect">
            <a:avLst/>
          </a:prstGeom>
          <a:noFill/>
          <a:ln/>
        </p:spPr>
        <p:txBody>
          <a:bodyPr wrap="square" lIns="0" tIns="0" rIns="0" bIns="0" rtlCol="0" anchor="ctr"/>
          <a:lstStyle/>
          <a:p>
            <a:pPr marL="0" indent="0" algn="ctr">
              <a:buNone/>
            </a:pPr>
            <a:r>
              <a:rPr lang="en-US" sz="1700" b="1" dirty="0">
                <a:solidFill>
                  <a:srgbClr val="F87171"/>
                </a:solidFill>
                <a:latin typeface="Cambria" pitchFamily="34" charset="0"/>
                <a:ea typeface="Cambria" pitchFamily="34" charset="-122"/>
                <a:cs typeface="Cambria" pitchFamily="34" charset="-120"/>
              </a:rPr>
              <a:t>DEADLOCK</a:t>
            </a:r>
            <a:endParaRPr lang="en-US" sz="1700" dirty="0"/>
          </a:p>
        </p:txBody>
      </p:sp>
      <p:sp>
        <p:nvSpPr>
          <p:cNvPr id="8" name="Text 6"/>
          <p:cNvSpPr/>
          <p:nvPr/>
        </p:nvSpPr>
        <p:spPr>
          <a:xfrm>
            <a:off x="5136185" y="4069080"/>
            <a:ext cx="1920240" cy="320040"/>
          </a:xfrm>
          <a:prstGeom prst="rect">
            <a:avLst/>
          </a:prstGeom>
          <a:noFill/>
          <a:ln/>
        </p:spPr>
        <p:txBody>
          <a:bodyPr wrap="square" lIns="0" tIns="0" rIns="0" bIns="0" rtlCol="0" anchor="ctr"/>
          <a:lstStyle/>
          <a:p>
            <a:pPr marL="0" indent="0" algn="ctr">
              <a:buNone/>
            </a:pPr>
            <a:r>
              <a:rPr lang="en-US" sz="1000" dirty="0">
                <a:solidFill>
                  <a:srgbClr val="8FA3C7"/>
                </a:solidFill>
                <a:latin typeface="Calibri" pitchFamily="34" charset="0"/>
                <a:ea typeface="Calibri" pitchFamily="34" charset="-122"/>
                <a:cs typeface="Calibri" pitchFamily="34" charset="-120"/>
              </a:rPr>
              <a:t>All 4 conditions hold</a:t>
            </a:r>
            <a:endParaRPr lang="en-US" sz="1000" dirty="0"/>
          </a:p>
        </p:txBody>
      </p:sp>
      <p:sp>
        <p:nvSpPr>
          <p:cNvPr id="9" name="Shape 7"/>
          <p:cNvSpPr/>
          <p:nvPr/>
        </p:nvSpPr>
        <p:spPr>
          <a:xfrm>
            <a:off x="4678985" y="1874520"/>
            <a:ext cx="2834640" cy="1097280"/>
          </a:xfrm>
          <a:prstGeom prst="roundRect">
            <a:avLst>
              <a:gd name="adj" fmla="val 6667"/>
            </a:avLst>
          </a:prstGeom>
          <a:solidFill>
            <a:srgbClr val="13294B"/>
          </a:solidFill>
          <a:ln/>
          <a:effectLst>
            <a:outerShdw blurRad="101600" dist="38100" dir="5400000" algn="bl" rotWithShape="0">
              <a:srgbClr val="000000">
                <a:alpha val="35000"/>
              </a:srgbClr>
            </a:outerShdw>
          </a:effectLst>
        </p:spPr>
      </p:sp>
      <p:sp>
        <p:nvSpPr>
          <p:cNvPr id="10" name="Shape 8"/>
          <p:cNvSpPr/>
          <p:nvPr/>
        </p:nvSpPr>
        <p:spPr>
          <a:xfrm>
            <a:off x="4916729" y="2157984"/>
            <a:ext cx="530352" cy="530352"/>
          </a:xfrm>
          <a:prstGeom prst="ellipse">
            <a:avLst/>
          </a:prstGeom>
          <a:solidFill>
            <a:srgbClr val="1B3A63"/>
          </a:solidFill>
          <a:ln/>
        </p:spPr>
      </p:sp>
      <p:pic>
        <p:nvPicPr>
          <p:cNvPr id="11" name="Image 0" descr="icons/lock_cyan.png"/>
          <p:cNvPicPr>
            <a:picLocks noChangeAspect="1"/>
          </p:cNvPicPr>
          <p:nvPr/>
        </p:nvPicPr>
        <p:blipFill>
          <a:blip r:embed="rId3"/>
          <a:stretch>
            <a:fillRect/>
          </a:stretch>
        </p:blipFill>
        <p:spPr>
          <a:xfrm>
            <a:off x="5053889" y="2295144"/>
            <a:ext cx="256032" cy="256032"/>
          </a:xfrm>
          <a:prstGeom prst="rect">
            <a:avLst/>
          </a:prstGeom>
        </p:spPr>
      </p:pic>
      <p:sp>
        <p:nvSpPr>
          <p:cNvPr id="12" name="Text 9"/>
          <p:cNvSpPr/>
          <p:nvPr/>
        </p:nvSpPr>
        <p:spPr>
          <a:xfrm>
            <a:off x="5547665" y="2002536"/>
            <a:ext cx="1828800" cy="32004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Mutual Exclusion</a:t>
            </a:r>
            <a:endParaRPr lang="en-US" sz="1350" dirty="0"/>
          </a:p>
        </p:txBody>
      </p:sp>
      <p:sp>
        <p:nvSpPr>
          <p:cNvPr id="13" name="Text 10"/>
          <p:cNvSpPr/>
          <p:nvPr/>
        </p:nvSpPr>
        <p:spPr>
          <a:xfrm>
            <a:off x="5547665" y="2331720"/>
            <a:ext cx="1783080" cy="685800"/>
          </a:xfrm>
          <a:prstGeom prst="rect">
            <a:avLst/>
          </a:prstGeom>
          <a:noFill/>
          <a:ln/>
        </p:spPr>
        <p:txBody>
          <a:bodyPr wrap="square" lIns="0" tIns="0" rIns="0" bIns="0" rtlCol="0" anchor="ctr"/>
          <a:lstStyle/>
          <a:p>
            <a:pPr marL="0" indent="0">
              <a:lnSpc>
                <a:spcPct val="110000"/>
              </a:lnSpc>
              <a:buNone/>
            </a:pPr>
            <a:r>
              <a:rPr lang="en-US" sz="1050" dirty="0">
                <a:solidFill>
                  <a:srgbClr val="B9D4FF"/>
                </a:solidFill>
                <a:latin typeface="Calibri" pitchFamily="34" charset="0"/>
                <a:ea typeface="Calibri" pitchFamily="34" charset="-122"/>
                <a:cs typeface="Calibri" pitchFamily="34" charset="-120"/>
              </a:rPr>
              <a:t>Only one process may use a resource at a time.</a:t>
            </a:r>
            <a:endParaRPr lang="en-US" sz="1050" dirty="0"/>
          </a:p>
        </p:txBody>
      </p:sp>
      <p:sp>
        <p:nvSpPr>
          <p:cNvPr id="14" name="Shape 11"/>
          <p:cNvSpPr/>
          <p:nvPr/>
        </p:nvSpPr>
        <p:spPr>
          <a:xfrm>
            <a:off x="7467905" y="3474720"/>
            <a:ext cx="2834640" cy="1097280"/>
          </a:xfrm>
          <a:prstGeom prst="roundRect">
            <a:avLst>
              <a:gd name="adj" fmla="val 6667"/>
            </a:avLst>
          </a:prstGeom>
          <a:solidFill>
            <a:srgbClr val="13294B"/>
          </a:solidFill>
          <a:ln/>
          <a:effectLst>
            <a:outerShdw blurRad="101600" dist="38100" dir="5400000" algn="bl" rotWithShape="0">
              <a:srgbClr val="000000">
                <a:alpha val="35000"/>
              </a:srgbClr>
            </a:outerShdw>
          </a:effectLst>
        </p:spPr>
      </p:sp>
      <p:sp>
        <p:nvSpPr>
          <p:cNvPr id="15" name="Shape 12"/>
          <p:cNvSpPr/>
          <p:nvPr/>
        </p:nvSpPr>
        <p:spPr>
          <a:xfrm>
            <a:off x="7705649" y="3758184"/>
            <a:ext cx="530352" cy="530352"/>
          </a:xfrm>
          <a:prstGeom prst="ellipse">
            <a:avLst/>
          </a:prstGeom>
          <a:solidFill>
            <a:srgbClr val="1B3A63"/>
          </a:solidFill>
          <a:ln/>
        </p:spPr>
      </p:sp>
      <p:pic>
        <p:nvPicPr>
          <p:cNvPr id="16" name="Image 1" descr="icons/package_cyan.png"/>
          <p:cNvPicPr>
            <a:picLocks noChangeAspect="1"/>
          </p:cNvPicPr>
          <p:nvPr/>
        </p:nvPicPr>
        <p:blipFill>
          <a:blip r:embed="rId4"/>
          <a:stretch>
            <a:fillRect/>
          </a:stretch>
        </p:blipFill>
        <p:spPr>
          <a:xfrm>
            <a:off x="7842809" y="3895344"/>
            <a:ext cx="256032" cy="256032"/>
          </a:xfrm>
          <a:prstGeom prst="rect">
            <a:avLst/>
          </a:prstGeom>
        </p:spPr>
      </p:pic>
      <p:sp>
        <p:nvSpPr>
          <p:cNvPr id="17" name="Text 13"/>
          <p:cNvSpPr/>
          <p:nvPr/>
        </p:nvSpPr>
        <p:spPr>
          <a:xfrm>
            <a:off x="8336585" y="3602736"/>
            <a:ext cx="1828800" cy="32004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Hold and Wait</a:t>
            </a:r>
            <a:endParaRPr lang="en-US" sz="1350" dirty="0"/>
          </a:p>
        </p:txBody>
      </p:sp>
      <p:sp>
        <p:nvSpPr>
          <p:cNvPr id="18" name="Text 14"/>
          <p:cNvSpPr/>
          <p:nvPr/>
        </p:nvSpPr>
        <p:spPr>
          <a:xfrm>
            <a:off x="8336585" y="3931920"/>
            <a:ext cx="1783080" cy="685800"/>
          </a:xfrm>
          <a:prstGeom prst="rect">
            <a:avLst/>
          </a:prstGeom>
          <a:noFill/>
          <a:ln/>
        </p:spPr>
        <p:txBody>
          <a:bodyPr wrap="square" lIns="0" tIns="0" rIns="0" bIns="0" rtlCol="0" anchor="ctr"/>
          <a:lstStyle/>
          <a:p>
            <a:pPr marL="0" indent="0">
              <a:lnSpc>
                <a:spcPct val="110000"/>
              </a:lnSpc>
              <a:buNone/>
            </a:pPr>
            <a:r>
              <a:rPr lang="en-US" sz="1050" dirty="0">
                <a:solidFill>
                  <a:srgbClr val="B9D4FF"/>
                </a:solidFill>
                <a:latin typeface="Calibri" pitchFamily="34" charset="0"/>
                <a:ea typeface="Calibri" pitchFamily="34" charset="-122"/>
                <a:cs typeface="Calibri" pitchFamily="34" charset="-120"/>
              </a:rPr>
              <a:t>A process holds one resource while requesting another.</a:t>
            </a:r>
            <a:endParaRPr lang="en-US" sz="1050" dirty="0"/>
          </a:p>
        </p:txBody>
      </p:sp>
      <p:sp>
        <p:nvSpPr>
          <p:cNvPr id="19" name="Shape 15"/>
          <p:cNvSpPr/>
          <p:nvPr/>
        </p:nvSpPr>
        <p:spPr>
          <a:xfrm>
            <a:off x="4678985" y="5074920"/>
            <a:ext cx="2834640" cy="1097280"/>
          </a:xfrm>
          <a:prstGeom prst="roundRect">
            <a:avLst>
              <a:gd name="adj" fmla="val 6667"/>
            </a:avLst>
          </a:prstGeom>
          <a:solidFill>
            <a:srgbClr val="13294B"/>
          </a:solidFill>
          <a:ln/>
          <a:effectLst>
            <a:outerShdw blurRad="101600" dist="38100" dir="5400000" algn="bl" rotWithShape="0">
              <a:srgbClr val="000000">
                <a:alpha val="35000"/>
              </a:srgbClr>
            </a:outerShdw>
          </a:effectLst>
        </p:spPr>
      </p:sp>
      <p:sp>
        <p:nvSpPr>
          <p:cNvPr id="20" name="Shape 16"/>
          <p:cNvSpPr/>
          <p:nvPr/>
        </p:nvSpPr>
        <p:spPr>
          <a:xfrm>
            <a:off x="4916729" y="5358384"/>
            <a:ext cx="530352" cy="530352"/>
          </a:xfrm>
          <a:prstGeom prst="ellipse">
            <a:avLst/>
          </a:prstGeom>
          <a:solidFill>
            <a:srgbClr val="1B3A63"/>
          </a:solidFill>
          <a:ln/>
        </p:spPr>
      </p:sp>
      <p:pic>
        <p:nvPicPr>
          <p:cNvPr id="21" name="Image 2" descr="icons/shield_cyan.png"/>
          <p:cNvPicPr>
            <a:picLocks noChangeAspect="1"/>
          </p:cNvPicPr>
          <p:nvPr/>
        </p:nvPicPr>
        <p:blipFill>
          <a:blip r:embed="rId5"/>
          <a:stretch>
            <a:fillRect/>
          </a:stretch>
        </p:blipFill>
        <p:spPr>
          <a:xfrm>
            <a:off x="5053889" y="5495544"/>
            <a:ext cx="256032" cy="256032"/>
          </a:xfrm>
          <a:prstGeom prst="rect">
            <a:avLst/>
          </a:prstGeom>
        </p:spPr>
      </p:pic>
      <p:sp>
        <p:nvSpPr>
          <p:cNvPr id="22" name="Text 17"/>
          <p:cNvSpPr/>
          <p:nvPr/>
        </p:nvSpPr>
        <p:spPr>
          <a:xfrm>
            <a:off x="5547665" y="5202936"/>
            <a:ext cx="1828800" cy="32004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No Preemption</a:t>
            </a:r>
            <a:endParaRPr lang="en-US" sz="1350" dirty="0"/>
          </a:p>
        </p:txBody>
      </p:sp>
      <p:sp>
        <p:nvSpPr>
          <p:cNvPr id="23" name="Text 18"/>
          <p:cNvSpPr/>
          <p:nvPr/>
        </p:nvSpPr>
        <p:spPr>
          <a:xfrm>
            <a:off x="5547665" y="5532120"/>
            <a:ext cx="1783080" cy="685800"/>
          </a:xfrm>
          <a:prstGeom prst="rect">
            <a:avLst/>
          </a:prstGeom>
          <a:noFill/>
          <a:ln/>
        </p:spPr>
        <p:txBody>
          <a:bodyPr wrap="square" lIns="0" tIns="0" rIns="0" bIns="0" rtlCol="0" anchor="ctr"/>
          <a:lstStyle/>
          <a:p>
            <a:pPr marL="0" indent="0">
              <a:lnSpc>
                <a:spcPct val="110000"/>
              </a:lnSpc>
              <a:buNone/>
            </a:pPr>
            <a:r>
              <a:rPr lang="en-US" sz="1050" dirty="0">
                <a:solidFill>
                  <a:srgbClr val="B9D4FF"/>
                </a:solidFill>
                <a:latin typeface="Calibri" pitchFamily="34" charset="0"/>
                <a:ea typeface="Calibri" pitchFamily="34" charset="-122"/>
                <a:cs typeface="Calibri" pitchFamily="34" charset="-120"/>
              </a:rPr>
              <a:t>A resource cannot be forcibly taken from a process.</a:t>
            </a:r>
            <a:endParaRPr lang="en-US" sz="1050" dirty="0"/>
          </a:p>
        </p:txBody>
      </p:sp>
      <p:sp>
        <p:nvSpPr>
          <p:cNvPr id="24" name="Shape 19"/>
          <p:cNvSpPr/>
          <p:nvPr/>
        </p:nvSpPr>
        <p:spPr>
          <a:xfrm>
            <a:off x="1890065" y="3474720"/>
            <a:ext cx="2834640" cy="1097280"/>
          </a:xfrm>
          <a:prstGeom prst="roundRect">
            <a:avLst>
              <a:gd name="adj" fmla="val 6667"/>
            </a:avLst>
          </a:prstGeom>
          <a:solidFill>
            <a:srgbClr val="13294B"/>
          </a:solidFill>
          <a:ln/>
          <a:effectLst>
            <a:outerShdw blurRad="101600" dist="38100" dir="5400000" algn="bl" rotWithShape="0">
              <a:srgbClr val="000000">
                <a:alpha val="35000"/>
              </a:srgbClr>
            </a:outerShdw>
          </a:effectLst>
        </p:spPr>
      </p:sp>
      <p:sp>
        <p:nvSpPr>
          <p:cNvPr id="25" name="Shape 20"/>
          <p:cNvSpPr/>
          <p:nvPr/>
        </p:nvSpPr>
        <p:spPr>
          <a:xfrm>
            <a:off x="2127809" y="3758184"/>
            <a:ext cx="530352" cy="530352"/>
          </a:xfrm>
          <a:prstGeom prst="ellipse">
            <a:avLst/>
          </a:prstGeom>
          <a:solidFill>
            <a:srgbClr val="1B3A63"/>
          </a:solidFill>
          <a:ln/>
        </p:spPr>
      </p:sp>
      <p:pic>
        <p:nvPicPr>
          <p:cNvPr id="26" name="Image 3" descr="icons/refresh_cyan.png"/>
          <p:cNvPicPr>
            <a:picLocks noChangeAspect="1"/>
          </p:cNvPicPr>
          <p:nvPr/>
        </p:nvPicPr>
        <p:blipFill>
          <a:blip r:embed="rId6"/>
          <a:stretch>
            <a:fillRect/>
          </a:stretch>
        </p:blipFill>
        <p:spPr>
          <a:xfrm>
            <a:off x="2264969" y="3895344"/>
            <a:ext cx="256032" cy="256032"/>
          </a:xfrm>
          <a:prstGeom prst="rect">
            <a:avLst/>
          </a:prstGeom>
        </p:spPr>
      </p:pic>
      <p:sp>
        <p:nvSpPr>
          <p:cNvPr id="27" name="Text 21"/>
          <p:cNvSpPr/>
          <p:nvPr/>
        </p:nvSpPr>
        <p:spPr>
          <a:xfrm>
            <a:off x="2758745" y="3602736"/>
            <a:ext cx="1828800" cy="32004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Circular Wait</a:t>
            </a:r>
            <a:endParaRPr lang="en-US" sz="1350" dirty="0"/>
          </a:p>
        </p:txBody>
      </p:sp>
      <p:sp>
        <p:nvSpPr>
          <p:cNvPr id="28" name="Text 22"/>
          <p:cNvSpPr/>
          <p:nvPr/>
        </p:nvSpPr>
        <p:spPr>
          <a:xfrm>
            <a:off x="2758745" y="3931920"/>
            <a:ext cx="1783080" cy="685800"/>
          </a:xfrm>
          <a:prstGeom prst="rect">
            <a:avLst/>
          </a:prstGeom>
          <a:noFill/>
          <a:ln/>
        </p:spPr>
        <p:txBody>
          <a:bodyPr wrap="square" lIns="0" tIns="0" rIns="0" bIns="0" rtlCol="0" anchor="ctr"/>
          <a:lstStyle/>
          <a:p>
            <a:pPr marL="0" indent="0">
              <a:lnSpc>
                <a:spcPct val="110000"/>
              </a:lnSpc>
              <a:buNone/>
            </a:pPr>
            <a:r>
              <a:rPr lang="en-US" sz="1050" dirty="0">
                <a:solidFill>
                  <a:srgbClr val="B9D4FF"/>
                </a:solidFill>
                <a:latin typeface="Calibri" pitchFamily="34" charset="0"/>
                <a:ea typeface="Calibri" pitchFamily="34" charset="-122"/>
                <a:cs typeface="Calibri" pitchFamily="34" charset="-120"/>
              </a:rPr>
              <a:t>Each process waits on the next, forming a closed cycle.</a:t>
            </a:r>
            <a:endParaRPr lang="en-US" sz="1050" dirty="0"/>
          </a:p>
        </p:txBody>
      </p:sp>
      <p:sp>
        <p:nvSpPr>
          <p:cNvPr id="29" name="Text 23"/>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8FA3C7"/>
                </a:solidFill>
                <a:latin typeface="Calibri" pitchFamily="34" charset="0"/>
                <a:ea typeface="Calibri" pitchFamily="34" charset="-122"/>
                <a:cs typeface="Calibri" pitchFamily="34" charset="-120"/>
              </a:rPr>
              <a:t>Linux Deadlock Detection and Resource Management System</a:t>
            </a:r>
            <a:endParaRPr lang="en-US" sz="900" dirty="0"/>
          </a:p>
        </p:txBody>
      </p:sp>
      <p:sp>
        <p:nvSpPr>
          <p:cNvPr id="30" name="Text 24"/>
          <p:cNvSpPr/>
          <p:nvPr/>
        </p:nvSpPr>
        <p:spPr>
          <a:xfrm>
            <a:off x="11457432" y="6510528"/>
            <a:ext cx="365760" cy="274320"/>
          </a:xfrm>
          <a:prstGeom prst="rect">
            <a:avLst/>
          </a:prstGeom>
          <a:noFill/>
          <a:ln/>
        </p:spPr>
        <p:txBody>
          <a:bodyPr wrap="square" lIns="0" tIns="0" rIns="0" bIns="0" rtlCol="0" anchor="ctr"/>
          <a:lstStyle/>
          <a:p>
            <a:pPr marL="0" indent="0" algn="r">
              <a:buNone/>
            </a:pPr>
            <a:r>
              <a:rPr lang="en-US" sz="900" dirty="0">
                <a:solidFill>
                  <a:srgbClr val="8FA3C7"/>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128"/>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marL="0" indent="0">
              <a:buNone/>
            </a:pPr>
            <a:r>
              <a:rPr lang="en-US" sz="1200" b="1" kern="0" spc="200" dirty="0">
                <a:solidFill>
                  <a:srgbClr val="38BDF8"/>
                </a:solidFill>
                <a:latin typeface="Calibri" pitchFamily="34" charset="0"/>
                <a:ea typeface="Calibri" pitchFamily="34" charset="-122"/>
                <a:cs typeface="Calibri" pitchFamily="34" charset="-120"/>
              </a:rPr>
              <a:t>SYSTEM DESIGN</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Proposed System Architecture</a:t>
            </a:r>
            <a:endParaRPr lang="en-US" sz="3000" dirty="0"/>
          </a:p>
        </p:txBody>
      </p:sp>
      <p:sp>
        <p:nvSpPr>
          <p:cNvPr id="4" name="Shape 2"/>
          <p:cNvSpPr/>
          <p:nvPr/>
        </p:nvSpPr>
        <p:spPr>
          <a:xfrm>
            <a:off x="685800" y="1828800"/>
            <a:ext cx="3429000" cy="1417320"/>
          </a:xfrm>
          <a:prstGeom prst="roundRect">
            <a:avLst>
              <a:gd name="adj" fmla="val 5161"/>
            </a:avLst>
          </a:prstGeom>
          <a:solidFill>
            <a:srgbClr val="13294B"/>
          </a:solidFill>
          <a:ln/>
          <a:effectLst>
            <a:outerShdw blurRad="101600" dist="38100" dir="5400000" algn="bl" rotWithShape="0">
              <a:srgbClr val="000000">
                <a:alpha val="35000"/>
              </a:srgbClr>
            </a:outerShdw>
          </a:effectLst>
        </p:spPr>
      </p:sp>
      <p:sp>
        <p:nvSpPr>
          <p:cNvPr id="5" name="Shape 3"/>
          <p:cNvSpPr/>
          <p:nvPr/>
        </p:nvSpPr>
        <p:spPr>
          <a:xfrm>
            <a:off x="891540" y="2286000"/>
            <a:ext cx="502920" cy="502920"/>
          </a:xfrm>
          <a:prstGeom prst="ellipse">
            <a:avLst/>
          </a:prstGeom>
          <a:solidFill>
            <a:srgbClr val="1B3A63"/>
          </a:solidFill>
          <a:ln/>
        </p:spPr>
      </p:sp>
      <p:pic>
        <p:nvPicPr>
          <p:cNvPr id="6" name="Image 0" descr="icons/users_cyan.png"/>
          <p:cNvPicPr>
            <a:picLocks noChangeAspect="1"/>
          </p:cNvPicPr>
          <p:nvPr/>
        </p:nvPicPr>
        <p:blipFill>
          <a:blip r:embed="rId3"/>
          <a:stretch>
            <a:fillRect/>
          </a:stretch>
        </p:blipFill>
        <p:spPr>
          <a:xfrm>
            <a:off x="1019556" y="2414016"/>
            <a:ext cx="246888" cy="246888"/>
          </a:xfrm>
          <a:prstGeom prst="rect">
            <a:avLst/>
          </a:prstGeom>
        </p:spPr>
      </p:pic>
      <p:sp>
        <p:nvSpPr>
          <p:cNvPr id="7" name="Text 4"/>
          <p:cNvSpPr/>
          <p:nvPr/>
        </p:nvSpPr>
        <p:spPr>
          <a:xfrm>
            <a:off x="1508760" y="2011680"/>
            <a:ext cx="2423160" cy="502920"/>
          </a:xfrm>
          <a:prstGeom prst="rect">
            <a:avLst/>
          </a:prstGeom>
          <a:noFill/>
          <a:ln/>
        </p:spPr>
        <p:txBody>
          <a:bodyPr wrap="square" lIns="0" tIns="0" rIns="0" bIns="0" rtlCol="0" anchor="t"/>
          <a:lstStyle/>
          <a:p>
            <a:pPr marL="0" indent="0">
              <a:buNone/>
            </a:pPr>
            <a:r>
              <a:rPr lang="en-US" sz="1300" b="1" dirty="0">
                <a:solidFill>
                  <a:srgbClr val="FFFFFF"/>
                </a:solidFill>
                <a:latin typeface="Cambria" pitchFamily="34" charset="0"/>
                <a:ea typeface="Cambria" pitchFamily="34" charset="-122"/>
                <a:cs typeface="Cambria" pitchFamily="34" charset="-120"/>
              </a:rPr>
              <a:t>Process Manager</a:t>
            </a:r>
            <a:endParaRPr lang="en-US" sz="1300" dirty="0"/>
          </a:p>
        </p:txBody>
      </p:sp>
      <p:sp>
        <p:nvSpPr>
          <p:cNvPr id="8" name="Text 5"/>
          <p:cNvSpPr/>
          <p:nvPr/>
        </p:nvSpPr>
        <p:spPr>
          <a:xfrm>
            <a:off x="1508760" y="2542032"/>
            <a:ext cx="2423160" cy="548640"/>
          </a:xfrm>
          <a:prstGeom prst="rect">
            <a:avLst/>
          </a:prstGeom>
          <a:noFill/>
          <a:ln/>
        </p:spPr>
        <p:txBody>
          <a:bodyPr wrap="square" lIns="0" tIns="0" rIns="0" bIns="0" rtlCol="0" anchor="t"/>
          <a:lstStyle/>
          <a:p>
            <a:pPr marL="0" indent="0">
              <a:lnSpc>
                <a:spcPct val="110000"/>
              </a:lnSpc>
              <a:buNone/>
            </a:pPr>
            <a:r>
              <a:rPr lang="en-US" sz="1050" dirty="0">
                <a:solidFill>
                  <a:srgbClr val="B9D4FF"/>
                </a:solidFill>
                <a:latin typeface="Calibri" pitchFamily="34" charset="0"/>
                <a:ea typeface="Calibri" pitchFamily="34" charset="-122"/>
                <a:cs typeface="Calibri" pitchFamily="34" charset="-120"/>
              </a:rPr>
              <a:t>Creates &amp; tracks processes</a:t>
            </a:r>
            <a:endParaRPr lang="en-US" sz="1050" dirty="0"/>
          </a:p>
        </p:txBody>
      </p:sp>
      <p:sp>
        <p:nvSpPr>
          <p:cNvPr id="9" name="Shape 6"/>
          <p:cNvSpPr/>
          <p:nvPr/>
        </p:nvSpPr>
        <p:spPr>
          <a:xfrm>
            <a:off x="4434840" y="1828800"/>
            <a:ext cx="3429000" cy="1417320"/>
          </a:xfrm>
          <a:prstGeom prst="roundRect">
            <a:avLst>
              <a:gd name="adj" fmla="val 5161"/>
            </a:avLst>
          </a:prstGeom>
          <a:solidFill>
            <a:srgbClr val="13294B"/>
          </a:solidFill>
          <a:ln/>
          <a:effectLst>
            <a:outerShdw blurRad="101600" dist="38100" dir="5400000" algn="bl" rotWithShape="0">
              <a:srgbClr val="000000">
                <a:alpha val="35000"/>
              </a:srgbClr>
            </a:outerShdw>
          </a:effectLst>
        </p:spPr>
      </p:sp>
      <p:sp>
        <p:nvSpPr>
          <p:cNvPr id="10" name="Shape 7"/>
          <p:cNvSpPr/>
          <p:nvPr/>
        </p:nvSpPr>
        <p:spPr>
          <a:xfrm>
            <a:off x="4640580" y="2286000"/>
            <a:ext cx="502920" cy="502920"/>
          </a:xfrm>
          <a:prstGeom prst="ellipse">
            <a:avLst/>
          </a:prstGeom>
          <a:solidFill>
            <a:srgbClr val="1B3A63"/>
          </a:solidFill>
          <a:ln/>
        </p:spPr>
      </p:sp>
      <p:pic>
        <p:nvPicPr>
          <p:cNvPr id="11" name="Image 1" descr="icons/database_cyan.png"/>
          <p:cNvPicPr>
            <a:picLocks noChangeAspect="1"/>
          </p:cNvPicPr>
          <p:nvPr/>
        </p:nvPicPr>
        <p:blipFill>
          <a:blip r:embed="rId4"/>
          <a:stretch>
            <a:fillRect/>
          </a:stretch>
        </p:blipFill>
        <p:spPr>
          <a:xfrm>
            <a:off x="4768596" y="2414016"/>
            <a:ext cx="246888" cy="246888"/>
          </a:xfrm>
          <a:prstGeom prst="rect">
            <a:avLst/>
          </a:prstGeom>
        </p:spPr>
      </p:pic>
      <p:sp>
        <p:nvSpPr>
          <p:cNvPr id="12" name="Text 8"/>
          <p:cNvSpPr/>
          <p:nvPr/>
        </p:nvSpPr>
        <p:spPr>
          <a:xfrm>
            <a:off x="5257800" y="2011680"/>
            <a:ext cx="2423160" cy="502920"/>
          </a:xfrm>
          <a:prstGeom prst="rect">
            <a:avLst/>
          </a:prstGeom>
          <a:noFill/>
          <a:ln/>
        </p:spPr>
        <p:txBody>
          <a:bodyPr wrap="square" lIns="0" tIns="0" rIns="0" bIns="0" rtlCol="0" anchor="t"/>
          <a:lstStyle/>
          <a:p>
            <a:pPr marL="0" indent="0">
              <a:buNone/>
            </a:pPr>
            <a:r>
              <a:rPr lang="en-US" sz="1300" b="1" dirty="0">
                <a:solidFill>
                  <a:srgbClr val="FFFFFF"/>
                </a:solidFill>
                <a:latin typeface="Cambria" pitchFamily="34" charset="0"/>
                <a:ea typeface="Cambria" pitchFamily="34" charset="-122"/>
                <a:cs typeface="Cambria" pitchFamily="34" charset="-120"/>
              </a:rPr>
              <a:t>Resource Manager</a:t>
            </a:r>
            <a:endParaRPr lang="en-US" sz="1300" dirty="0"/>
          </a:p>
        </p:txBody>
      </p:sp>
      <p:sp>
        <p:nvSpPr>
          <p:cNvPr id="13" name="Text 9"/>
          <p:cNvSpPr/>
          <p:nvPr/>
        </p:nvSpPr>
        <p:spPr>
          <a:xfrm>
            <a:off x="5257800" y="2542032"/>
            <a:ext cx="2423160" cy="548640"/>
          </a:xfrm>
          <a:prstGeom prst="rect">
            <a:avLst/>
          </a:prstGeom>
          <a:noFill/>
          <a:ln/>
        </p:spPr>
        <p:txBody>
          <a:bodyPr wrap="square" lIns="0" tIns="0" rIns="0" bIns="0" rtlCol="0" anchor="t"/>
          <a:lstStyle/>
          <a:p>
            <a:pPr marL="0" indent="0">
              <a:lnSpc>
                <a:spcPct val="110000"/>
              </a:lnSpc>
              <a:buNone/>
            </a:pPr>
            <a:r>
              <a:rPr lang="en-US" sz="1050" dirty="0">
                <a:solidFill>
                  <a:srgbClr val="B9D4FF"/>
                </a:solidFill>
                <a:latin typeface="Calibri" pitchFamily="34" charset="0"/>
                <a:ea typeface="Calibri" pitchFamily="34" charset="-122"/>
                <a:cs typeface="Calibri" pitchFamily="34" charset="-120"/>
              </a:rPr>
              <a:t>Tracks resource inventory</a:t>
            </a:r>
            <a:endParaRPr lang="en-US" sz="1050" dirty="0"/>
          </a:p>
        </p:txBody>
      </p:sp>
      <p:sp>
        <p:nvSpPr>
          <p:cNvPr id="14" name="Shape 10"/>
          <p:cNvSpPr/>
          <p:nvPr/>
        </p:nvSpPr>
        <p:spPr>
          <a:xfrm>
            <a:off x="8183880" y="1828800"/>
            <a:ext cx="3429000" cy="1417320"/>
          </a:xfrm>
          <a:prstGeom prst="roundRect">
            <a:avLst>
              <a:gd name="adj" fmla="val 5161"/>
            </a:avLst>
          </a:prstGeom>
          <a:solidFill>
            <a:srgbClr val="13294B"/>
          </a:solidFill>
          <a:ln/>
          <a:effectLst>
            <a:outerShdw blurRad="101600" dist="38100" dir="5400000" algn="bl" rotWithShape="0">
              <a:srgbClr val="000000">
                <a:alpha val="35000"/>
              </a:srgbClr>
            </a:outerShdw>
          </a:effectLst>
        </p:spPr>
      </p:sp>
      <p:sp>
        <p:nvSpPr>
          <p:cNvPr id="15" name="Shape 11"/>
          <p:cNvSpPr/>
          <p:nvPr/>
        </p:nvSpPr>
        <p:spPr>
          <a:xfrm>
            <a:off x="8389620" y="2286000"/>
            <a:ext cx="502920" cy="502920"/>
          </a:xfrm>
          <a:prstGeom prst="ellipse">
            <a:avLst/>
          </a:prstGeom>
          <a:solidFill>
            <a:srgbClr val="1B3A63"/>
          </a:solidFill>
          <a:ln/>
        </p:spPr>
      </p:sp>
      <p:pic>
        <p:nvPicPr>
          <p:cNvPr id="16" name="Image 2" descr="icons/package_cyan.png"/>
          <p:cNvPicPr>
            <a:picLocks noChangeAspect="1"/>
          </p:cNvPicPr>
          <p:nvPr/>
        </p:nvPicPr>
        <p:blipFill>
          <a:blip r:embed="rId5"/>
          <a:stretch>
            <a:fillRect/>
          </a:stretch>
        </p:blipFill>
        <p:spPr>
          <a:xfrm>
            <a:off x="8517636" y="2414016"/>
            <a:ext cx="246888" cy="246888"/>
          </a:xfrm>
          <a:prstGeom prst="rect">
            <a:avLst/>
          </a:prstGeom>
        </p:spPr>
      </p:pic>
      <p:sp>
        <p:nvSpPr>
          <p:cNvPr id="17" name="Text 12"/>
          <p:cNvSpPr/>
          <p:nvPr/>
        </p:nvSpPr>
        <p:spPr>
          <a:xfrm>
            <a:off x="9006840" y="2011680"/>
            <a:ext cx="2423160" cy="502920"/>
          </a:xfrm>
          <a:prstGeom prst="rect">
            <a:avLst/>
          </a:prstGeom>
          <a:noFill/>
          <a:ln/>
        </p:spPr>
        <p:txBody>
          <a:bodyPr wrap="square" lIns="0" tIns="0" rIns="0" bIns="0" rtlCol="0" anchor="t"/>
          <a:lstStyle/>
          <a:p>
            <a:pPr marL="0" indent="0">
              <a:buNone/>
            </a:pPr>
            <a:r>
              <a:rPr lang="en-US" sz="1300" b="1" dirty="0">
                <a:solidFill>
                  <a:srgbClr val="FFFFFF"/>
                </a:solidFill>
                <a:latin typeface="Cambria" pitchFamily="34" charset="0"/>
                <a:ea typeface="Cambria" pitchFamily="34" charset="-122"/>
                <a:cs typeface="Cambria" pitchFamily="34" charset="-120"/>
              </a:rPr>
              <a:t>Resource Allocation Module</a:t>
            </a:r>
            <a:endParaRPr lang="en-US" sz="1300" dirty="0"/>
          </a:p>
        </p:txBody>
      </p:sp>
      <p:sp>
        <p:nvSpPr>
          <p:cNvPr id="18" name="Text 13"/>
          <p:cNvSpPr/>
          <p:nvPr/>
        </p:nvSpPr>
        <p:spPr>
          <a:xfrm>
            <a:off x="9006840" y="2542032"/>
            <a:ext cx="2423160" cy="548640"/>
          </a:xfrm>
          <a:prstGeom prst="rect">
            <a:avLst/>
          </a:prstGeom>
          <a:noFill/>
          <a:ln/>
        </p:spPr>
        <p:txBody>
          <a:bodyPr wrap="square" lIns="0" tIns="0" rIns="0" bIns="0" rtlCol="0" anchor="t"/>
          <a:lstStyle/>
          <a:p>
            <a:pPr marL="0" indent="0">
              <a:lnSpc>
                <a:spcPct val="110000"/>
              </a:lnSpc>
              <a:buNone/>
            </a:pPr>
            <a:r>
              <a:rPr lang="en-US" sz="1050" dirty="0">
                <a:solidFill>
                  <a:srgbClr val="B9D4FF"/>
                </a:solidFill>
                <a:latin typeface="Calibri" pitchFamily="34" charset="0"/>
                <a:ea typeface="Calibri" pitchFamily="34" charset="-122"/>
                <a:cs typeface="Calibri" pitchFamily="34" charset="-120"/>
              </a:rPr>
              <a:t>Grants &amp; queues requests</a:t>
            </a:r>
            <a:endParaRPr lang="en-US" sz="1050" dirty="0"/>
          </a:p>
        </p:txBody>
      </p:sp>
      <p:sp>
        <p:nvSpPr>
          <p:cNvPr id="19" name="Shape 14"/>
          <p:cNvSpPr/>
          <p:nvPr/>
        </p:nvSpPr>
        <p:spPr>
          <a:xfrm>
            <a:off x="685800" y="3566160"/>
            <a:ext cx="3429000" cy="1417320"/>
          </a:xfrm>
          <a:prstGeom prst="roundRect">
            <a:avLst>
              <a:gd name="adj" fmla="val 5161"/>
            </a:avLst>
          </a:prstGeom>
          <a:solidFill>
            <a:srgbClr val="13294B"/>
          </a:solidFill>
          <a:ln/>
          <a:effectLst>
            <a:outerShdw blurRad="101600" dist="38100" dir="5400000" algn="bl" rotWithShape="0">
              <a:srgbClr val="000000">
                <a:alpha val="35000"/>
              </a:srgbClr>
            </a:outerShdw>
          </a:effectLst>
        </p:spPr>
      </p:sp>
      <p:sp>
        <p:nvSpPr>
          <p:cNvPr id="20" name="Shape 15"/>
          <p:cNvSpPr/>
          <p:nvPr/>
        </p:nvSpPr>
        <p:spPr>
          <a:xfrm>
            <a:off x="891540" y="4023360"/>
            <a:ext cx="502920" cy="502920"/>
          </a:xfrm>
          <a:prstGeom prst="ellipse">
            <a:avLst/>
          </a:prstGeom>
          <a:solidFill>
            <a:srgbClr val="1B3A63"/>
          </a:solidFill>
          <a:ln/>
        </p:spPr>
      </p:sp>
      <p:pic>
        <p:nvPicPr>
          <p:cNvPr id="21" name="Image 3" descr="icons/search_cyan.png"/>
          <p:cNvPicPr>
            <a:picLocks noChangeAspect="1"/>
          </p:cNvPicPr>
          <p:nvPr/>
        </p:nvPicPr>
        <p:blipFill>
          <a:blip r:embed="rId6"/>
          <a:stretch>
            <a:fillRect/>
          </a:stretch>
        </p:blipFill>
        <p:spPr>
          <a:xfrm>
            <a:off x="1019556" y="4151376"/>
            <a:ext cx="246888" cy="246888"/>
          </a:xfrm>
          <a:prstGeom prst="rect">
            <a:avLst/>
          </a:prstGeom>
        </p:spPr>
      </p:pic>
      <p:sp>
        <p:nvSpPr>
          <p:cNvPr id="22" name="Text 16"/>
          <p:cNvSpPr/>
          <p:nvPr/>
        </p:nvSpPr>
        <p:spPr>
          <a:xfrm>
            <a:off x="1508760" y="3749040"/>
            <a:ext cx="2423160" cy="502920"/>
          </a:xfrm>
          <a:prstGeom prst="rect">
            <a:avLst/>
          </a:prstGeom>
          <a:noFill/>
          <a:ln/>
        </p:spPr>
        <p:txBody>
          <a:bodyPr wrap="square" lIns="0" tIns="0" rIns="0" bIns="0" rtlCol="0" anchor="t"/>
          <a:lstStyle/>
          <a:p>
            <a:pPr marL="0" indent="0">
              <a:buNone/>
            </a:pPr>
            <a:r>
              <a:rPr lang="en-US" sz="1300" b="1" dirty="0">
                <a:solidFill>
                  <a:srgbClr val="FFFFFF"/>
                </a:solidFill>
                <a:latin typeface="Cambria" pitchFamily="34" charset="0"/>
                <a:ea typeface="Cambria" pitchFamily="34" charset="-122"/>
                <a:cs typeface="Cambria" pitchFamily="34" charset="-120"/>
              </a:rPr>
              <a:t>Deadlock Detection Module</a:t>
            </a:r>
            <a:endParaRPr lang="en-US" sz="1300" dirty="0"/>
          </a:p>
        </p:txBody>
      </p:sp>
      <p:sp>
        <p:nvSpPr>
          <p:cNvPr id="23" name="Text 17"/>
          <p:cNvSpPr/>
          <p:nvPr/>
        </p:nvSpPr>
        <p:spPr>
          <a:xfrm>
            <a:off x="1508760" y="4279392"/>
            <a:ext cx="2423160" cy="548640"/>
          </a:xfrm>
          <a:prstGeom prst="rect">
            <a:avLst/>
          </a:prstGeom>
          <a:noFill/>
          <a:ln/>
        </p:spPr>
        <p:txBody>
          <a:bodyPr wrap="square" lIns="0" tIns="0" rIns="0" bIns="0" rtlCol="0" anchor="t"/>
          <a:lstStyle/>
          <a:p>
            <a:pPr marL="0" indent="0">
              <a:lnSpc>
                <a:spcPct val="110000"/>
              </a:lnSpc>
              <a:buNone/>
            </a:pPr>
            <a:r>
              <a:rPr lang="en-US" sz="1050" dirty="0">
                <a:solidFill>
                  <a:srgbClr val="B9D4FF"/>
                </a:solidFill>
                <a:latin typeface="Calibri" pitchFamily="34" charset="0"/>
                <a:ea typeface="Calibri" pitchFamily="34" charset="-122"/>
                <a:cs typeface="Calibri" pitchFamily="34" charset="-120"/>
              </a:rPr>
              <a:t>Analyzes wait relationships</a:t>
            </a:r>
            <a:endParaRPr lang="en-US" sz="1050" dirty="0"/>
          </a:p>
        </p:txBody>
      </p:sp>
      <p:sp>
        <p:nvSpPr>
          <p:cNvPr id="24" name="Shape 18"/>
          <p:cNvSpPr/>
          <p:nvPr/>
        </p:nvSpPr>
        <p:spPr>
          <a:xfrm>
            <a:off x="4434840" y="3566160"/>
            <a:ext cx="3429000" cy="1417320"/>
          </a:xfrm>
          <a:prstGeom prst="roundRect">
            <a:avLst>
              <a:gd name="adj" fmla="val 5161"/>
            </a:avLst>
          </a:prstGeom>
          <a:solidFill>
            <a:srgbClr val="13294B"/>
          </a:solidFill>
          <a:ln/>
          <a:effectLst>
            <a:outerShdw blurRad="101600" dist="38100" dir="5400000" algn="bl" rotWithShape="0">
              <a:srgbClr val="000000">
                <a:alpha val="35000"/>
              </a:srgbClr>
            </a:outerShdw>
          </a:effectLst>
        </p:spPr>
      </p:sp>
      <p:sp>
        <p:nvSpPr>
          <p:cNvPr id="25" name="Shape 19"/>
          <p:cNvSpPr/>
          <p:nvPr/>
        </p:nvSpPr>
        <p:spPr>
          <a:xfrm>
            <a:off x="4640580" y="4023360"/>
            <a:ext cx="502920" cy="502920"/>
          </a:xfrm>
          <a:prstGeom prst="ellipse">
            <a:avLst/>
          </a:prstGeom>
          <a:solidFill>
            <a:srgbClr val="1B3A63"/>
          </a:solidFill>
          <a:ln/>
        </p:spPr>
      </p:sp>
      <p:pic>
        <p:nvPicPr>
          <p:cNvPr id="26" name="Image 4" descr="icons/refresh_cyan.png"/>
          <p:cNvPicPr>
            <a:picLocks noChangeAspect="1"/>
          </p:cNvPicPr>
          <p:nvPr/>
        </p:nvPicPr>
        <p:blipFill>
          <a:blip r:embed="rId7"/>
          <a:stretch>
            <a:fillRect/>
          </a:stretch>
        </p:blipFill>
        <p:spPr>
          <a:xfrm>
            <a:off x="4768596" y="4151376"/>
            <a:ext cx="246888" cy="246888"/>
          </a:xfrm>
          <a:prstGeom prst="rect">
            <a:avLst/>
          </a:prstGeom>
        </p:spPr>
      </p:pic>
      <p:sp>
        <p:nvSpPr>
          <p:cNvPr id="27" name="Text 20"/>
          <p:cNvSpPr/>
          <p:nvPr/>
        </p:nvSpPr>
        <p:spPr>
          <a:xfrm>
            <a:off x="5257800" y="3749040"/>
            <a:ext cx="2423160" cy="502920"/>
          </a:xfrm>
          <a:prstGeom prst="rect">
            <a:avLst/>
          </a:prstGeom>
          <a:noFill/>
          <a:ln/>
        </p:spPr>
        <p:txBody>
          <a:bodyPr wrap="square" lIns="0" tIns="0" rIns="0" bIns="0" rtlCol="0" anchor="t"/>
          <a:lstStyle/>
          <a:p>
            <a:pPr marL="0" indent="0">
              <a:buNone/>
            </a:pPr>
            <a:r>
              <a:rPr lang="en-US" sz="1300" b="1" dirty="0">
                <a:solidFill>
                  <a:srgbClr val="FFFFFF"/>
                </a:solidFill>
                <a:latin typeface="Cambria" pitchFamily="34" charset="0"/>
                <a:ea typeface="Cambria" pitchFamily="34" charset="-122"/>
                <a:cs typeface="Cambria" pitchFamily="34" charset="-120"/>
              </a:rPr>
              <a:t>Deadlock Recovery Module</a:t>
            </a:r>
            <a:endParaRPr lang="en-US" sz="1300" dirty="0"/>
          </a:p>
        </p:txBody>
      </p:sp>
      <p:sp>
        <p:nvSpPr>
          <p:cNvPr id="28" name="Text 21"/>
          <p:cNvSpPr/>
          <p:nvPr/>
        </p:nvSpPr>
        <p:spPr>
          <a:xfrm>
            <a:off x="5257800" y="4279392"/>
            <a:ext cx="2423160" cy="548640"/>
          </a:xfrm>
          <a:prstGeom prst="rect">
            <a:avLst/>
          </a:prstGeom>
          <a:noFill/>
          <a:ln/>
        </p:spPr>
        <p:txBody>
          <a:bodyPr wrap="square" lIns="0" tIns="0" rIns="0" bIns="0" rtlCol="0" anchor="t"/>
          <a:lstStyle/>
          <a:p>
            <a:pPr marL="0" indent="0">
              <a:lnSpc>
                <a:spcPct val="110000"/>
              </a:lnSpc>
              <a:buNone/>
            </a:pPr>
            <a:r>
              <a:rPr lang="en-US" sz="1050" dirty="0">
                <a:solidFill>
                  <a:srgbClr val="B9D4FF"/>
                </a:solidFill>
                <a:latin typeface="Calibri" pitchFamily="34" charset="0"/>
                <a:ea typeface="Calibri" pitchFamily="34" charset="-122"/>
                <a:cs typeface="Calibri" pitchFamily="34" charset="-120"/>
              </a:rPr>
              <a:t>Resolves detected deadlocks</a:t>
            </a:r>
            <a:endParaRPr lang="en-US" sz="1050" dirty="0"/>
          </a:p>
        </p:txBody>
      </p:sp>
      <p:sp>
        <p:nvSpPr>
          <p:cNvPr id="29" name="Shape 22"/>
          <p:cNvSpPr/>
          <p:nvPr/>
        </p:nvSpPr>
        <p:spPr>
          <a:xfrm>
            <a:off x="8183880" y="3566160"/>
            <a:ext cx="3429000" cy="1417320"/>
          </a:xfrm>
          <a:prstGeom prst="roundRect">
            <a:avLst>
              <a:gd name="adj" fmla="val 5161"/>
            </a:avLst>
          </a:prstGeom>
          <a:solidFill>
            <a:srgbClr val="13294B"/>
          </a:solidFill>
          <a:ln/>
          <a:effectLst>
            <a:outerShdw blurRad="101600" dist="38100" dir="5400000" algn="bl" rotWithShape="0">
              <a:srgbClr val="000000">
                <a:alpha val="35000"/>
              </a:srgbClr>
            </a:outerShdw>
          </a:effectLst>
        </p:spPr>
      </p:sp>
      <p:sp>
        <p:nvSpPr>
          <p:cNvPr id="30" name="Shape 23"/>
          <p:cNvSpPr/>
          <p:nvPr/>
        </p:nvSpPr>
        <p:spPr>
          <a:xfrm>
            <a:off x="8389620" y="4023360"/>
            <a:ext cx="502920" cy="502920"/>
          </a:xfrm>
          <a:prstGeom prst="ellipse">
            <a:avLst/>
          </a:prstGeom>
          <a:solidFill>
            <a:srgbClr val="1B3A63"/>
          </a:solidFill>
          <a:ln/>
        </p:spPr>
      </p:sp>
      <p:pic>
        <p:nvPicPr>
          <p:cNvPr id="31" name="Image 5" descr="icons/terminal_cyan.png"/>
          <p:cNvPicPr>
            <a:picLocks noChangeAspect="1"/>
          </p:cNvPicPr>
          <p:nvPr/>
        </p:nvPicPr>
        <p:blipFill>
          <a:blip r:embed="rId8"/>
          <a:stretch>
            <a:fillRect/>
          </a:stretch>
        </p:blipFill>
        <p:spPr>
          <a:xfrm>
            <a:off x="8517636" y="4151376"/>
            <a:ext cx="246888" cy="246888"/>
          </a:xfrm>
          <a:prstGeom prst="rect">
            <a:avLst/>
          </a:prstGeom>
        </p:spPr>
      </p:pic>
      <p:sp>
        <p:nvSpPr>
          <p:cNvPr id="32" name="Text 24"/>
          <p:cNvSpPr/>
          <p:nvPr/>
        </p:nvSpPr>
        <p:spPr>
          <a:xfrm>
            <a:off x="9006840" y="3749040"/>
            <a:ext cx="2423160" cy="502920"/>
          </a:xfrm>
          <a:prstGeom prst="rect">
            <a:avLst/>
          </a:prstGeom>
          <a:noFill/>
          <a:ln/>
        </p:spPr>
        <p:txBody>
          <a:bodyPr wrap="square" lIns="0" tIns="0" rIns="0" bIns="0" rtlCol="0" anchor="t"/>
          <a:lstStyle/>
          <a:p>
            <a:pPr marL="0" indent="0">
              <a:buNone/>
            </a:pPr>
            <a:r>
              <a:rPr lang="en-US" sz="1300" b="1" dirty="0">
                <a:solidFill>
                  <a:srgbClr val="FFFFFF"/>
                </a:solidFill>
                <a:latin typeface="Cambria" pitchFamily="34" charset="0"/>
                <a:ea typeface="Cambria" pitchFamily="34" charset="-122"/>
                <a:cs typeface="Cambria" pitchFamily="34" charset="-120"/>
              </a:rPr>
              <a:t>Command-Line Interface</a:t>
            </a:r>
            <a:endParaRPr lang="en-US" sz="1300" dirty="0"/>
          </a:p>
        </p:txBody>
      </p:sp>
      <p:sp>
        <p:nvSpPr>
          <p:cNvPr id="33" name="Text 25"/>
          <p:cNvSpPr/>
          <p:nvPr/>
        </p:nvSpPr>
        <p:spPr>
          <a:xfrm>
            <a:off x="9006840" y="4279392"/>
            <a:ext cx="2423160" cy="548640"/>
          </a:xfrm>
          <a:prstGeom prst="rect">
            <a:avLst/>
          </a:prstGeom>
          <a:noFill/>
          <a:ln/>
        </p:spPr>
        <p:txBody>
          <a:bodyPr wrap="square" lIns="0" tIns="0" rIns="0" bIns="0" rtlCol="0" anchor="t"/>
          <a:lstStyle/>
          <a:p>
            <a:pPr marL="0" indent="0">
              <a:lnSpc>
                <a:spcPct val="110000"/>
              </a:lnSpc>
              <a:buNone/>
            </a:pPr>
            <a:r>
              <a:rPr lang="en-US" sz="1050" dirty="0">
                <a:solidFill>
                  <a:srgbClr val="B9D4FF"/>
                </a:solidFill>
                <a:latin typeface="Calibri" pitchFamily="34" charset="0"/>
                <a:ea typeface="Calibri" pitchFamily="34" charset="-122"/>
                <a:cs typeface="Calibri" pitchFamily="34" charset="-120"/>
              </a:rPr>
              <a:t>User interaction &amp; control</a:t>
            </a:r>
            <a:endParaRPr lang="en-US" sz="1050" dirty="0"/>
          </a:p>
        </p:txBody>
      </p:sp>
      <p:sp>
        <p:nvSpPr>
          <p:cNvPr id="34" name="Shape 26"/>
          <p:cNvSpPr/>
          <p:nvPr/>
        </p:nvSpPr>
        <p:spPr>
          <a:xfrm>
            <a:off x="2318004" y="3300984"/>
            <a:ext cx="164592" cy="210312"/>
          </a:xfrm>
          <a:prstGeom prst="downArrow">
            <a:avLst/>
          </a:prstGeom>
          <a:solidFill>
            <a:srgbClr val="38BDF8"/>
          </a:solidFill>
          <a:ln/>
        </p:spPr>
      </p:sp>
      <p:sp>
        <p:nvSpPr>
          <p:cNvPr id="35" name="Shape 27"/>
          <p:cNvSpPr/>
          <p:nvPr/>
        </p:nvSpPr>
        <p:spPr>
          <a:xfrm>
            <a:off x="6067044" y="3300984"/>
            <a:ext cx="164592" cy="210312"/>
          </a:xfrm>
          <a:prstGeom prst="downArrow">
            <a:avLst/>
          </a:prstGeom>
          <a:solidFill>
            <a:srgbClr val="38BDF8"/>
          </a:solidFill>
          <a:ln/>
        </p:spPr>
      </p:sp>
      <p:sp>
        <p:nvSpPr>
          <p:cNvPr id="36" name="Shape 28"/>
          <p:cNvSpPr/>
          <p:nvPr/>
        </p:nvSpPr>
        <p:spPr>
          <a:xfrm>
            <a:off x="9816084" y="3300984"/>
            <a:ext cx="164592" cy="210312"/>
          </a:xfrm>
          <a:prstGeom prst="downArrow">
            <a:avLst/>
          </a:prstGeom>
          <a:solidFill>
            <a:srgbClr val="38BDF8"/>
          </a:solidFill>
          <a:ln/>
        </p:spPr>
      </p:sp>
      <p:sp>
        <p:nvSpPr>
          <p:cNvPr id="37" name="Text 29"/>
          <p:cNvSpPr/>
          <p:nvPr/>
        </p:nvSpPr>
        <p:spPr>
          <a:xfrm>
            <a:off x="685800" y="5120640"/>
            <a:ext cx="10789920" cy="457200"/>
          </a:xfrm>
          <a:prstGeom prst="rect">
            <a:avLst/>
          </a:prstGeom>
          <a:noFill/>
          <a:ln/>
        </p:spPr>
        <p:txBody>
          <a:bodyPr wrap="square" lIns="0" tIns="0" rIns="0" bIns="0" rtlCol="0" anchor="ctr"/>
          <a:lstStyle/>
          <a:p>
            <a:pPr marL="0" indent="0">
              <a:buNone/>
            </a:pPr>
            <a:r>
              <a:rPr lang="en-US" sz="1150" i="1" dirty="0">
                <a:solidFill>
                  <a:srgbClr val="8FA3C7"/>
                </a:solidFill>
                <a:latin typeface="Calibri" pitchFamily="34" charset="0"/>
                <a:ea typeface="Calibri" pitchFamily="34" charset="-122"/>
                <a:cs typeface="Calibri" pitchFamily="34" charset="-120"/>
              </a:rPr>
              <a:t>All modules communicate through the Resource Manager, which maintains the live allocation state used by detection and recovery.</a:t>
            </a:r>
            <a:endParaRPr lang="en-US" sz="1150" dirty="0"/>
          </a:p>
        </p:txBody>
      </p:sp>
      <p:sp>
        <p:nvSpPr>
          <p:cNvPr id="38" name="Text 30"/>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8FA3C7"/>
                </a:solidFill>
                <a:latin typeface="Calibri" pitchFamily="34" charset="0"/>
                <a:ea typeface="Calibri" pitchFamily="34" charset="-122"/>
                <a:cs typeface="Calibri" pitchFamily="34" charset="-120"/>
              </a:rPr>
              <a:t>Linux Deadlock Detection and Resource Management System</a:t>
            </a:r>
            <a:endParaRPr lang="en-US" sz="900" dirty="0"/>
          </a:p>
        </p:txBody>
      </p:sp>
      <p:sp>
        <p:nvSpPr>
          <p:cNvPr id="39" name="Text 31"/>
          <p:cNvSpPr/>
          <p:nvPr/>
        </p:nvSpPr>
        <p:spPr>
          <a:xfrm>
            <a:off x="11457432" y="6510528"/>
            <a:ext cx="365760" cy="274320"/>
          </a:xfrm>
          <a:prstGeom prst="rect">
            <a:avLst/>
          </a:prstGeom>
          <a:noFill/>
          <a:ln/>
        </p:spPr>
        <p:txBody>
          <a:bodyPr wrap="square" lIns="0" tIns="0" rIns="0" bIns="0" rtlCol="0" anchor="ctr"/>
          <a:lstStyle/>
          <a:p>
            <a:pPr marL="0" indent="0" algn="r">
              <a:buNone/>
            </a:pPr>
            <a:r>
              <a:rPr lang="en-US" sz="900" dirty="0">
                <a:solidFill>
                  <a:srgbClr val="8FA3C7"/>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128"/>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marL="0" indent="0">
              <a:buNone/>
            </a:pPr>
            <a:r>
              <a:rPr lang="en-US" sz="1200" b="1" kern="0" spc="200" dirty="0">
                <a:solidFill>
                  <a:srgbClr val="38BDF8"/>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Working / Process Flow</a:t>
            </a:r>
            <a:endParaRPr lang="en-US" sz="3000" dirty="0"/>
          </a:p>
        </p:txBody>
      </p:sp>
      <p:sp>
        <p:nvSpPr>
          <p:cNvPr id="4" name="Shape 2"/>
          <p:cNvSpPr/>
          <p:nvPr/>
        </p:nvSpPr>
        <p:spPr>
          <a:xfrm>
            <a:off x="640080" y="1481328"/>
            <a:ext cx="2423160" cy="420624"/>
          </a:xfrm>
          <a:prstGeom prst="roundRect">
            <a:avLst>
              <a:gd name="adj" fmla="val 17391"/>
            </a:avLst>
          </a:prstGeom>
          <a:solidFill>
            <a:srgbClr val="13294B"/>
          </a:solidFill>
          <a:ln/>
        </p:spPr>
      </p:sp>
      <p:sp>
        <p:nvSpPr>
          <p:cNvPr id="5" name="Text 3"/>
          <p:cNvSpPr/>
          <p:nvPr/>
        </p:nvSpPr>
        <p:spPr>
          <a:xfrm>
            <a:off x="640080" y="1481328"/>
            <a:ext cx="2423160" cy="42062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Initialize Resources</a:t>
            </a:r>
            <a:endParaRPr lang="en-US" sz="1100" dirty="0"/>
          </a:p>
        </p:txBody>
      </p:sp>
      <p:sp>
        <p:nvSpPr>
          <p:cNvPr id="6" name="Shape 4"/>
          <p:cNvSpPr/>
          <p:nvPr/>
        </p:nvSpPr>
        <p:spPr>
          <a:xfrm>
            <a:off x="1787652" y="1933956"/>
            <a:ext cx="128016" cy="128016"/>
          </a:xfrm>
          <a:prstGeom prst="downArrow">
            <a:avLst/>
          </a:prstGeom>
          <a:solidFill>
            <a:srgbClr val="38BDF8"/>
          </a:solidFill>
          <a:ln/>
        </p:spPr>
      </p:sp>
      <p:sp>
        <p:nvSpPr>
          <p:cNvPr id="7" name="Shape 5"/>
          <p:cNvSpPr/>
          <p:nvPr/>
        </p:nvSpPr>
        <p:spPr>
          <a:xfrm>
            <a:off x="640080" y="2043684"/>
            <a:ext cx="2423160" cy="420624"/>
          </a:xfrm>
          <a:prstGeom prst="roundRect">
            <a:avLst>
              <a:gd name="adj" fmla="val 17391"/>
            </a:avLst>
          </a:prstGeom>
          <a:solidFill>
            <a:srgbClr val="13294B"/>
          </a:solidFill>
          <a:ln/>
        </p:spPr>
      </p:sp>
      <p:sp>
        <p:nvSpPr>
          <p:cNvPr id="8" name="Text 6"/>
          <p:cNvSpPr/>
          <p:nvPr/>
        </p:nvSpPr>
        <p:spPr>
          <a:xfrm>
            <a:off x="640080" y="2043684"/>
            <a:ext cx="2423160" cy="42062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Create Processes</a:t>
            </a:r>
            <a:endParaRPr lang="en-US" sz="1100" dirty="0"/>
          </a:p>
        </p:txBody>
      </p:sp>
      <p:sp>
        <p:nvSpPr>
          <p:cNvPr id="9" name="Shape 7"/>
          <p:cNvSpPr/>
          <p:nvPr/>
        </p:nvSpPr>
        <p:spPr>
          <a:xfrm>
            <a:off x="1787652" y="2496312"/>
            <a:ext cx="128016" cy="128016"/>
          </a:xfrm>
          <a:prstGeom prst="downArrow">
            <a:avLst/>
          </a:prstGeom>
          <a:solidFill>
            <a:srgbClr val="38BDF8"/>
          </a:solidFill>
          <a:ln/>
        </p:spPr>
      </p:sp>
      <p:sp>
        <p:nvSpPr>
          <p:cNvPr id="10" name="Shape 8"/>
          <p:cNvSpPr/>
          <p:nvPr/>
        </p:nvSpPr>
        <p:spPr>
          <a:xfrm>
            <a:off x="640080" y="2606040"/>
            <a:ext cx="2423160" cy="420624"/>
          </a:xfrm>
          <a:prstGeom prst="roundRect">
            <a:avLst>
              <a:gd name="adj" fmla="val 17391"/>
            </a:avLst>
          </a:prstGeom>
          <a:solidFill>
            <a:srgbClr val="13294B"/>
          </a:solidFill>
          <a:ln/>
        </p:spPr>
      </p:sp>
      <p:sp>
        <p:nvSpPr>
          <p:cNvPr id="11" name="Text 9"/>
          <p:cNvSpPr/>
          <p:nvPr/>
        </p:nvSpPr>
        <p:spPr>
          <a:xfrm>
            <a:off x="640080" y="2606040"/>
            <a:ext cx="2423160" cy="42062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Allocate Resources</a:t>
            </a:r>
            <a:endParaRPr lang="en-US" sz="1100" dirty="0"/>
          </a:p>
        </p:txBody>
      </p:sp>
      <p:sp>
        <p:nvSpPr>
          <p:cNvPr id="12" name="Shape 10"/>
          <p:cNvSpPr/>
          <p:nvPr/>
        </p:nvSpPr>
        <p:spPr>
          <a:xfrm>
            <a:off x="1787652" y="3058668"/>
            <a:ext cx="128016" cy="128016"/>
          </a:xfrm>
          <a:prstGeom prst="downArrow">
            <a:avLst/>
          </a:prstGeom>
          <a:solidFill>
            <a:srgbClr val="38BDF8"/>
          </a:solidFill>
          <a:ln/>
        </p:spPr>
      </p:sp>
      <p:sp>
        <p:nvSpPr>
          <p:cNvPr id="13" name="Shape 11"/>
          <p:cNvSpPr/>
          <p:nvPr/>
        </p:nvSpPr>
        <p:spPr>
          <a:xfrm>
            <a:off x="640080" y="3168396"/>
            <a:ext cx="2423160" cy="420624"/>
          </a:xfrm>
          <a:prstGeom prst="roundRect">
            <a:avLst>
              <a:gd name="adj" fmla="val 17391"/>
            </a:avLst>
          </a:prstGeom>
          <a:solidFill>
            <a:srgbClr val="13294B"/>
          </a:solidFill>
          <a:ln/>
        </p:spPr>
      </p:sp>
      <p:sp>
        <p:nvSpPr>
          <p:cNvPr id="14" name="Text 12"/>
          <p:cNvSpPr/>
          <p:nvPr/>
        </p:nvSpPr>
        <p:spPr>
          <a:xfrm>
            <a:off x="640080" y="3168396"/>
            <a:ext cx="2423160" cy="42062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Process Resource Requests</a:t>
            </a:r>
            <a:endParaRPr lang="en-US" sz="1100" dirty="0"/>
          </a:p>
        </p:txBody>
      </p:sp>
      <p:sp>
        <p:nvSpPr>
          <p:cNvPr id="15" name="Shape 13"/>
          <p:cNvSpPr/>
          <p:nvPr/>
        </p:nvSpPr>
        <p:spPr>
          <a:xfrm>
            <a:off x="1787652" y="3621024"/>
            <a:ext cx="128016" cy="128016"/>
          </a:xfrm>
          <a:prstGeom prst="downArrow">
            <a:avLst/>
          </a:prstGeom>
          <a:solidFill>
            <a:srgbClr val="38BDF8"/>
          </a:solidFill>
          <a:ln/>
        </p:spPr>
      </p:sp>
      <p:sp>
        <p:nvSpPr>
          <p:cNvPr id="16" name="Shape 14"/>
          <p:cNvSpPr/>
          <p:nvPr/>
        </p:nvSpPr>
        <p:spPr>
          <a:xfrm>
            <a:off x="640080" y="3730752"/>
            <a:ext cx="2423160" cy="420624"/>
          </a:xfrm>
          <a:prstGeom prst="roundRect">
            <a:avLst>
              <a:gd name="adj" fmla="val 17391"/>
            </a:avLst>
          </a:prstGeom>
          <a:solidFill>
            <a:srgbClr val="13294B"/>
          </a:solidFill>
          <a:ln/>
        </p:spPr>
      </p:sp>
      <p:sp>
        <p:nvSpPr>
          <p:cNvPr id="17" name="Text 15"/>
          <p:cNvSpPr/>
          <p:nvPr/>
        </p:nvSpPr>
        <p:spPr>
          <a:xfrm>
            <a:off x="640080" y="3730752"/>
            <a:ext cx="2423160" cy="42062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Check Resource State</a:t>
            </a:r>
            <a:endParaRPr lang="en-US" sz="1100" dirty="0"/>
          </a:p>
        </p:txBody>
      </p:sp>
      <p:sp>
        <p:nvSpPr>
          <p:cNvPr id="18" name="Shape 16"/>
          <p:cNvSpPr/>
          <p:nvPr/>
        </p:nvSpPr>
        <p:spPr>
          <a:xfrm>
            <a:off x="1787652" y="4183380"/>
            <a:ext cx="128016" cy="128016"/>
          </a:xfrm>
          <a:prstGeom prst="downArrow">
            <a:avLst/>
          </a:prstGeom>
          <a:solidFill>
            <a:srgbClr val="38BDF8"/>
          </a:solidFill>
          <a:ln/>
        </p:spPr>
      </p:sp>
      <p:sp>
        <p:nvSpPr>
          <p:cNvPr id="19" name="Shape 17"/>
          <p:cNvSpPr/>
          <p:nvPr/>
        </p:nvSpPr>
        <p:spPr>
          <a:xfrm>
            <a:off x="640080" y="4293108"/>
            <a:ext cx="2423160" cy="420624"/>
          </a:xfrm>
          <a:prstGeom prst="roundRect">
            <a:avLst>
              <a:gd name="adj" fmla="val 17391"/>
            </a:avLst>
          </a:prstGeom>
          <a:solidFill>
            <a:srgbClr val="13294B"/>
          </a:solidFill>
          <a:ln/>
        </p:spPr>
      </p:sp>
      <p:sp>
        <p:nvSpPr>
          <p:cNvPr id="20" name="Text 18"/>
          <p:cNvSpPr/>
          <p:nvPr/>
        </p:nvSpPr>
        <p:spPr>
          <a:xfrm>
            <a:off x="640080" y="4293108"/>
            <a:ext cx="2423160"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Run Deadlock Detection</a:t>
            </a:r>
            <a:endParaRPr lang="en-US" sz="1100" dirty="0"/>
          </a:p>
        </p:txBody>
      </p:sp>
      <p:sp>
        <p:nvSpPr>
          <p:cNvPr id="21" name="Shape 19"/>
          <p:cNvSpPr/>
          <p:nvPr/>
        </p:nvSpPr>
        <p:spPr>
          <a:xfrm>
            <a:off x="457200" y="4910328"/>
            <a:ext cx="2788920" cy="731520"/>
          </a:xfrm>
          <a:prstGeom prst="diamond">
            <a:avLst/>
          </a:prstGeom>
          <a:solidFill>
            <a:srgbClr val="1B3A63"/>
          </a:solidFill>
          <a:ln w="15875">
            <a:solidFill>
              <a:srgbClr val="38BDF8"/>
            </a:solidFill>
            <a:prstDash val="solid"/>
          </a:ln>
        </p:spPr>
      </p:sp>
      <p:sp>
        <p:nvSpPr>
          <p:cNvPr id="22" name="Text 20"/>
          <p:cNvSpPr/>
          <p:nvPr/>
        </p:nvSpPr>
        <p:spPr>
          <a:xfrm>
            <a:off x="457200" y="4910328"/>
            <a:ext cx="2788920" cy="7315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Deadlock</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Detected?</a:t>
            </a:r>
            <a:endParaRPr lang="en-US" sz="1100" dirty="0"/>
          </a:p>
        </p:txBody>
      </p:sp>
      <p:sp>
        <p:nvSpPr>
          <p:cNvPr id="23" name="Shape 21"/>
          <p:cNvSpPr/>
          <p:nvPr/>
        </p:nvSpPr>
        <p:spPr>
          <a:xfrm>
            <a:off x="1851660" y="5641848"/>
            <a:ext cx="0" cy="201168"/>
          </a:xfrm>
          <a:prstGeom prst="line">
            <a:avLst/>
          </a:prstGeom>
          <a:noFill/>
          <a:ln w="19050">
            <a:solidFill>
              <a:srgbClr val="8FA3C7"/>
            </a:solidFill>
            <a:prstDash val="solid"/>
          </a:ln>
        </p:spPr>
      </p:sp>
      <p:sp>
        <p:nvSpPr>
          <p:cNvPr id="24" name="Text 22"/>
          <p:cNvSpPr/>
          <p:nvPr/>
        </p:nvSpPr>
        <p:spPr>
          <a:xfrm>
            <a:off x="1348740" y="5623560"/>
            <a:ext cx="457200" cy="219456"/>
          </a:xfrm>
          <a:prstGeom prst="rect">
            <a:avLst/>
          </a:prstGeom>
          <a:noFill/>
          <a:ln/>
        </p:spPr>
        <p:txBody>
          <a:bodyPr wrap="square" lIns="0" tIns="0" rIns="0" bIns="0" rtlCol="0" anchor="ctr"/>
          <a:lstStyle/>
          <a:p>
            <a:pPr marL="0" indent="0" algn="r">
              <a:buNone/>
            </a:pPr>
            <a:r>
              <a:rPr lang="en-US" sz="1000" b="1" dirty="0">
                <a:solidFill>
                  <a:srgbClr val="4ADE80"/>
                </a:solidFill>
                <a:latin typeface="Calibri" pitchFamily="34" charset="0"/>
                <a:ea typeface="Calibri" pitchFamily="34" charset="-122"/>
                <a:cs typeface="Calibri" pitchFamily="34" charset="-120"/>
              </a:rPr>
              <a:t>No</a:t>
            </a:r>
            <a:endParaRPr lang="en-US" sz="1000" dirty="0"/>
          </a:p>
        </p:txBody>
      </p:sp>
      <p:sp>
        <p:nvSpPr>
          <p:cNvPr id="25" name="Shape 23"/>
          <p:cNvSpPr/>
          <p:nvPr/>
        </p:nvSpPr>
        <p:spPr>
          <a:xfrm>
            <a:off x="640080" y="5843016"/>
            <a:ext cx="2423160" cy="420624"/>
          </a:xfrm>
          <a:prstGeom prst="roundRect">
            <a:avLst>
              <a:gd name="adj" fmla="val 17391"/>
            </a:avLst>
          </a:prstGeom>
          <a:solidFill>
            <a:srgbClr val="13294B"/>
          </a:solidFill>
          <a:ln/>
        </p:spPr>
      </p:sp>
      <p:sp>
        <p:nvSpPr>
          <p:cNvPr id="26" name="Text 24"/>
          <p:cNvSpPr/>
          <p:nvPr/>
        </p:nvSpPr>
        <p:spPr>
          <a:xfrm>
            <a:off x="640080" y="5843016"/>
            <a:ext cx="2423160" cy="420624"/>
          </a:xfrm>
          <a:prstGeom prst="rect">
            <a:avLst/>
          </a:prstGeom>
          <a:noFill/>
          <a:ln/>
        </p:spPr>
        <p:txBody>
          <a:bodyPr wrap="square" lIns="0" tIns="0" rIns="0" bIns="0" rtlCol="0" anchor="ctr"/>
          <a:lstStyle/>
          <a:p>
            <a:pPr marL="0" indent="0" algn="ctr">
              <a:buNone/>
            </a:pPr>
            <a:r>
              <a:rPr lang="en-US" sz="1100" b="1" dirty="0">
                <a:solidFill>
                  <a:srgbClr val="4ADE80"/>
                </a:solidFill>
                <a:latin typeface="Calibri" pitchFamily="34" charset="0"/>
                <a:ea typeface="Calibri" pitchFamily="34" charset="-122"/>
                <a:cs typeface="Calibri" pitchFamily="34" charset="-120"/>
              </a:rPr>
              <a:t>Continue Execution</a:t>
            </a:r>
            <a:endParaRPr lang="en-US" sz="1100" dirty="0"/>
          </a:p>
        </p:txBody>
      </p:sp>
      <p:sp>
        <p:nvSpPr>
          <p:cNvPr id="27" name="Shape 25"/>
          <p:cNvSpPr/>
          <p:nvPr/>
        </p:nvSpPr>
        <p:spPr>
          <a:xfrm>
            <a:off x="3246120" y="5276088"/>
            <a:ext cx="393192" cy="0"/>
          </a:xfrm>
          <a:prstGeom prst="line">
            <a:avLst/>
          </a:prstGeom>
          <a:noFill/>
          <a:ln w="19050">
            <a:solidFill>
              <a:srgbClr val="38BDF8"/>
            </a:solidFill>
            <a:prstDash val="solid"/>
          </a:ln>
        </p:spPr>
      </p:sp>
      <p:sp>
        <p:nvSpPr>
          <p:cNvPr id="28" name="Shape 26"/>
          <p:cNvSpPr/>
          <p:nvPr/>
        </p:nvSpPr>
        <p:spPr>
          <a:xfrm>
            <a:off x="3621024" y="5202936"/>
            <a:ext cx="219456" cy="146304"/>
          </a:xfrm>
          <a:prstGeom prst="rightArrow">
            <a:avLst/>
          </a:prstGeom>
          <a:solidFill>
            <a:srgbClr val="38BDF8"/>
          </a:solidFill>
          <a:ln/>
        </p:spPr>
      </p:sp>
      <p:sp>
        <p:nvSpPr>
          <p:cNvPr id="29" name="Text 27"/>
          <p:cNvSpPr/>
          <p:nvPr/>
        </p:nvSpPr>
        <p:spPr>
          <a:xfrm>
            <a:off x="3246120" y="4965192"/>
            <a:ext cx="594360" cy="201168"/>
          </a:xfrm>
          <a:prstGeom prst="rect">
            <a:avLst/>
          </a:prstGeom>
          <a:noFill/>
          <a:ln/>
        </p:spPr>
        <p:txBody>
          <a:bodyPr wrap="square" lIns="0" tIns="0" rIns="0" bIns="0" rtlCol="0" anchor="ctr"/>
          <a:lstStyle/>
          <a:p>
            <a:pPr marL="0" indent="0" algn="ctr">
              <a:buNone/>
            </a:pPr>
            <a:r>
              <a:rPr lang="en-US" sz="1000" b="1" dirty="0">
                <a:solidFill>
                  <a:srgbClr val="F87171"/>
                </a:solidFill>
                <a:latin typeface="Calibri" pitchFamily="34" charset="0"/>
                <a:ea typeface="Calibri" pitchFamily="34" charset="-122"/>
                <a:cs typeface="Calibri" pitchFamily="34" charset="-120"/>
              </a:rPr>
              <a:t>Yes</a:t>
            </a:r>
            <a:endParaRPr lang="en-US" sz="1000" dirty="0"/>
          </a:p>
        </p:txBody>
      </p:sp>
      <p:sp>
        <p:nvSpPr>
          <p:cNvPr id="30" name="Shape 28"/>
          <p:cNvSpPr/>
          <p:nvPr/>
        </p:nvSpPr>
        <p:spPr>
          <a:xfrm>
            <a:off x="3840480" y="4503420"/>
            <a:ext cx="3017520" cy="420624"/>
          </a:xfrm>
          <a:prstGeom prst="roundRect">
            <a:avLst>
              <a:gd name="adj" fmla="val 17391"/>
            </a:avLst>
          </a:prstGeom>
          <a:solidFill>
            <a:srgbClr val="13294B"/>
          </a:solidFill>
          <a:ln/>
        </p:spPr>
      </p:sp>
      <p:sp>
        <p:nvSpPr>
          <p:cNvPr id="31" name="Text 29"/>
          <p:cNvSpPr/>
          <p:nvPr/>
        </p:nvSpPr>
        <p:spPr>
          <a:xfrm>
            <a:off x="3840480" y="4503420"/>
            <a:ext cx="3017520" cy="42062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Identify Involved Processes</a:t>
            </a:r>
            <a:endParaRPr lang="en-US" sz="1100" dirty="0"/>
          </a:p>
        </p:txBody>
      </p:sp>
      <p:sp>
        <p:nvSpPr>
          <p:cNvPr id="32" name="Shape 30"/>
          <p:cNvSpPr/>
          <p:nvPr/>
        </p:nvSpPr>
        <p:spPr>
          <a:xfrm>
            <a:off x="5285232" y="4956048"/>
            <a:ext cx="128016" cy="128016"/>
          </a:xfrm>
          <a:prstGeom prst="downArrow">
            <a:avLst/>
          </a:prstGeom>
          <a:solidFill>
            <a:srgbClr val="38BDF8"/>
          </a:solidFill>
          <a:ln/>
        </p:spPr>
      </p:sp>
      <p:sp>
        <p:nvSpPr>
          <p:cNvPr id="33" name="Shape 31"/>
          <p:cNvSpPr/>
          <p:nvPr/>
        </p:nvSpPr>
        <p:spPr>
          <a:xfrm>
            <a:off x="3840480" y="5065776"/>
            <a:ext cx="3017520" cy="420624"/>
          </a:xfrm>
          <a:prstGeom prst="roundRect">
            <a:avLst>
              <a:gd name="adj" fmla="val 17391"/>
            </a:avLst>
          </a:prstGeom>
          <a:solidFill>
            <a:srgbClr val="13294B"/>
          </a:solidFill>
          <a:ln/>
        </p:spPr>
      </p:sp>
      <p:sp>
        <p:nvSpPr>
          <p:cNvPr id="34" name="Text 32"/>
          <p:cNvSpPr/>
          <p:nvPr/>
        </p:nvSpPr>
        <p:spPr>
          <a:xfrm>
            <a:off x="3840480" y="5065776"/>
            <a:ext cx="3017520" cy="42062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Trigger Recovery</a:t>
            </a:r>
            <a:endParaRPr lang="en-US" sz="1100" dirty="0"/>
          </a:p>
        </p:txBody>
      </p:sp>
      <p:sp>
        <p:nvSpPr>
          <p:cNvPr id="35" name="Shape 33"/>
          <p:cNvSpPr/>
          <p:nvPr/>
        </p:nvSpPr>
        <p:spPr>
          <a:xfrm>
            <a:off x="5285232" y="5518404"/>
            <a:ext cx="128016" cy="128016"/>
          </a:xfrm>
          <a:prstGeom prst="downArrow">
            <a:avLst/>
          </a:prstGeom>
          <a:solidFill>
            <a:srgbClr val="38BDF8"/>
          </a:solidFill>
          <a:ln/>
        </p:spPr>
      </p:sp>
      <p:sp>
        <p:nvSpPr>
          <p:cNvPr id="36" name="Shape 34"/>
          <p:cNvSpPr/>
          <p:nvPr/>
        </p:nvSpPr>
        <p:spPr>
          <a:xfrm>
            <a:off x="3840480" y="5628132"/>
            <a:ext cx="3017520" cy="420624"/>
          </a:xfrm>
          <a:prstGeom prst="roundRect">
            <a:avLst>
              <a:gd name="adj" fmla="val 17391"/>
            </a:avLst>
          </a:prstGeom>
          <a:solidFill>
            <a:srgbClr val="1B3A63"/>
          </a:solidFill>
          <a:ln/>
        </p:spPr>
      </p:sp>
      <p:sp>
        <p:nvSpPr>
          <p:cNvPr id="37" name="Text 35"/>
          <p:cNvSpPr/>
          <p:nvPr/>
        </p:nvSpPr>
        <p:spPr>
          <a:xfrm>
            <a:off x="3840480" y="5628132"/>
            <a:ext cx="3017520"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Updated Resource State</a:t>
            </a:r>
            <a:endParaRPr lang="en-US" sz="1100" dirty="0"/>
          </a:p>
        </p:txBody>
      </p:sp>
      <p:sp>
        <p:nvSpPr>
          <p:cNvPr id="38" name="Shape 36"/>
          <p:cNvSpPr/>
          <p:nvPr/>
        </p:nvSpPr>
        <p:spPr>
          <a:xfrm>
            <a:off x="8275320" y="1481328"/>
            <a:ext cx="3337560" cy="3108960"/>
          </a:xfrm>
          <a:prstGeom prst="roundRect">
            <a:avLst>
              <a:gd name="adj" fmla="val 2353"/>
            </a:avLst>
          </a:prstGeom>
          <a:solidFill>
            <a:srgbClr val="1B3A63"/>
          </a:solidFill>
          <a:ln/>
          <a:effectLst>
            <a:outerShdw blurRad="101600" dist="38100" dir="5400000" algn="bl" rotWithShape="0">
              <a:srgbClr val="000000">
                <a:alpha val="35000"/>
              </a:srgbClr>
            </a:outerShdw>
          </a:effectLst>
        </p:spPr>
      </p:sp>
      <p:sp>
        <p:nvSpPr>
          <p:cNvPr id="39" name="Shape 37"/>
          <p:cNvSpPr/>
          <p:nvPr/>
        </p:nvSpPr>
        <p:spPr>
          <a:xfrm>
            <a:off x="8526780" y="1760220"/>
            <a:ext cx="502920" cy="502920"/>
          </a:xfrm>
          <a:prstGeom prst="ellipse">
            <a:avLst/>
          </a:prstGeom>
          <a:solidFill>
            <a:srgbClr val="13294B"/>
          </a:solidFill>
          <a:ln/>
        </p:spPr>
      </p:sp>
      <p:pic>
        <p:nvPicPr>
          <p:cNvPr id="40" name="Image 0" descr="icons/play_cyan.png"/>
          <p:cNvPicPr>
            <a:picLocks noChangeAspect="1"/>
          </p:cNvPicPr>
          <p:nvPr/>
        </p:nvPicPr>
        <p:blipFill>
          <a:blip r:embed="rId3"/>
          <a:stretch>
            <a:fillRect/>
          </a:stretch>
        </p:blipFill>
        <p:spPr>
          <a:xfrm>
            <a:off x="8654796" y="1888236"/>
            <a:ext cx="246888" cy="246888"/>
          </a:xfrm>
          <a:prstGeom prst="rect">
            <a:avLst/>
          </a:prstGeom>
        </p:spPr>
      </p:pic>
      <p:sp>
        <p:nvSpPr>
          <p:cNvPr id="41" name="Text 38"/>
          <p:cNvSpPr/>
          <p:nvPr/>
        </p:nvSpPr>
        <p:spPr>
          <a:xfrm>
            <a:off x="8595360" y="2377440"/>
            <a:ext cx="2697480" cy="32004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Simulation Loop</a:t>
            </a:r>
            <a:endParaRPr lang="en-US" sz="1400" dirty="0"/>
          </a:p>
        </p:txBody>
      </p:sp>
      <p:sp>
        <p:nvSpPr>
          <p:cNvPr id="42" name="Text 39"/>
          <p:cNvSpPr/>
          <p:nvPr/>
        </p:nvSpPr>
        <p:spPr>
          <a:xfrm>
            <a:off x="8595360" y="2743200"/>
            <a:ext cx="2697480" cy="1737360"/>
          </a:xfrm>
          <a:prstGeom prst="rect">
            <a:avLst/>
          </a:prstGeom>
          <a:noFill/>
          <a:ln/>
        </p:spPr>
        <p:txBody>
          <a:bodyPr wrap="square" lIns="0" tIns="0" rIns="0" bIns="0" rtlCol="0" anchor="ctr"/>
          <a:lstStyle/>
          <a:p>
            <a:pPr marL="0" indent="0">
              <a:lnSpc>
                <a:spcPct val="120000"/>
              </a:lnSpc>
              <a:buNone/>
            </a:pPr>
            <a:r>
              <a:rPr lang="en-US" sz="1150" dirty="0">
                <a:solidFill>
                  <a:srgbClr val="B9D4FF"/>
                </a:solidFill>
                <a:latin typeface="Calibri" pitchFamily="34" charset="0"/>
                <a:ea typeface="Calibri" pitchFamily="34" charset="-122"/>
                <a:cs typeface="Calibri" pitchFamily="34" charset="-120"/>
              </a:rPr>
              <a:t>The cycle repeats continuously: after recovery, the system rechecks the updated resource state, so new requests are always evaluated against the latest allocation graph.</a:t>
            </a:r>
            <a:endParaRPr lang="en-US" sz="1150" dirty="0"/>
          </a:p>
        </p:txBody>
      </p:sp>
      <p:sp>
        <p:nvSpPr>
          <p:cNvPr id="43" name="Text 40"/>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8FA3C7"/>
                </a:solidFill>
                <a:latin typeface="Calibri" pitchFamily="34" charset="0"/>
                <a:ea typeface="Calibri" pitchFamily="34" charset="-122"/>
                <a:cs typeface="Calibri" pitchFamily="34" charset="-120"/>
              </a:rPr>
              <a:t>Linux Deadlock Detection and Resource Management System</a:t>
            </a:r>
            <a:endParaRPr lang="en-US" sz="900" dirty="0"/>
          </a:p>
        </p:txBody>
      </p:sp>
      <p:sp>
        <p:nvSpPr>
          <p:cNvPr id="44" name="Text 41"/>
          <p:cNvSpPr/>
          <p:nvPr/>
        </p:nvSpPr>
        <p:spPr>
          <a:xfrm>
            <a:off x="11457432" y="6510528"/>
            <a:ext cx="365760" cy="274320"/>
          </a:xfrm>
          <a:prstGeom prst="rect">
            <a:avLst/>
          </a:prstGeom>
          <a:noFill/>
          <a:ln/>
        </p:spPr>
        <p:txBody>
          <a:bodyPr wrap="square" lIns="0" tIns="0" rIns="0" bIns="0" rtlCol="0" anchor="ctr"/>
          <a:lstStyle/>
          <a:p>
            <a:pPr marL="0" indent="0" algn="r">
              <a:buNone/>
            </a:pPr>
            <a:r>
              <a:rPr lang="en-US" sz="900" dirty="0">
                <a:solidFill>
                  <a:srgbClr val="8FA3C7"/>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128"/>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marL="0" indent="0">
              <a:buNone/>
            </a:pPr>
            <a:r>
              <a:rPr lang="en-US" sz="1200" b="1" kern="0" spc="200" dirty="0">
                <a:solidFill>
                  <a:srgbClr val="38BDF8"/>
                </a:solidFill>
                <a:latin typeface="Calibri" pitchFamily="34" charset="0"/>
                <a:ea typeface="Calibri" pitchFamily="34" charset="-122"/>
                <a:cs typeface="Calibri" pitchFamily="34" charset="-120"/>
              </a:rPr>
              <a:t>CORE ALGORITHM</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Deadlock Detection Algorithm</a:t>
            </a:r>
            <a:endParaRPr lang="en-US" sz="3000" dirty="0"/>
          </a:p>
        </p:txBody>
      </p:sp>
      <p:sp>
        <p:nvSpPr>
          <p:cNvPr id="4" name="Shape 2"/>
          <p:cNvSpPr/>
          <p:nvPr/>
        </p:nvSpPr>
        <p:spPr>
          <a:xfrm>
            <a:off x="548640" y="1554480"/>
            <a:ext cx="6309360" cy="4663440"/>
          </a:xfrm>
          <a:prstGeom prst="roundRect">
            <a:avLst>
              <a:gd name="adj" fmla="val 1569"/>
            </a:avLst>
          </a:prstGeom>
          <a:solidFill>
            <a:srgbClr val="13294B"/>
          </a:solidFill>
          <a:ln/>
          <a:effectLst>
            <a:outerShdw blurRad="101600" dist="38100" dir="5400000" algn="bl" rotWithShape="0">
              <a:srgbClr val="000000">
                <a:alpha val="35000"/>
              </a:srgbClr>
            </a:outerShdw>
          </a:effectLst>
        </p:spPr>
      </p:sp>
      <p:sp>
        <p:nvSpPr>
          <p:cNvPr id="5" name="Text 3"/>
          <p:cNvSpPr/>
          <p:nvPr/>
        </p:nvSpPr>
        <p:spPr>
          <a:xfrm>
            <a:off x="868680" y="1737360"/>
            <a:ext cx="5669280" cy="274320"/>
          </a:xfrm>
          <a:prstGeom prst="rect">
            <a:avLst/>
          </a:prstGeom>
          <a:noFill/>
          <a:ln/>
        </p:spPr>
        <p:txBody>
          <a:bodyPr wrap="square" lIns="0" tIns="0" rIns="0" bIns="0" rtlCol="0" anchor="ctr"/>
          <a:lstStyle/>
          <a:p>
            <a:pPr marL="0" indent="0">
              <a:buNone/>
            </a:pPr>
            <a:r>
              <a:rPr lang="en-US" sz="1100" b="1" kern="0" spc="150" dirty="0">
                <a:solidFill>
                  <a:srgbClr val="38BDF8"/>
                </a:solidFill>
                <a:latin typeface="Calibri" pitchFamily="34" charset="0"/>
                <a:ea typeface="Calibri" pitchFamily="34" charset="-122"/>
                <a:cs typeface="Calibri" pitchFamily="34" charset="-120"/>
              </a:rPr>
              <a:t>ALGORITHM STEPS</a:t>
            </a:r>
            <a:endParaRPr lang="en-US" sz="1100" dirty="0"/>
          </a:p>
        </p:txBody>
      </p:sp>
      <p:sp>
        <p:nvSpPr>
          <p:cNvPr id="6" name="Shape 4"/>
          <p:cNvSpPr/>
          <p:nvPr/>
        </p:nvSpPr>
        <p:spPr>
          <a:xfrm>
            <a:off x="868680" y="2148840"/>
            <a:ext cx="274320" cy="274320"/>
          </a:xfrm>
          <a:prstGeom prst="ellipse">
            <a:avLst/>
          </a:prstGeom>
          <a:solidFill>
            <a:srgbClr val="1B3A63"/>
          </a:solidFill>
          <a:ln w="12700">
            <a:solidFill>
              <a:srgbClr val="38BDF8"/>
            </a:solidFill>
            <a:prstDash val="solid"/>
          </a:ln>
        </p:spPr>
      </p:sp>
      <p:sp>
        <p:nvSpPr>
          <p:cNvPr id="7" name="Text 5"/>
          <p:cNvSpPr/>
          <p:nvPr/>
        </p:nvSpPr>
        <p:spPr>
          <a:xfrm>
            <a:off x="868680" y="2148840"/>
            <a:ext cx="274320" cy="274320"/>
          </a:xfrm>
          <a:prstGeom prst="rect">
            <a:avLst/>
          </a:prstGeom>
          <a:noFill/>
          <a:ln/>
        </p:spPr>
        <p:txBody>
          <a:bodyPr wrap="square" lIns="0" tIns="0" rIns="0" bIns="0" rtlCol="0" anchor="ctr"/>
          <a:lstStyle/>
          <a:p>
            <a:pPr marL="0" indent="0" algn="ctr">
              <a:buNone/>
            </a:pPr>
            <a:r>
              <a:rPr lang="en-US" sz="1100" b="1" dirty="0">
                <a:solidFill>
                  <a:srgbClr val="38BDF8"/>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1280160" y="2075688"/>
            <a:ext cx="5212080" cy="685800"/>
          </a:xfrm>
          <a:prstGeom prst="rect">
            <a:avLst/>
          </a:prstGeom>
          <a:noFill/>
          <a:ln/>
        </p:spPr>
        <p:txBody>
          <a:bodyPr wrap="square" lIns="0" tIns="0" rIns="0" bIns="0" rtlCol="0" anchor="t"/>
          <a:lstStyle/>
          <a:p>
            <a:pPr marL="0" indent="0">
              <a:lnSpc>
                <a:spcPct val="112000"/>
              </a:lnSpc>
              <a:buNone/>
            </a:pPr>
            <a:r>
              <a:rPr lang="en-US" sz="1150" dirty="0">
                <a:solidFill>
                  <a:srgbClr val="B9D4FF"/>
                </a:solidFill>
                <a:latin typeface="Calibri" pitchFamily="34" charset="0"/>
                <a:ea typeface="Calibri" pitchFamily="34" charset="-122"/>
                <a:cs typeface="Calibri" pitchFamily="34" charset="-120"/>
              </a:rPr>
              <a:t>Track three states: Available, Allocated, and Requested resources.</a:t>
            </a:r>
            <a:endParaRPr lang="en-US" sz="1150" dirty="0"/>
          </a:p>
        </p:txBody>
      </p:sp>
      <p:sp>
        <p:nvSpPr>
          <p:cNvPr id="9" name="Shape 7"/>
          <p:cNvSpPr/>
          <p:nvPr/>
        </p:nvSpPr>
        <p:spPr>
          <a:xfrm>
            <a:off x="868680" y="2907792"/>
            <a:ext cx="274320" cy="274320"/>
          </a:xfrm>
          <a:prstGeom prst="ellipse">
            <a:avLst/>
          </a:prstGeom>
          <a:solidFill>
            <a:srgbClr val="1B3A63"/>
          </a:solidFill>
          <a:ln w="12700">
            <a:solidFill>
              <a:srgbClr val="38BDF8"/>
            </a:solidFill>
            <a:prstDash val="solid"/>
          </a:ln>
        </p:spPr>
      </p:sp>
      <p:sp>
        <p:nvSpPr>
          <p:cNvPr id="10" name="Text 8"/>
          <p:cNvSpPr/>
          <p:nvPr/>
        </p:nvSpPr>
        <p:spPr>
          <a:xfrm>
            <a:off x="868680" y="2907792"/>
            <a:ext cx="274320" cy="274320"/>
          </a:xfrm>
          <a:prstGeom prst="rect">
            <a:avLst/>
          </a:prstGeom>
          <a:noFill/>
          <a:ln/>
        </p:spPr>
        <p:txBody>
          <a:bodyPr wrap="square" lIns="0" tIns="0" rIns="0" bIns="0" rtlCol="0" anchor="ctr"/>
          <a:lstStyle/>
          <a:p>
            <a:pPr marL="0" indent="0" algn="ctr">
              <a:buNone/>
            </a:pPr>
            <a:r>
              <a:rPr lang="en-US" sz="1100" b="1" dirty="0">
                <a:solidFill>
                  <a:srgbClr val="38BDF8"/>
                </a:solidFill>
                <a:latin typeface="Calibri" pitchFamily="34" charset="0"/>
                <a:ea typeface="Calibri" pitchFamily="34" charset="-122"/>
                <a:cs typeface="Calibri" pitchFamily="34" charset="-120"/>
              </a:rPr>
              <a:t>2</a:t>
            </a:r>
            <a:endParaRPr lang="en-US" sz="1100" dirty="0"/>
          </a:p>
        </p:txBody>
      </p:sp>
      <p:sp>
        <p:nvSpPr>
          <p:cNvPr id="11" name="Text 9"/>
          <p:cNvSpPr/>
          <p:nvPr/>
        </p:nvSpPr>
        <p:spPr>
          <a:xfrm>
            <a:off x="1280160" y="2834640"/>
            <a:ext cx="5212080" cy="685800"/>
          </a:xfrm>
          <a:prstGeom prst="rect">
            <a:avLst/>
          </a:prstGeom>
          <a:noFill/>
          <a:ln/>
        </p:spPr>
        <p:txBody>
          <a:bodyPr wrap="square" lIns="0" tIns="0" rIns="0" bIns="0" rtlCol="0" anchor="t"/>
          <a:lstStyle/>
          <a:p>
            <a:pPr marL="0" indent="0">
              <a:lnSpc>
                <a:spcPct val="112000"/>
              </a:lnSpc>
              <a:buNone/>
            </a:pPr>
            <a:r>
              <a:rPr lang="en-US" sz="1150" dirty="0">
                <a:solidFill>
                  <a:srgbClr val="B9D4FF"/>
                </a:solidFill>
                <a:latin typeface="Calibri" pitchFamily="34" charset="0"/>
                <a:ea typeface="Calibri" pitchFamily="34" charset="-122"/>
                <a:cs typeface="Calibri" pitchFamily="34" charset="-120"/>
              </a:rPr>
              <a:t>For each process, check whether its request can be satisfied by currently available resources.</a:t>
            </a:r>
            <a:endParaRPr lang="en-US" sz="1150" dirty="0"/>
          </a:p>
        </p:txBody>
      </p:sp>
      <p:sp>
        <p:nvSpPr>
          <p:cNvPr id="12" name="Shape 10"/>
          <p:cNvSpPr/>
          <p:nvPr/>
        </p:nvSpPr>
        <p:spPr>
          <a:xfrm>
            <a:off x="868680" y="3666744"/>
            <a:ext cx="274320" cy="274320"/>
          </a:xfrm>
          <a:prstGeom prst="ellipse">
            <a:avLst/>
          </a:prstGeom>
          <a:solidFill>
            <a:srgbClr val="1B3A63"/>
          </a:solidFill>
          <a:ln w="12700">
            <a:solidFill>
              <a:srgbClr val="38BDF8"/>
            </a:solidFill>
            <a:prstDash val="solid"/>
          </a:ln>
        </p:spPr>
      </p:sp>
      <p:sp>
        <p:nvSpPr>
          <p:cNvPr id="13" name="Text 11"/>
          <p:cNvSpPr/>
          <p:nvPr/>
        </p:nvSpPr>
        <p:spPr>
          <a:xfrm>
            <a:off x="868680" y="3666744"/>
            <a:ext cx="274320" cy="274320"/>
          </a:xfrm>
          <a:prstGeom prst="rect">
            <a:avLst/>
          </a:prstGeom>
          <a:noFill/>
          <a:ln/>
        </p:spPr>
        <p:txBody>
          <a:bodyPr wrap="square" lIns="0" tIns="0" rIns="0" bIns="0" rtlCol="0" anchor="ctr"/>
          <a:lstStyle/>
          <a:p>
            <a:pPr marL="0" indent="0" algn="ctr">
              <a:buNone/>
            </a:pPr>
            <a:r>
              <a:rPr lang="en-US" sz="1100" b="1" dirty="0">
                <a:solidFill>
                  <a:srgbClr val="38BDF8"/>
                </a:solidFill>
                <a:latin typeface="Calibri" pitchFamily="34" charset="0"/>
                <a:ea typeface="Calibri" pitchFamily="34" charset="-122"/>
                <a:cs typeface="Calibri" pitchFamily="34" charset="-120"/>
              </a:rPr>
              <a:t>3</a:t>
            </a:r>
            <a:endParaRPr lang="en-US" sz="1100" dirty="0"/>
          </a:p>
        </p:txBody>
      </p:sp>
      <p:sp>
        <p:nvSpPr>
          <p:cNvPr id="14" name="Text 12"/>
          <p:cNvSpPr/>
          <p:nvPr/>
        </p:nvSpPr>
        <p:spPr>
          <a:xfrm>
            <a:off x="1280160" y="3593592"/>
            <a:ext cx="5212080" cy="685800"/>
          </a:xfrm>
          <a:prstGeom prst="rect">
            <a:avLst/>
          </a:prstGeom>
          <a:noFill/>
          <a:ln/>
        </p:spPr>
        <p:txBody>
          <a:bodyPr wrap="square" lIns="0" tIns="0" rIns="0" bIns="0" rtlCol="0" anchor="t"/>
          <a:lstStyle/>
          <a:p>
            <a:pPr marL="0" indent="0">
              <a:lnSpc>
                <a:spcPct val="112000"/>
              </a:lnSpc>
              <a:buNone/>
            </a:pPr>
            <a:r>
              <a:rPr lang="en-US" sz="1150" dirty="0">
                <a:solidFill>
                  <a:srgbClr val="B9D4FF"/>
                </a:solidFill>
                <a:latin typeface="Calibri" pitchFamily="34" charset="0"/>
                <a:ea typeface="Calibri" pitchFamily="34" charset="-122"/>
                <a:cs typeface="Calibri" pitchFamily="34" charset="-120"/>
              </a:rPr>
              <a:t>If a process can complete, assume it finishes and release its allocated resources back to Available.</a:t>
            </a:r>
            <a:endParaRPr lang="en-US" sz="1150" dirty="0"/>
          </a:p>
        </p:txBody>
      </p:sp>
      <p:sp>
        <p:nvSpPr>
          <p:cNvPr id="15" name="Shape 13"/>
          <p:cNvSpPr/>
          <p:nvPr/>
        </p:nvSpPr>
        <p:spPr>
          <a:xfrm>
            <a:off x="868680" y="4425696"/>
            <a:ext cx="274320" cy="274320"/>
          </a:xfrm>
          <a:prstGeom prst="ellipse">
            <a:avLst/>
          </a:prstGeom>
          <a:solidFill>
            <a:srgbClr val="1B3A63"/>
          </a:solidFill>
          <a:ln w="12700">
            <a:solidFill>
              <a:srgbClr val="38BDF8"/>
            </a:solidFill>
            <a:prstDash val="solid"/>
          </a:ln>
        </p:spPr>
      </p:sp>
      <p:sp>
        <p:nvSpPr>
          <p:cNvPr id="16" name="Text 14"/>
          <p:cNvSpPr/>
          <p:nvPr/>
        </p:nvSpPr>
        <p:spPr>
          <a:xfrm>
            <a:off x="868680" y="4425696"/>
            <a:ext cx="274320" cy="274320"/>
          </a:xfrm>
          <a:prstGeom prst="rect">
            <a:avLst/>
          </a:prstGeom>
          <a:noFill/>
          <a:ln/>
        </p:spPr>
        <p:txBody>
          <a:bodyPr wrap="square" lIns="0" tIns="0" rIns="0" bIns="0" rtlCol="0" anchor="ctr"/>
          <a:lstStyle/>
          <a:p>
            <a:pPr marL="0" indent="0" algn="ctr">
              <a:buNone/>
            </a:pPr>
            <a:r>
              <a:rPr lang="en-US" sz="1100" b="1" dirty="0">
                <a:solidFill>
                  <a:srgbClr val="38BDF8"/>
                </a:solidFill>
                <a:latin typeface="Calibri" pitchFamily="34" charset="0"/>
                <a:ea typeface="Calibri" pitchFamily="34" charset="-122"/>
                <a:cs typeface="Calibri" pitchFamily="34" charset="-120"/>
              </a:rPr>
              <a:t>4</a:t>
            </a:r>
            <a:endParaRPr lang="en-US" sz="1100" dirty="0"/>
          </a:p>
        </p:txBody>
      </p:sp>
      <p:sp>
        <p:nvSpPr>
          <p:cNvPr id="17" name="Text 15"/>
          <p:cNvSpPr/>
          <p:nvPr/>
        </p:nvSpPr>
        <p:spPr>
          <a:xfrm>
            <a:off x="1280160" y="4352544"/>
            <a:ext cx="5212080" cy="685800"/>
          </a:xfrm>
          <a:prstGeom prst="rect">
            <a:avLst/>
          </a:prstGeom>
          <a:noFill/>
          <a:ln/>
        </p:spPr>
        <p:txBody>
          <a:bodyPr wrap="square" lIns="0" tIns="0" rIns="0" bIns="0" rtlCol="0" anchor="t"/>
          <a:lstStyle/>
          <a:p>
            <a:pPr marL="0" indent="0">
              <a:lnSpc>
                <a:spcPct val="112000"/>
              </a:lnSpc>
              <a:buNone/>
            </a:pPr>
            <a:r>
              <a:rPr lang="en-US" sz="1150" dirty="0">
                <a:solidFill>
                  <a:srgbClr val="B9D4FF"/>
                </a:solidFill>
                <a:latin typeface="Calibri" pitchFamily="34" charset="0"/>
                <a:ea typeface="Calibri" pitchFamily="34" charset="-122"/>
                <a:cs typeface="Calibri" pitchFamily="34" charset="-120"/>
              </a:rPr>
              <a:t>Repeat this check for the remaining processes with the updated Available pool.</a:t>
            </a:r>
            <a:endParaRPr lang="en-US" sz="1150" dirty="0"/>
          </a:p>
        </p:txBody>
      </p:sp>
      <p:sp>
        <p:nvSpPr>
          <p:cNvPr id="18" name="Shape 16"/>
          <p:cNvSpPr/>
          <p:nvPr/>
        </p:nvSpPr>
        <p:spPr>
          <a:xfrm>
            <a:off x="868680" y="5184648"/>
            <a:ext cx="274320" cy="274320"/>
          </a:xfrm>
          <a:prstGeom prst="ellipse">
            <a:avLst/>
          </a:prstGeom>
          <a:solidFill>
            <a:srgbClr val="1B3A63"/>
          </a:solidFill>
          <a:ln w="12700">
            <a:solidFill>
              <a:srgbClr val="38BDF8"/>
            </a:solidFill>
            <a:prstDash val="solid"/>
          </a:ln>
        </p:spPr>
      </p:sp>
      <p:sp>
        <p:nvSpPr>
          <p:cNvPr id="19" name="Text 17"/>
          <p:cNvSpPr/>
          <p:nvPr/>
        </p:nvSpPr>
        <p:spPr>
          <a:xfrm>
            <a:off x="868680" y="5184648"/>
            <a:ext cx="274320" cy="274320"/>
          </a:xfrm>
          <a:prstGeom prst="rect">
            <a:avLst/>
          </a:prstGeom>
          <a:noFill/>
          <a:ln/>
        </p:spPr>
        <p:txBody>
          <a:bodyPr wrap="square" lIns="0" tIns="0" rIns="0" bIns="0" rtlCol="0" anchor="ctr"/>
          <a:lstStyle/>
          <a:p>
            <a:pPr marL="0" indent="0" algn="ctr">
              <a:buNone/>
            </a:pPr>
            <a:r>
              <a:rPr lang="en-US" sz="1100" b="1" dirty="0">
                <a:solidFill>
                  <a:srgbClr val="38BDF8"/>
                </a:solidFill>
                <a:latin typeface="Calibri" pitchFamily="34" charset="0"/>
                <a:ea typeface="Calibri" pitchFamily="34" charset="-122"/>
                <a:cs typeface="Calibri" pitchFamily="34" charset="-120"/>
              </a:rPr>
              <a:t>5</a:t>
            </a:r>
            <a:endParaRPr lang="en-US" sz="1100" dirty="0"/>
          </a:p>
        </p:txBody>
      </p:sp>
      <p:sp>
        <p:nvSpPr>
          <p:cNvPr id="20" name="Text 18"/>
          <p:cNvSpPr/>
          <p:nvPr/>
        </p:nvSpPr>
        <p:spPr>
          <a:xfrm>
            <a:off x="1280160" y="5111496"/>
            <a:ext cx="5212080" cy="685800"/>
          </a:xfrm>
          <a:prstGeom prst="rect">
            <a:avLst/>
          </a:prstGeom>
          <a:noFill/>
          <a:ln/>
        </p:spPr>
        <p:txBody>
          <a:bodyPr wrap="square" lIns="0" tIns="0" rIns="0" bIns="0" rtlCol="0" anchor="t"/>
          <a:lstStyle/>
          <a:p>
            <a:pPr marL="0" indent="0">
              <a:lnSpc>
                <a:spcPct val="112000"/>
              </a:lnSpc>
              <a:buNone/>
            </a:pPr>
            <a:r>
              <a:rPr lang="en-US" sz="1150" dirty="0">
                <a:solidFill>
                  <a:srgbClr val="B9D4FF"/>
                </a:solidFill>
                <a:latin typeface="Calibri" pitchFamily="34" charset="0"/>
                <a:ea typeface="Calibri" pitchFamily="34" charset="-122"/>
                <a:cs typeface="Calibri" pitchFamily="34" charset="-120"/>
              </a:rPr>
              <a:t>Any process that can never complete under this process is marked as deadlocked.</a:t>
            </a:r>
            <a:endParaRPr lang="en-US" sz="1150" dirty="0"/>
          </a:p>
        </p:txBody>
      </p:sp>
      <p:sp>
        <p:nvSpPr>
          <p:cNvPr id="21" name="Shape 19"/>
          <p:cNvSpPr/>
          <p:nvPr/>
        </p:nvSpPr>
        <p:spPr>
          <a:xfrm>
            <a:off x="7086600" y="1554480"/>
            <a:ext cx="4553712" cy="4663440"/>
          </a:xfrm>
          <a:prstGeom prst="roundRect">
            <a:avLst>
              <a:gd name="adj" fmla="val 1606"/>
            </a:avLst>
          </a:prstGeom>
          <a:solidFill>
            <a:srgbClr val="1B3A63"/>
          </a:solidFill>
          <a:ln/>
          <a:effectLst>
            <a:outerShdw blurRad="101600" dist="38100" dir="5400000" algn="bl" rotWithShape="0">
              <a:srgbClr val="000000">
                <a:alpha val="35000"/>
              </a:srgbClr>
            </a:outerShdw>
          </a:effectLst>
        </p:spPr>
      </p:sp>
      <p:sp>
        <p:nvSpPr>
          <p:cNvPr id="22" name="Text 20"/>
          <p:cNvSpPr/>
          <p:nvPr/>
        </p:nvSpPr>
        <p:spPr>
          <a:xfrm>
            <a:off x="7406640" y="1737360"/>
            <a:ext cx="3913632" cy="274320"/>
          </a:xfrm>
          <a:prstGeom prst="rect">
            <a:avLst/>
          </a:prstGeom>
          <a:noFill/>
          <a:ln/>
        </p:spPr>
        <p:txBody>
          <a:bodyPr wrap="square" lIns="0" tIns="0" rIns="0" bIns="0" rtlCol="0" anchor="ctr"/>
          <a:lstStyle/>
          <a:p>
            <a:pPr marL="0" indent="0">
              <a:buNone/>
            </a:pPr>
            <a:r>
              <a:rPr lang="en-US" sz="1100" b="1" kern="0" spc="150" dirty="0">
                <a:solidFill>
                  <a:srgbClr val="FBBF24"/>
                </a:solidFill>
                <a:latin typeface="Calibri" pitchFamily="34" charset="0"/>
                <a:ea typeface="Calibri" pitchFamily="34" charset="-122"/>
                <a:cs typeface="Calibri" pitchFamily="34" charset="-120"/>
              </a:rPr>
              <a:t>WORKED EXAMPLE</a:t>
            </a:r>
            <a:endParaRPr lang="en-US" sz="1100" dirty="0"/>
          </a:p>
        </p:txBody>
      </p:sp>
      <p:sp>
        <p:nvSpPr>
          <p:cNvPr id="23" name="Shape 21"/>
          <p:cNvSpPr/>
          <p:nvPr/>
        </p:nvSpPr>
        <p:spPr>
          <a:xfrm>
            <a:off x="7452360" y="2194560"/>
            <a:ext cx="685800" cy="411480"/>
          </a:xfrm>
          <a:prstGeom prst="roundRect">
            <a:avLst>
              <a:gd name="adj" fmla="val 13333"/>
            </a:avLst>
          </a:prstGeom>
          <a:solidFill>
            <a:srgbClr val="38BDF8"/>
          </a:solidFill>
          <a:ln/>
        </p:spPr>
      </p:sp>
      <p:sp>
        <p:nvSpPr>
          <p:cNvPr id="24" name="Text 22"/>
          <p:cNvSpPr/>
          <p:nvPr/>
        </p:nvSpPr>
        <p:spPr>
          <a:xfrm>
            <a:off x="7452360" y="2194560"/>
            <a:ext cx="685800" cy="411480"/>
          </a:xfrm>
          <a:prstGeom prst="rect">
            <a:avLst/>
          </a:prstGeom>
          <a:noFill/>
          <a:ln/>
        </p:spPr>
        <p:txBody>
          <a:bodyPr wrap="square" lIns="0" tIns="0" rIns="0" bIns="0" rtlCol="0" anchor="ctr"/>
          <a:lstStyle/>
          <a:p>
            <a:pPr marL="0" indent="0" algn="ctr">
              <a:buNone/>
            </a:pPr>
            <a:r>
              <a:rPr lang="en-US" sz="1200" b="1" dirty="0">
                <a:solidFill>
                  <a:srgbClr val="0A1128"/>
                </a:solidFill>
                <a:latin typeface="Calibri" pitchFamily="34" charset="0"/>
                <a:ea typeface="Calibri" pitchFamily="34" charset="-122"/>
                <a:cs typeface="Calibri" pitchFamily="34" charset="-120"/>
              </a:rPr>
              <a:t>P1</a:t>
            </a:r>
            <a:endParaRPr lang="en-US" sz="1200" dirty="0"/>
          </a:p>
        </p:txBody>
      </p:sp>
      <p:sp>
        <p:nvSpPr>
          <p:cNvPr id="25" name="Text 23"/>
          <p:cNvSpPr/>
          <p:nvPr/>
        </p:nvSpPr>
        <p:spPr>
          <a:xfrm>
            <a:off x="8229600" y="2194560"/>
            <a:ext cx="822960" cy="411480"/>
          </a:xfrm>
          <a:prstGeom prst="rect">
            <a:avLst/>
          </a:prstGeom>
          <a:noFill/>
          <a:ln/>
        </p:spPr>
        <p:txBody>
          <a:bodyPr wrap="square" lIns="0" tIns="0" rIns="0" bIns="0" rtlCol="0" anchor="ctr"/>
          <a:lstStyle/>
          <a:p>
            <a:pPr marL="0" indent="0" algn="ctr">
              <a:buNone/>
            </a:pPr>
            <a:r>
              <a:rPr lang="en-US" sz="1050" dirty="0">
                <a:solidFill>
                  <a:srgbClr val="8FA3C7"/>
                </a:solidFill>
                <a:latin typeface="Calibri" pitchFamily="34" charset="0"/>
                <a:ea typeface="Calibri" pitchFamily="34" charset="-122"/>
                <a:cs typeface="Calibri" pitchFamily="34" charset="-120"/>
              </a:rPr>
              <a:t>holds</a:t>
            </a:r>
            <a:endParaRPr lang="en-US" sz="1050" dirty="0"/>
          </a:p>
        </p:txBody>
      </p:sp>
      <p:sp>
        <p:nvSpPr>
          <p:cNvPr id="26" name="Shape 24"/>
          <p:cNvSpPr/>
          <p:nvPr/>
        </p:nvSpPr>
        <p:spPr>
          <a:xfrm>
            <a:off x="9098280" y="2194560"/>
            <a:ext cx="685800" cy="411480"/>
          </a:xfrm>
          <a:prstGeom prst="roundRect">
            <a:avLst>
              <a:gd name="adj" fmla="val 13333"/>
            </a:avLst>
          </a:prstGeom>
          <a:solidFill>
            <a:srgbClr val="B9D4FF"/>
          </a:solidFill>
          <a:ln/>
        </p:spPr>
      </p:sp>
      <p:sp>
        <p:nvSpPr>
          <p:cNvPr id="27" name="Text 25"/>
          <p:cNvSpPr/>
          <p:nvPr/>
        </p:nvSpPr>
        <p:spPr>
          <a:xfrm>
            <a:off x="9098280" y="2194560"/>
            <a:ext cx="685800" cy="411480"/>
          </a:xfrm>
          <a:prstGeom prst="rect">
            <a:avLst/>
          </a:prstGeom>
          <a:noFill/>
          <a:ln/>
        </p:spPr>
        <p:txBody>
          <a:bodyPr wrap="square" lIns="0" tIns="0" rIns="0" bIns="0" rtlCol="0" anchor="ctr"/>
          <a:lstStyle/>
          <a:p>
            <a:pPr marL="0" indent="0" algn="ctr">
              <a:buNone/>
            </a:pPr>
            <a:r>
              <a:rPr lang="en-US" sz="1200" b="1" dirty="0">
                <a:solidFill>
                  <a:srgbClr val="0A1128"/>
                </a:solidFill>
                <a:latin typeface="Calibri" pitchFamily="34" charset="0"/>
                <a:ea typeface="Calibri" pitchFamily="34" charset="-122"/>
                <a:cs typeface="Calibri" pitchFamily="34" charset="-120"/>
              </a:rPr>
              <a:t>R1</a:t>
            </a:r>
            <a:endParaRPr lang="en-US" sz="1200" dirty="0"/>
          </a:p>
        </p:txBody>
      </p:sp>
      <p:sp>
        <p:nvSpPr>
          <p:cNvPr id="28" name="Text 26"/>
          <p:cNvSpPr/>
          <p:nvPr/>
        </p:nvSpPr>
        <p:spPr>
          <a:xfrm>
            <a:off x="9875520" y="2194560"/>
            <a:ext cx="1005840" cy="411480"/>
          </a:xfrm>
          <a:prstGeom prst="rect">
            <a:avLst/>
          </a:prstGeom>
          <a:noFill/>
          <a:ln/>
        </p:spPr>
        <p:txBody>
          <a:bodyPr wrap="square" lIns="0" tIns="0" rIns="0" bIns="0" rtlCol="0" anchor="ctr"/>
          <a:lstStyle/>
          <a:p>
            <a:pPr marL="0" indent="0" algn="ctr">
              <a:buNone/>
            </a:pPr>
            <a:r>
              <a:rPr lang="en-US" sz="1050" dirty="0">
                <a:solidFill>
                  <a:srgbClr val="8FA3C7"/>
                </a:solidFill>
                <a:latin typeface="Calibri" pitchFamily="34" charset="0"/>
                <a:ea typeface="Calibri" pitchFamily="34" charset="-122"/>
                <a:cs typeface="Calibri" pitchFamily="34" charset="-120"/>
              </a:rPr>
              <a:t>requests</a:t>
            </a:r>
            <a:endParaRPr lang="en-US" sz="1050" dirty="0"/>
          </a:p>
        </p:txBody>
      </p:sp>
      <p:sp>
        <p:nvSpPr>
          <p:cNvPr id="29" name="Shape 27"/>
          <p:cNvSpPr/>
          <p:nvPr/>
        </p:nvSpPr>
        <p:spPr>
          <a:xfrm>
            <a:off x="10927080" y="2194560"/>
            <a:ext cx="566928" cy="411480"/>
          </a:xfrm>
          <a:prstGeom prst="roundRect">
            <a:avLst>
              <a:gd name="adj" fmla="val 13333"/>
            </a:avLst>
          </a:prstGeom>
          <a:solidFill>
            <a:srgbClr val="B9D4FF"/>
          </a:solidFill>
          <a:ln/>
        </p:spPr>
      </p:sp>
      <p:sp>
        <p:nvSpPr>
          <p:cNvPr id="30" name="Text 28"/>
          <p:cNvSpPr/>
          <p:nvPr/>
        </p:nvSpPr>
        <p:spPr>
          <a:xfrm>
            <a:off x="10927080" y="2194560"/>
            <a:ext cx="566928" cy="411480"/>
          </a:xfrm>
          <a:prstGeom prst="rect">
            <a:avLst/>
          </a:prstGeom>
          <a:noFill/>
          <a:ln/>
        </p:spPr>
        <p:txBody>
          <a:bodyPr wrap="square" lIns="0" tIns="0" rIns="0" bIns="0" rtlCol="0" anchor="ctr"/>
          <a:lstStyle/>
          <a:p>
            <a:pPr marL="0" indent="0" algn="ctr">
              <a:buNone/>
            </a:pPr>
            <a:r>
              <a:rPr lang="en-US" sz="1200" b="1" dirty="0">
                <a:solidFill>
                  <a:srgbClr val="0A1128"/>
                </a:solidFill>
                <a:latin typeface="Calibri" pitchFamily="34" charset="0"/>
                <a:ea typeface="Calibri" pitchFamily="34" charset="-122"/>
                <a:cs typeface="Calibri" pitchFamily="34" charset="-120"/>
              </a:rPr>
              <a:t>R2</a:t>
            </a:r>
            <a:endParaRPr lang="en-US" sz="1200" dirty="0"/>
          </a:p>
        </p:txBody>
      </p:sp>
      <p:sp>
        <p:nvSpPr>
          <p:cNvPr id="31" name="Shape 29"/>
          <p:cNvSpPr/>
          <p:nvPr/>
        </p:nvSpPr>
        <p:spPr>
          <a:xfrm>
            <a:off x="7452360" y="2880360"/>
            <a:ext cx="685800" cy="411480"/>
          </a:xfrm>
          <a:prstGeom prst="roundRect">
            <a:avLst>
              <a:gd name="adj" fmla="val 13333"/>
            </a:avLst>
          </a:prstGeom>
          <a:solidFill>
            <a:srgbClr val="38BDF8"/>
          </a:solidFill>
          <a:ln/>
        </p:spPr>
      </p:sp>
      <p:sp>
        <p:nvSpPr>
          <p:cNvPr id="32" name="Text 30"/>
          <p:cNvSpPr/>
          <p:nvPr/>
        </p:nvSpPr>
        <p:spPr>
          <a:xfrm>
            <a:off x="7452360" y="2880360"/>
            <a:ext cx="685800" cy="411480"/>
          </a:xfrm>
          <a:prstGeom prst="rect">
            <a:avLst/>
          </a:prstGeom>
          <a:noFill/>
          <a:ln/>
        </p:spPr>
        <p:txBody>
          <a:bodyPr wrap="square" lIns="0" tIns="0" rIns="0" bIns="0" rtlCol="0" anchor="ctr"/>
          <a:lstStyle/>
          <a:p>
            <a:pPr marL="0" indent="0" algn="ctr">
              <a:buNone/>
            </a:pPr>
            <a:r>
              <a:rPr lang="en-US" sz="1200" b="1" dirty="0">
                <a:solidFill>
                  <a:srgbClr val="0A1128"/>
                </a:solidFill>
                <a:latin typeface="Calibri" pitchFamily="34" charset="0"/>
                <a:ea typeface="Calibri" pitchFamily="34" charset="-122"/>
                <a:cs typeface="Calibri" pitchFamily="34" charset="-120"/>
              </a:rPr>
              <a:t>P2</a:t>
            </a:r>
            <a:endParaRPr lang="en-US" sz="1200" dirty="0"/>
          </a:p>
        </p:txBody>
      </p:sp>
      <p:sp>
        <p:nvSpPr>
          <p:cNvPr id="33" name="Text 31"/>
          <p:cNvSpPr/>
          <p:nvPr/>
        </p:nvSpPr>
        <p:spPr>
          <a:xfrm>
            <a:off x="8229600" y="2880360"/>
            <a:ext cx="822960" cy="411480"/>
          </a:xfrm>
          <a:prstGeom prst="rect">
            <a:avLst/>
          </a:prstGeom>
          <a:noFill/>
          <a:ln/>
        </p:spPr>
        <p:txBody>
          <a:bodyPr wrap="square" lIns="0" tIns="0" rIns="0" bIns="0" rtlCol="0" anchor="ctr"/>
          <a:lstStyle/>
          <a:p>
            <a:pPr marL="0" indent="0" algn="ctr">
              <a:buNone/>
            </a:pPr>
            <a:r>
              <a:rPr lang="en-US" sz="1050" dirty="0">
                <a:solidFill>
                  <a:srgbClr val="8FA3C7"/>
                </a:solidFill>
                <a:latin typeface="Calibri" pitchFamily="34" charset="0"/>
                <a:ea typeface="Calibri" pitchFamily="34" charset="-122"/>
                <a:cs typeface="Calibri" pitchFamily="34" charset="-120"/>
              </a:rPr>
              <a:t>holds</a:t>
            </a:r>
            <a:endParaRPr lang="en-US" sz="1050" dirty="0"/>
          </a:p>
        </p:txBody>
      </p:sp>
      <p:sp>
        <p:nvSpPr>
          <p:cNvPr id="34" name="Shape 32"/>
          <p:cNvSpPr/>
          <p:nvPr/>
        </p:nvSpPr>
        <p:spPr>
          <a:xfrm>
            <a:off x="9098280" y="2880360"/>
            <a:ext cx="566928" cy="411480"/>
          </a:xfrm>
          <a:prstGeom prst="roundRect">
            <a:avLst>
              <a:gd name="adj" fmla="val 13333"/>
            </a:avLst>
          </a:prstGeom>
          <a:solidFill>
            <a:srgbClr val="B9D4FF"/>
          </a:solidFill>
          <a:ln/>
        </p:spPr>
      </p:sp>
      <p:sp>
        <p:nvSpPr>
          <p:cNvPr id="35" name="Text 33"/>
          <p:cNvSpPr/>
          <p:nvPr/>
        </p:nvSpPr>
        <p:spPr>
          <a:xfrm>
            <a:off x="9098280" y="2880360"/>
            <a:ext cx="566928" cy="411480"/>
          </a:xfrm>
          <a:prstGeom prst="rect">
            <a:avLst/>
          </a:prstGeom>
          <a:noFill/>
          <a:ln/>
        </p:spPr>
        <p:txBody>
          <a:bodyPr wrap="square" lIns="0" tIns="0" rIns="0" bIns="0" rtlCol="0" anchor="ctr"/>
          <a:lstStyle/>
          <a:p>
            <a:pPr marL="0" indent="0" algn="ctr">
              <a:buNone/>
            </a:pPr>
            <a:r>
              <a:rPr lang="en-US" sz="1200" b="1" dirty="0">
                <a:solidFill>
                  <a:srgbClr val="0A1128"/>
                </a:solidFill>
                <a:latin typeface="Calibri" pitchFamily="34" charset="0"/>
                <a:ea typeface="Calibri" pitchFamily="34" charset="-122"/>
                <a:cs typeface="Calibri" pitchFamily="34" charset="-120"/>
              </a:rPr>
              <a:t>R2</a:t>
            </a:r>
            <a:endParaRPr lang="en-US" sz="1200" dirty="0"/>
          </a:p>
        </p:txBody>
      </p:sp>
      <p:sp>
        <p:nvSpPr>
          <p:cNvPr id="36" name="Text 34"/>
          <p:cNvSpPr/>
          <p:nvPr/>
        </p:nvSpPr>
        <p:spPr>
          <a:xfrm>
            <a:off x="9784080" y="2880360"/>
            <a:ext cx="1005840" cy="411480"/>
          </a:xfrm>
          <a:prstGeom prst="rect">
            <a:avLst/>
          </a:prstGeom>
          <a:noFill/>
          <a:ln/>
        </p:spPr>
        <p:txBody>
          <a:bodyPr wrap="square" lIns="0" tIns="0" rIns="0" bIns="0" rtlCol="0" anchor="ctr"/>
          <a:lstStyle/>
          <a:p>
            <a:pPr marL="0" indent="0" algn="ctr">
              <a:buNone/>
            </a:pPr>
            <a:r>
              <a:rPr lang="en-US" sz="1050" dirty="0">
                <a:solidFill>
                  <a:srgbClr val="8FA3C7"/>
                </a:solidFill>
                <a:latin typeface="Calibri" pitchFamily="34" charset="0"/>
                <a:ea typeface="Calibri" pitchFamily="34" charset="-122"/>
                <a:cs typeface="Calibri" pitchFamily="34" charset="-120"/>
              </a:rPr>
              <a:t>requests</a:t>
            </a:r>
            <a:endParaRPr lang="en-US" sz="1050" dirty="0"/>
          </a:p>
        </p:txBody>
      </p:sp>
      <p:sp>
        <p:nvSpPr>
          <p:cNvPr id="37" name="Shape 35"/>
          <p:cNvSpPr/>
          <p:nvPr/>
        </p:nvSpPr>
        <p:spPr>
          <a:xfrm>
            <a:off x="10927080" y="2880360"/>
            <a:ext cx="566928" cy="411480"/>
          </a:xfrm>
          <a:prstGeom prst="roundRect">
            <a:avLst>
              <a:gd name="adj" fmla="val 13333"/>
            </a:avLst>
          </a:prstGeom>
          <a:solidFill>
            <a:srgbClr val="B9D4FF"/>
          </a:solidFill>
          <a:ln/>
        </p:spPr>
      </p:sp>
      <p:sp>
        <p:nvSpPr>
          <p:cNvPr id="38" name="Text 36"/>
          <p:cNvSpPr/>
          <p:nvPr/>
        </p:nvSpPr>
        <p:spPr>
          <a:xfrm>
            <a:off x="10927080" y="2880360"/>
            <a:ext cx="566928" cy="411480"/>
          </a:xfrm>
          <a:prstGeom prst="rect">
            <a:avLst/>
          </a:prstGeom>
          <a:noFill/>
          <a:ln/>
        </p:spPr>
        <p:txBody>
          <a:bodyPr wrap="square" lIns="0" tIns="0" rIns="0" bIns="0" rtlCol="0" anchor="ctr"/>
          <a:lstStyle/>
          <a:p>
            <a:pPr marL="0" indent="0" algn="ctr">
              <a:buNone/>
            </a:pPr>
            <a:r>
              <a:rPr lang="en-US" sz="1200" b="1" dirty="0">
                <a:solidFill>
                  <a:srgbClr val="0A1128"/>
                </a:solidFill>
                <a:latin typeface="Calibri" pitchFamily="34" charset="0"/>
                <a:ea typeface="Calibri" pitchFamily="34" charset="-122"/>
                <a:cs typeface="Calibri" pitchFamily="34" charset="-120"/>
              </a:rPr>
              <a:t>R1</a:t>
            </a:r>
            <a:endParaRPr lang="en-US" sz="1200" dirty="0"/>
          </a:p>
        </p:txBody>
      </p:sp>
      <p:sp>
        <p:nvSpPr>
          <p:cNvPr id="39" name="Shape 37"/>
          <p:cNvSpPr/>
          <p:nvPr/>
        </p:nvSpPr>
        <p:spPr>
          <a:xfrm>
            <a:off x="7406640" y="3566160"/>
            <a:ext cx="3913632" cy="0"/>
          </a:xfrm>
          <a:prstGeom prst="line">
            <a:avLst/>
          </a:prstGeom>
          <a:noFill/>
          <a:ln w="12700">
            <a:solidFill>
              <a:srgbClr val="2A4574"/>
            </a:solidFill>
            <a:prstDash val="dash"/>
          </a:ln>
        </p:spPr>
      </p:sp>
      <p:sp>
        <p:nvSpPr>
          <p:cNvPr id="40" name="Text 38"/>
          <p:cNvSpPr/>
          <p:nvPr/>
        </p:nvSpPr>
        <p:spPr>
          <a:xfrm>
            <a:off x="7452360" y="3749040"/>
            <a:ext cx="3822192" cy="640080"/>
          </a:xfrm>
          <a:prstGeom prst="rect">
            <a:avLst/>
          </a:prstGeom>
          <a:noFill/>
          <a:ln/>
        </p:spPr>
        <p:txBody>
          <a:bodyPr wrap="square" lIns="0" tIns="0" rIns="0" bIns="0" rtlCol="0" anchor="ctr"/>
          <a:lstStyle/>
          <a:p>
            <a:pPr marL="0" indent="0">
              <a:lnSpc>
                <a:spcPct val="120000"/>
              </a:lnSpc>
              <a:buNone/>
            </a:pPr>
            <a:r>
              <a:rPr lang="en-US" sz="1250" dirty="0">
                <a:solidFill>
                  <a:srgbClr val="B9D4FF"/>
                </a:solidFill>
                <a:latin typeface="Calibri" pitchFamily="34" charset="0"/>
                <a:ea typeface="Calibri" pitchFamily="34" charset="-122"/>
                <a:cs typeface="Calibri" pitchFamily="34" charset="-120"/>
              </a:rPr>
              <a:t>P1 waits for P2
P2 waits for P1
</a:t>
            </a:r>
            <a:endParaRPr lang="en-US" sz="1250" dirty="0"/>
          </a:p>
        </p:txBody>
      </p:sp>
      <p:sp>
        <p:nvSpPr>
          <p:cNvPr id="41" name="Shape 39"/>
          <p:cNvSpPr/>
          <p:nvPr/>
        </p:nvSpPr>
        <p:spPr>
          <a:xfrm>
            <a:off x="7452360" y="4389120"/>
            <a:ext cx="3822192" cy="594360"/>
          </a:xfrm>
          <a:prstGeom prst="roundRect">
            <a:avLst>
              <a:gd name="adj" fmla="val 12308"/>
            </a:avLst>
          </a:prstGeom>
          <a:solidFill>
            <a:srgbClr val="13294B"/>
          </a:solidFill>
          <a:ln/>
        </p:spPr>
      </p:sp>
      <p:sp>
        <p:nvSpPr>
          <p:cNvPr id="42" name="Shape 40"/>
          <p:cNvSpPr/>
          <p:nvPr/>
        </p:nvSpPr>
        <p:spPr>
          <a:xfrm>
            <a:off x="7658100" y="4480560"/>
            <a:ext cx="411480" cy="411480"/>
          </a:xfrm>
          <a:prstGeom prst="ellipse">
            <a:avLst/>
          </a:prstGeom>
          <a:solidFill>
            <a:srgbClr val="1B3A63"/>
          </a:solidFill>
          <a:ln/>
        </p:spPr>
      </p:sp>
      <p:pic>
        <p:nvPicPr>
          <p:cNvPr id="43" name="Image 0" descr="icons/x_red.png"/>
          <p:cNvPicPr>
            <a:picLocks noChangeAspect="1"/>
          </p:cNvPicPr>
          <p:nvPr/>
        </p:nvPicPr>
        <p:blipFill>
          <a:blip r:embed="rId3"/>
          <a:stretch>
            <a:fillRect/>
          </a:stretch>
        </p:blipFill>
        <p:spPr>
          <a:xfrm>
            <a:off x="7749540" y="4572000"/>
            <a:ext cx="228600" cy="228600"/>
          </a:xfrm>
          <a:prstGeom prst="rect">
            <a:avLst/>
          </a:prstGeom>
        </p:spPr>
      </p:pic>
      <p:sp>
        <p:nvSpPr>
          <p:cNvPr id="44" name="Text 41"/>
          <p:cNvSpPr/>
          <p:nvPr/>
        </p:nvSpPr>
        <p:spPr>
          <a:xfrm>
            <a:off x="8138160" y="4389120"/>
            <a:ext cx="3090672" cy="594360"/>
          </a:xfrm>
          <a:prstGeom prst="rect">
            <a:avLst/>
          </a:prstGeom>
          <a:noFill/>
          <a:ln/>
        </p:spPr>
        <p:txBody>
          <a:bodyPr wrap="square" lIns="0" tIns="0" rIns="0" bIns="0" rtlCol="0" anchor="ctr"/>
          <a:lstStyle/>
          <a:p>
            <a:pPr marL="0" indent="0">
              <a:buNone/>
            </a:pPr>
            <a:r>
              <a:rPr lang="en-US" sz="1250" b="1" dirty="0">
                <a:solidFill>
                  <a:srgbClr val="F87171"/>
                </a:solidFill>
                <a:latin typeface="Calibri" pitchFamily="34" charset="0"/>
                <a:ea typeface="Calibri" pitchFamily="34" charset="-122"/>
                <a:cs typeface="Calibri" pitchFamily="34" charset="-120"/>
              </a:rPr>
              <a:t>Result: DEADLOCK (circular wait)</a:t>
            </a:r>
            <a:endParaRPr lang="en-US" sz="1250" dirty="0"/>
          </a:p>
        </p:txBody>
      </p:sp>
      <p:sp>
        <p:nvSpPr>
          <p:cNvPr id="45" name="Text 42"/>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8FA3C7"/>
                </a:solidFill>
                <a:latin typeface="Calibri" pitchFamily="34" charset="0"/>
                <a:ea typeface="Calibri" pitchFamily="34" charset="-122"/>
                <a:cs typeface="Calibri" pitchFamily="34" charset="-120"/>
              </a:rPr>
              <a:t>Linux Deadlock Detection and Resource Management System</a:t>
            </a:r>
            <a:endParaRPr lang="en-US" sz="900" dirty="0"/>
          </a:p>
        </p:txBody>
      </p:sp>
      <p:sp>
        <p:nvSpPr>
          <p:cNvPr id="46" name="Text 43"/>
          <p:cNvSpPr/>
          <p:nvPr/>
        </p:nvSpPr>
        <p:spPr>
          <a:xfrm>
            <a:off x="11457432" y="6510528"/>
            <a:ext cx="365760" cy="274320"/>
          </a:xfrm>
          <a:prstGeom prst="rect">
            <a:avLst/>
          </a:prstGeom>
          <a:noFill/>
          <a:ln/>
        </p:spPr>
        <p:txBody>
          <a:bodyPr wrap="square" lIns="0" tIns="0" rIns="0" bIns="0" rtlCol="0" anchor="ctr"/>
          <a:lstStyle/>
          <a:p>
            <a:pPr marL="0" indent="0" algn="r">
              <a:buNone/>
            </a:pPr>
            <a:r>
              <a:rPr lang="en-US" sz="900" dirty="0">
                <a:solidFill>
                  <a:srgbClr val="8FA3C7"/>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128"/>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marL="0" indent="0">
              <a:buNone/>
            </a:pPr>
            <a:r>
              <a:rPr lang="en-US" sz="1200" b="1" kern="0" spc="200" dirty="0">
                <a:solidFill>
                  <a:srgbClr val="38BDF8"/>
                </a:solidFill>
                <a:latin typeface="Calibri" pitchFamily="34" charset="0"/>
                <a:ea typeface="Calibri" pitchFamily="34" charset="-122"/>
                <a:cs typeface="Calibri" pitchFamily="34" charset="-120"/>
              </a:rPr>
              <a:t>MANAGING RESOURCES</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Resource Management &amp; Recovery</a:t>
            </a:r>
            <a:endParaRPr lang="en-US" sz="3000" dirty="0"/>
          </a:p>
        </p:txBody>
      </p:sp>
      <p:sp>
        <p:nvSpPr>
          <p:cNvPr id="4" name="Shape 2"/>
          <p:cNvSpPr/>
          <p:nvPr/>
        </p:nvSpPr>
        <p:spPr>
          <a:xfrm>
            <a:off x="548640" y="1554480"/>
            <a:ext cx="5394960" cy="4663440"/>
          </a:xfrm>
          <a:prstGeom prst="roundRect">
            <a:avLst>
              <a:gd name="adj" fmla="val 1569"/>
            </a:avLst>
          </a:prstGeom>
          <a:solidFill>
            <a:srgbClr val="13294B"/>
          </a:solidFill>
          <a:ln/>
          <a:effectLst>
            <a:outerShdw blurRad="101600" dist="38100" dir="5400000" algn="bl" rotWithShape="0">
              <a:srgbClr val="000000">
                <a:alpha val="35000"/>
              </a:srgbClr>
            </a:outerShdw>
          </a:effectLst>
        </p:spPr>
      </p:sp>
      <p:sp>
        <p:nvSpPr>
          <p:cNvPr id="5" name="Text 3"/>
          <p:cNvSpPr/>
          <p:nvPr/>
        </p:nvSpPr>
        <p:spPr>
          <a:xfrm>
            <a:off x="868680" y="1737360"/>
            <a:ext cx="4754880" cy="274320"/>
          </a:xfrm>
          <a:prstGeom prst="rect">
            <a:avLst/>
          </a:prstGeom>
          <a:noFill/>
          <a:ln/>
        </p:spPr>
        <p:txBody>
          <a:bodyPr wrap="square" lIns="0" tIns="0" rIns="0" bIns="0" rtlCol="0" anchor="ctr"/>
          <a:lstStyle/>
          <a:p>
            <a:pPr marL="0" indent="0">
              <a:buNone/>
            </a:pPr>
            <a:r>
              <a:rPr lang="en-US" sz="1100" b="1" kern="0" spc="150" dirty="0">
                <a:solidFill>
                  <a:srgbClr val="38BDF8"/>
                </a:solidFill>
                <a:latin typeface="Calibri" pitchFamily="34" charset="0"/>
                <a:ea typeface="Calibri" pitchFamily="34" charset="-122"/>
                <a:cs typeface="Calibri" pitchFamily="34" charset="-120"/>
              </a:rPr>
              <a:t>RESOURCE LIFECYCLE</a:t>
            </a:r>
            <a:endParaRPr lang="en-US" sz="1100" dirty="0"/>
          </a:p>
        </p:txBody>
      </p:sp>
      <p:sp>
        <p:nvSpPr>
          <p:cNvPr id="6" name="Shape 4"/>
          <p:cNvSpPr/>
          <p:nvPr/>
        </p:nvSpPr>
        <p:spPr>
          <a:xfrm>
            <a:off x="850392" y="2148840"/>
            <a:ext cx="402336" cy="402336"/>
          </a:xfrm>
          <a:prstGeom prst="ellipse">
            <a:avLst/>
          </a:prstGeom>
          <a:solidFill>
            <a:srgbClr val="1B3A63"/>
          </a:solidFill>
          <a:ln/>
        </p:spPr>
      </p:sp>
      <p:pic>
        <p:nvPicPr>
          <p:cNvPr id="7" name="Image 0" descr="icons/package_cyan.png"/>
          <p:cNvPicPr>
            <a:picLocks noChangeAspect="1"/>
          </p:cNvPicPr>
          <p:nvPr/>
        </p:nvPicPr>
        <p:blipFill>
          <a:blip r:embed="rId3"/>
          <a:stretch>
            <a:fillRect/>
          </a:stretch>
        </p:blipFill>
        <p:spPr>
          <a:xfrm>
            <a:off x="941832" y="2240280"/>
            <a:ext cx="219456" cy="219456"/>
          </a:xfrm>
          <a:prstGeom prst="rect">
            <a:avLst/>
          </a:prstGeom>
        </p:spPr>
      </p:pic>
      <p:sp>
        <p:nvSpPr>
          <p:cNvPr id="8" name="Text 5"/>
          <p:cNvSpPr/>
          <p:nvPr/>
        </p:nvSpPr>
        <p:spPr>
          <a:xfrm>
            <a:off x="1371600" y="2148840"/>
            <a:ext cx="4251960" cy="25603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Allocation</a:t>
            </a:r>
            <a:endParaRPr lang="en-US" sz="1250" dirty="0"/>
          </a:p>
        </p:txBody>
      </p:sp>
      <p:sp>
        <p:nvSpPr>
          <p:cNvPr id="9" name="Text 6"/>
          <p:cNvSpPr/>
          <p:nvPr/>
        </p:nvSpPr>
        <p:spPr>
          <a:xfrm>
            <a:off x="1371600" y="2395728"/>
            <a:ext cx="4251960" cy="320040"/>
          </a:xfrm>
          <a:prstGeom prst="rect">
            <a:avLst/>
          </a:prstGeom>
          <a:noFill/>
          <a:ln/>
        </p:spPr>
        <p:txBody>
          <a:bodyPr wrap="square" lIns="0" tIns="0" rIns="0" bIns="0" rtlCol="0" anchor="ctr"/>
          <a:lstStyle/>
          <a:p>
            <a:pPr marL="0" indent="0">
              <a:buNone/>
            </a:pPr>
            <a:r>
              <a:rPr lang="en-US" sz="1050" dirty="0">
                <a:solidFill>
                  <a:srgbClr val="8FA3C7"/>
                </a:solidFill>
                <a:latin typeface="Calibri" pitchFamily="34" charset="0"/>
                <a:ea typeface="Calibri" pitchFamily="34" charset="-122"/>
                <a:cs typeface="Calibri" pitchFamily="34" charset="-120"/>
              </a:rPr>
              <a:t>Assign a resource to a requesting process.</a:t>
            </a:r>
            <a:endParaRPr lang="en-US" sz="1050" dirty="0"/>
          </a:p>
        </p:txBody>
      </p:sp>
      <p:sp>
        <p:nvSpPr>
          <p:cNvPr id="10" name="Shape 7"/>
          <p:cNvSpPr/>
          <p:nvPr/>
        </p:nvSpPr>
        <p:spPr>
          <a:xfrm>
            <a:off x="850392" y="2807208"/>
            <a:ext cx="402336" cy="402336"/>
          </a:xfrm>
          <a:prstGeom prst="ellipse">
            <a:avLst/>
          </a:prstGeom>
          <a:solidFill>
            <a:srgbClr val="1B3A63"/>
          </a:solidFill>
          <a:ln/>
        </p:spPr>
      </p:sp>
      <p:pic>
        <p:nvPicPr>
          <p:cNvPr id="11" name="Image 1" descr="icons/search_cyan.png"/>
          <p:cNvPicPr>
            <a:picLocks noChangeAspect="1"/>
          </p:cNvPicPr>
          <p:nvPr/>
        </p:nvPicPr>
        <p:blipFill>
          <a:blip r:embed="rId4"/>
          <a:stretch>
            <a:fillRect/>
          </a:stretch>
        </p:blipFill>
        <p:spPr>
          <a:xfrm>
            <a:off x="941832" y="2898648"/>
            <a:ext cx="219456" cy="219456"/>
          </a:xfrm>
          <a:prstGeom prst="rect">
            <a:avLst/>
          </a:prstGeom>
        </p:spPr>
      </p:pic>
      <p:sp>
        <p:nvSpPr>
          <p:cNvPr id="12" name="Text 8"/>
          <p:cNvSpPr/>
          <p:nvPr/>
        </p:nvSpPr>
        <p:spPr>
          <a:xfrm>
            <a:off x="1371600" y="2807208"/>
            <a:ext cx="4251960" cy="25603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Request</a:t>
            </a:r>
            <a:endParaRPr lang="en-US" sz="1250" dirty="0"/>
          </a:p>
        </p:txBody>
      </p:sp>
      <p:sp>
        <p:nvSpPr>
          <p:cNvPr id="13" name="Text 9"/>
          <p:cNvSpPr/>
          <p:nvPr/>
        </p:nvSpPr>
        <p:spPr>
          <a:xfrm>
            <a:off x="1371600" y="3054096"/>
            <a:ext cx="4251960" cy="320040"/>
          </a:xfrm>
          <a:prstGeom prst="rect">
            <a:avLst/>
          </a:prstGeom>
          <a:noFill/>
          <a:ln/>
        </p:spPr>
        <p:txBody>
          <a:bodyPr wrap="square" lIns="0" tIns="0" rIns="0" bIns="0" rtlCol="0" anchor="ctr"/>
          <a:lstStyle/>
          <a:p>
            <a:pPr marL="0" indent="0">
              <a:buNone/>
            </a:pPr>
            <a:r>
              <a:rPr lang="en-US" sz="1050" dirty="0">
                <a:solidFill>
                  <a:srgbClr val="8FA3C7"/>
                </a:solidFill>
                <a:latin typeface="Calibri" pitchFamily="34" charset="0"/>
                <a:ea typeface="Calibri" pitchFamily="34" charset="-122"/>
                <a:cs typeface="Calibri" pitchFamily="34" charset="-120"/>
              </a:rPr>
              <a:t>A process asks for an additional resource.</a:t>
            </a:r>
            <a:endParaRPr lang="en-US" sz="1050" dirty="0"/>
          </a:p>
        </p:txBody>
      </p:sp>
      <p:sp>
        <p:nvSpPr>
          <p:cNvPr id="14" name="Shape 10"/>
          <p:cNvSpPr/>
          <p:nvPr/>
        </p:nvSpPr>
        <p:spPr>
          <a:xfrm>
            <a:off x="850392" y="3465576"/>
            <a:ext cx="402336" cy="402336"/>
          </a:xfrm>
          <a:prstGeom prst="ellipse">
            <a:avLst/>
          </a:prstGeom>
          <a:solidFill>
            <a:srgbClr val="1B3A63"/>
          </a:solidFill>
          <a:ln/>
        </p:spPr>
      </p:sp>
      <p:pic>
        <p:nvPicPr>
          <p:cNvPr id="15" name="Image 2" descr="icons/unlock_cyan.png"/>
          <p:cNvPicPr>
            <a:picLocks noChangeAspect="1"/>
          </p:cNvPicPr>
          <p:nvPr/>
        </p:nvPicPr>
        <p:blipFill>
          <a:blip r:embed="rId5"/>
          <a:stretch>
            <a:fillRect/>
          </a:stretch>
        </p:blipFill>
        <p:spPr>
          <a:xfrm>
            <a:off x="941832" y="3557016"/>
            <a:ext cx="219456" cy="219456"/>
          </a:xfrm>
          <a:prstGeom prst="rect">
            <a:avLst/>
          </a:prstGeom>
        </p:spPr>
      </p:pic>
      <p:sp>
        <p:nvSpPr>
          <p:cNvPr id="16" name="Text 11"/>
          <p:cNvSpPr/>
          <p:nvPr/>
        </p:nvSpPr>
        <p:spPr>
          <a:xfrm>
            <a:off x="1371600" y="3465576"/>
            <a:ext cx="4251960" cy="25603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Release</a:t>
            </a:r>
            <a:endParaRPr lang="en-US" sz="1250" dirty="0"/>
          </a:p>
        </p:txBody>
      </p:sp>
      <p:sp>
        <p:nvSpPr>
          <p:cNvPr id="17" name="Text 12"/>
          <p:cNvSpPr/>
          <p:nvPr/>
        </p:nvSpPr>
        <p:spPr>
          <a:xfrm>
            <a:off x="1371600" y="3712464"/>
            <a:ext cx="4251960" cy="320040"/>
          </a:xfrm>
          <a:prstGeom prst="rect">
            <a:avLst/>
          </a:prstGeom>
          <a:noFill/>
          <a:ln/>
        </p:spPr>
        <p:txBody>
          <a:bodyPr wrap="square" lIns="0" tIns="0" rIns="0" bIns="0" rtlCol="0" anchor="ctr"/>
          <a:lstStyle/>
          <a:p>
            <a:pPr marL="0" indent="0">
              <a:buNone/>
            </a:pPr>
            <a:r>
              <a:rPr lang="en-US" sz="1050" dirty="0">
                <a:solidFill>
                  <a:srgbClr val="8FA3C7"/>
                </a:solidFill>
                <a:latin typeface="Calibri" pitchFamily="34" charset="0"/>
                <a:ea typeface="Calibri" pitchFamily="34" charset="-122"/>
                <a:cs typeface="Calibri" pitchFamily="34" charset="-120"/>
              </a:rPr>
              <a:t>A resource is freed after use.</a:t>
            </a:r>
            <a:endParaRPr lang="en-US" sz="1050" dirty="0"/>
          </a:p>
        </p:txBody>
      </p:sp>
      <p:sp>
        <p:nvSpPr>
          <p:cNvPr id="18" name="Shape 13"/>
          <p:cNvSpPr/>
          <p:nvPr/>
        </p:nvSpPr>
        <p:spPr>
          <a:xfrm>
            <a:off x="850392" y="4123944"/>
            <a:ext cx="402336" cy="402336"/>
          </a:xfrm>
          <a:prstGeom prst="ellipse">
            <a:avLst/>
          </a:prstGeom>
          <a:solidFill>
            <a:srgbClr val="1B3A63"/>
          </a:solidFill>
          <a:ln/>
        </p:spPr>
      </p:sp>
      <p:pic>
        <p:nvPicPr>
          <p:cNvPr id="19" name="Image 3" descr="icons/monitor_cyan.png"/>
          <p:cNvPicPr>
            <a:picLocks noChangeAspect="1"/>
          </p:cNvPicPr>
          <p:nvPr/>
        </p:nvPicPr>
        <p:blipFill>
          <a:blip r:embed="rId6"/>
          <a:stretch>
            <a:fillRect/>
          </a:stretch>
        </p:blipFill>
        <p:spPr>
          <a:xfrm>
            <a:off x="941832" y="4215384"/>
            <a:ext cx="219456" cy="219456"/>
          </a:xfrm>
          <a:prstGeom prst="rect">
            <a:avLst/>
          </a:prstGeom>
        </p:spPr>
      </p:pic>
      <p:sp>
        <p:nvSpPr>
          <p:cNvPr id="20" name="Text 14"/>
          <p:cNvSpPr/>
          <p:nvPr/>
        </p:nvSpPr>
        <p:spPr>
          <a:xfrm>
            <a:off x="1371600" y="4123944"/>
            <a:ext cx="4251960" cy="25603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Monitoring</a:t>
            </a:r>
            <a:endParaRPr lang="en-US" sz="1250" dirty="0"/>
          </a:p>
        </p:txBody>
      </p:sp>
      <p:sp>
        <p:nvSpPr>
          <p:cNvPr id="21" name="Text 15"/>
          <p:cNvSpPr/>
          <p:nvPr/>
        </p:nvSpPr>
        <p:spPr>
          <a:xfrm>
            <a:off x="1371600" y="4370832"/>
            <a:ext cx="4251960" cy="320040"/>
          </a:xfrm>
          <a:prstGeom prst="rect">
            <a:avLst/>
          </a:prstGeom>
          <a:noFill/>
          <a:ln/>
        </p:spPr>
        <p:txBody>
          <a:bodyPr wrap="square" lIns="0" tIns="0" rIns="0" bIns="0" rtlCol="0" anchor="ctr"/>
          <a:lstStyle/>
          <a:p>
            <a:pPr marL="0" indent="0">
              <a:buNone/>
            </a:pPr>
            <a:r>
              <a:rPr lang="en-US" sz="1050" dirty="0">
                <a:solidFill>
                  <a:srgbClr val="8FA3C7"/>
                </a:solidFill>
                <a:latin typeface="Calibri" pitchFamily="34" charset="0"/>
                <a:ea typeface="Calibri" pitchFamily="34" charset="-122"/>
                <a:cs typeface="Calibri" pitchFamily="34" charset="-120"/>
              </a:rPr>
              <a:t>Continuously track resource availability.</a:t>
            </a:r>
            <a:endParaRPr lang="en-US" sz="1050" dirty="0"/>
          </a:p>
        </p:txBody>
      </p:sp>
      <p:sp>
        <p:nvSpPr>
          <p:cNvPr id="22" name="Shape 16"/>
          <p:cNvSpPr/>
          <p:nvPr/>
        </p:nvSpPr>
        <p:spPr>
          <a:xfrm>
            <a:off x="850392" y="4782312"/>
            <a:ext cx="402336" cy="402336"/>
          </a:xfrm>
          <a:prstGeom prst="ellipse">
            <a:avLst/>
          </a:prstGeom>
          <a:solidFill>
            <a:srgbClr val="1B3A63"/>
          </a:solidFill>
          <a:ln/>
        </p:spPr>
      </p:sp>
      <p:pic>
        <p:nvPicPr>
          <p:cNvPr id="23" name="Image 4" descr="icons/alert_cyan.png"/>
          <p:cNvPicPr>
            <a:picLocks noChangeAspect="1"/>
          </p:cNvPicPr>
          <p:nvPr/>
        </p:nvPicPr>
        <p:blipFill>
          <a:blip r:embed="rId7"/>
          <a:stretch>
            <a:fillRect/>
          </a:stretch>
        </p:blipFill>
        <p:spPr>
          <a:xfrm>
            <a:off x="941832" y="4873752"/>
            <a:ext cx="219456" cy="219456"/>
          </a:xfrm>
          <a:prstGeom prst="rect">
            <a:avLst/>
          </a:prstGeom>
        </p:spPr>
      </p:pic>
      <p:sp>
        <p:nvSpPr>
          <p:cNvPr id="24" name="Text 17"/>
          <p:cNvSpPr/>
          <p:nvPr/>
        </p:nvSpPr>
        <p:spPr>
          <a:xfrm>
            <a:off x="1371600" y="4782312"/>
            <a:ext cx="4251960" cy="25603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Identification</a:t>
            </a:r>
            <a:endParaRPr lang="en-US" sz="1250" dirty="0"/>
          </a:p>
        </p:txBody>
      </p:sp>
      <p:sp>
        <p:nvSpPr>
          <p:cNvPr id="25" name="Text 18"/>
          <p:cNvSpPr/>
          <p:nvPr/>
        </p:nvSpPr>
        <p:spPr>
          <a:xfrm>
            <a:off x="1371600" y="5029200"/>
            <a:ext cx="4251960" cy="320040"/>
          </a:xfrm>
          <a:prstGeom prst="rect">
            <a:avLst/>
          </a:prstGeom>
          <a:noFill/>
          <a:ln/>
        </p:spPr>
        <p:txBody>
          <a:bodyPr wrap="square" lIns="0" tIns="0" rIns="0" bIns="0" rtlCol="0" anchor="ctr"/>
          <a:lstStyle/>
          <a:p>
            <a:pPr marL="0" indent="0">
              <a:buNone/>
            </a:pPr>
            <a:r>
              <a:rPr lang="en-US" sz="1050" dirty="0">
                <a:solidFill>
                  <a:srgbClr val="8FA3C7"/>
                </a:solidFill>
                <a:latin typeface="Calibri" pitchFamily="34" charset="0"/>
                <a:ea typeface="Calibri" pitchFamily="34" charset="-122"/>
                <a:cs typeface="Calibri" pitchFamily="34" charset="-120"/>
              </a:rPr>
              <a:t>Flag deadlocked processes when found.</a:t>
            </a:r>
            <a:endParaRPr lang="en-US" sz="1050" dirty="0"/>
          </a:p>
        </p:txBody>
      </p:sp>
      <p:sp>
        <p:nvSpPr>
          <p:cNvPr id="26" name="Shape 19"/>
          <p:cNvSpPr/>
          <p:nvPr/>
        </p:nvSpPr>
        <p:spPr>
          <a:xfrm>
            <a:off x="6263640" y="1554480"/>
            <a:ext cx="2551176" cy="2148840"/>
          </a:xfrm>
          <a:prstGeom prst="roundRect">
            <a:avLst>
              <a:gd name="adj" fmla="val 3404"/>
            </a:avLst>
          </a:prstGeom>
          <a:solidFill>
            <a:srgbClr val="1B3A63"/>
          </a:solidFill>
          <a:ln/>
          <a:effectLst>
            <a:outerShdw blurRad="101600" dist="38100" dir="5400000" algn="bl" rotWithShape="0">
              <a:srgbClr val="000000">
                <a:alpha val="35000"/>
              </a:srgbClr>
            </a:outerShdw>
          </a:effectLst>
        </p:spPr>
      </p:sp>
      <p:sp>
        <p:nvSpPr>
          <p:cNvPr id="27" name="Text 20"/>
          <p:cNvSpPr/>
          <p:nvPr/>
        </p:nvSpPr>
        <p:spPr>
          <a:xfrm>
            <a:off x="6492240" y="1719072"/>
            <a:ext cx="2093976" cy="274320"/>
          </a:xfrm>
          <a:prstGeom prst="rect">
            <a:avLst/>
          </a:prstGeom>
          <a:noFill/>
          <a:ln/>
        </p:spPr>
        <p:txBody>
          <a:bodyPr wrap="square" lIns="0" tIns="0" rIns="0" bIns="0" rtlCol="0" anchor="ctr"/>
          <a:lstStyle/>
          <a:p>
            <a:pPr marL="0" indent="0">
              <a:buNone/>
            </a:pPr>
            <a:r>
              <a:rPr lang="en-US" sz="1050" b="1" kern="0" spc="100" dirty="0">
                <a:solidFill>
                  <a:srgbClr val="F87171"/>
                </a:solidFill>
                <a:latin typeface="Calibri" pitchFamily="34" charset="0"/>
                <a:ea typeface="Calibri" pitchFamily="34" charset="-122"/>
                <a:cs typeface="Calibri" pitchFamily="34" charset="-120"/>
              </a:rPr>
              <a:t>BEFORE RECOVERY</a:t>
            </a:r>
            <a:endParaRPr lang="en-US" sz="1050" dirty="0"/>
          </a:p>
        </p:txBody>
      </p:sp>
      <p:sp>
        <p:nvSpPr>
          <p:cNvPr id="28" name="Shape 21"/>
          <p:cNvSpPr/>
          <p:nvPr/>
        </p:nvSpPr>
        <p:spPr>
          <a:xfrm>
            <a:off x="7219188" y="2468880"/>
            <a:ext cx="640080" cy="640080"/>
          </a:xfrm>
          <a:prstGeom prst="ellipse">
            <a:avLst/>
          </a:prstGeom>
          <a:solidFill>
            <a:srgbClr val="13294B"/>
          </a:solidFill>
          <a:ln/>
        </p:spPr>
      </p:sp>
      <p:pic>
        <p:nvPicPr>
          <p:cNvPr id="29" name="Image 5" descr="icons/lock_red.png"/>
          <p:cNvPicPr>
            <a:picLocks noChangeAspect="1"/>
          </p:cNvPicPr>
          <p:nvPr/>
        </p:nvPicPr>
        <p:blipFill>
          <a:blip r:embed="rId8"/>
          <a:stretch>
            <a:fillRect/>
          </a:stretch>
        </p:blipFill>
        <p:spPr>
          <a:xfrm>
            <a:off x="7383780" y="2633472"/>
            <a:ext cx="310896" cy="310896"/>
          </a:xfrm>
          <a:prstGeom prst="rect">
            <a:avLst/>
          </a:prstGeom>
        </p:spPr>
      </p:pic>
      <p:sp>
        <p:nvSpPr>
          <p:cNvPr id="30" name="Text 22"/>
          <p:cNvSpPr/>
          <p:nvPr/>
        </p:nvSpPr>
        <p:spPr>
          <a:xfrm>
            <a:off x="6446520" y="3246120"/>
            <a:ext cx="2185416" cy="411480"/>
          </a:xfrm>
          <a:prstGeom prst="rect">
            <a:avLst/>
          </a:prstGeom>
          <a:noFill/>
          <a:ln/>
        </p:spPr>
        <p:txBody>
          <a:bodyPr wrap="square" lIns="0" tIns="0" rIns="0" bIns="0" rtlCol="0" anchor="ctr"/>
          <a:lstStyle/>
          <a:p>
            <a:pPr marL="0" indent="0" algn="ctr">
              <a:lnSpc>
                <a:spcPct val="115000"/>
              </a:lnSpc>
              <a:buNone/>
            </a:pPr>
            <a:r>
              <a:rPr lang="en-US" sz="1050" dirty="0">
                <a:solidFill>
                  <a:srgbClr val="B9D4FF"/>
                </a:solidFill>
                <a:latin typeface="Calibri" pitchFamily="34" charset="0"/>
                <a:ea typeface="Calibri" pitchFamily="34" charset="-122"/>
                <a:cs typeface="Calibri" pitchFamily="34" charset="-120"/>
              </a:rPr>
              <a:t>P1 ⇄ P2 circular wait</a:t>
            </a:r>
            <a:endParaRPr lang="en-US" sz="1050" dirty="0"/>
          </a:p>
          <a:p>
            <a:pPr marL="0" indent="0" algn="ctr">
              <a:lnSpc>
                <a:spcPct val="115000"/>
              </a:lnSpc>
              <a:buNone/>
            </a:pPr>
            <a:r>
              <a:rPr lang="en-US" sz="1050" dirty="0">
                <a:solidFill>
                  <a:srgbClr val="B9D4FF"/>
                </a:solidFill>
                <a:latin typeface="Calibri" pitchFamily="34" charset="0"/>
                <a:ea typeface="Calibri" pitchFamily="34" charset="-122"/>
                <a:cs typeface="Calibri" pitchFamily="34" charset="-120"/>
              </a:rPr>
              <a:t>System stalled</a:t>
            </a:r>
            <a:endParaRPr lang="en-US" sz="1050" dirty="0"/>
          </a:p>
        </p:txBody>
      </p:sp>
      <p:sp>
        <p:nvSpPr>
          <p:cNvPr id="31" name="Shape 23"/>
          <p:cNvSpPr/>
          <p:nvPr/>
        </p:nvSpPr>
        <p:spPr>
          <a:xfrm>
            <a:off x="8833104" y="2468880"/>
            <a:ext cx="237744" cy="274320"/>
          </a:xfrm>
          <a:prstGeom prst="rightArrow">
            <a:avLst/>
          </a:prstGeom>
          <a:solidFill>
            <a:srgbClr val="38BDF8"/>
          </a:solidFill>
          <a:ln/>
        </p:spPr>
      </p:sp>
      <p:sp>
        <p:nvSpPr>
          <p:cNvPr id="32" name="Shape 24"/>
          <p:cNvSpPr/>
          <p:nvPr/>
        </p:nvSpPr>
        <p:spPr>
          <a:xfrm>
            <a:off x="9089136" y="1554480"/>
            <a:ext cx="2551176" cy="2148840"/>
          </a:xfrm>
          <a:prstGeom prst="roundRect">
            <a:avLst>
              <a:gd name="adj" fmla="val 3404"/>
            </a:avLst>
          </a:prstGeom>
          <a:solidFill>
            <a:srgbClr val="1B3A63"/>
          </a:solidFill>
          <a:ln/>
          <a:effectLst>
            <a:outerShdw blurRad="101600" dist="38100" dir="5400000" algn="bl" rotWithShape="0">
              <a:srgbClr val="000000">
                <a:alpha val="35000"/>
              </a:srgbClr>
            </a:outerShdw>
          </a:effectLst>
        </p:spPr>
      </p:sp>
      <p:sp>
        <p:nvSpPr>
          <p:cNvPr id="33" name="Text 25"/>
          <p:cNvSpPr/>
          <p:nvPr/>
        </p:nvSpPr>
        <p:spPr>
          <a:xfrm>
            <a:off x="9317736" y="1719072"/>
            <a:ext cx="2093976" cy="274320"/>
          </a:xfrm>
          <a:prstGeom prst="rect">
            <a:avLst/>
          </a:prstGeom>
          <a:noFill/>
          <a:ln/>
        </p:spPr>
        <p:txBody>
          <a:bodyPr wrap="square" lIns="0" tIns="0" rIns="0" bIns="0" rtlCol="0" anchor="ctr"/>
          <a:lstStyle/>
          <a:p>
            <a:pPr marL="0" indent="0">
              <a:buNone/>
            </a:pPr>
            <a:r>
              <a:rPr lang="en-US" sz="1050" b="1" kern="0" spc="100" dirty="0">
                <a:solidFill>
                  <a:srgbClr val="4ADE80"/>
                </a:solidFill>
                <a:latin typeface="Calibri" pitchFamily="34" charset="0"/>
                <a:ea typeface="Calibri" pitchFamily="34" charset="-122"/>
                <a:cs typeface="Calibri" pitchFamily="34" charset="-120"/>
              </a:rPr>
              <a:t>AFTER RECOVERY</a:t>
            </a:r>
            <a:endParaRPr lang="en-US" sz="1050" dirty="0"/>
          </a:p>
        </p:txBody>
      </p:sp>
      <p:sp>
        <p:nvSpPr>
          <p:cNvPr id="34" name="Shape 26"/>
          <p:cNvSpPr/>
          <p:nvPr/>
        </p:nvSpPr>
        <p:spPr>
          <a:xfrm>
            <a:off x="10044684" y="2468880"/>
            <a:ext cx="640080" cy="640080"/>
          </a:xfrm>
          <a:prstGeom prst="ellipse">
            <a:avLst/>
          </a:prstGeom>
          <a:solidFill>
            <a:srgbClr val="13294B"/>
          </a:solidFill>
          <a:ln/>
        </p:spPr>
      </p:sp>
      <p:pic>
        <p:nvPicPr>
          <p:cNvPr id="35" name="Image 6" descr="icons/unlock_green.png"/>
          <p:cNvPicPr>
            <a:picLocks noChangeAspect="1"/>
          </p:cNvPicPr>
          <p:nvPr/>
        </p:nvPicPr>
        <p:blipFill>
          <a:blip r:embed="rId9"/>
          <a:stretch>
            <a:fillRect/>
          </a:stretch>
        </p:blipFill>
        <p:spPr>
          <a:xfrm>
            <a:off x="10209276" y="2633472"/>
            <a:ext cx="310896" cy="310896"/>
          </a:xfrm>
          <a:prstGeom prst="rect">
            <a:avLst/>
          </a:prstGeom>
        </p:spPr>
      </p:pic>
      <p:sp>
        <p:nvSpPr>
          <p:cNvPr id="36" name="Text 27"/>
          <p:cNvSpPr/>
          <p:nvPr/>
        </p:nvSpPr>
        <p:spPr>
          <a:xfrm>
            <a:off x="9272016" y="3246120"/>
            <a:ext cx="2185416" cy="411480"/>
          </a:xfrm>
          <a:prstGeom prst="rect">
            <a:avLst/>
          </a:prstGeom>
          <a:noFill/>
          <a:ln/>
        </p:spPr>
        <p:txBody>
          <a:bodyPr wrap="square" lIns="0" tIns="0" rIns="0" bIns="0" rtlCol="0" anchor="ctr"/>
          <a:lstStyle/>
          <a:p>
            <a:pPr marL="0" indent="0" algn="ctr">
              <a:lnSpc>
                <a:spcPct val="115000"/>
              </a:lnSpc>
              <a:buNone/>
            </a:pPr>
            <a:r>
              <a:rPr lang="en-US" sz="1050" dirty="0">
                <a:solidFill>
                  <a:srgbClr val="B9D4FF"/>
                </a:solidFill>
                <a:latin typeface="Calibri" pitchFamily="34" charset="0"/>
                <a:ea typeface="Calibri" pitchFamily="34" charset="-122"/>
                <a:cs typeface="Calibri" pitchFamily="34" charset="-120"/>
              </a:rPr>
              <a:t>Resource released</a:t>
            </a:r>
            <a:endParaRPr lang="en-US" sz="1050" dirty="0"/>
          </a:p>
          <a:p>
            <a:pPr marL="0" indent="0" algn="ctr">
              <a:lnSpc>
                <a:spcPct val="115000"/>
              </a:lnSpc>
              <a:buNone/>
            </a:pPr>
            <a:r>
              <a:rPr lang="en-US" sz="1050" dirty="0">
                <a:solidFill>
                  <a:srgbClr val="B9D4FF"/>
                </a:solidFill>
                <a:latin typeface="Calibri" pitchFamily="34" charset="0"/>
                <a:ea typeface="Calibri" pitchFamily="34" charset="-122"/>
                <a:cs typeface="Calibri" pitchFamily="34" charset="-120"/>
              </a:rPr>
              <a:t>Execution resumes</a:t>
            </a:r>
            <a:endParaRPr lang="en-US" sz="1050" dirty="0"/>
          </a:p>
        </p:txBody>
      </p:sp>
      <p:sp>
        <p:nvSpPr>
          <p:cNvPr id="37" name="Shape 28"/>
          <p:cNvSpPr/>
          <p:nvPr/>
        </p:nvSpPr>
        <p:spPr>
          <a:xfrm>
            <a:off x="6263640" y="3886200"/>
            <a:ext cx="5376672" cy="2331720"/>
          </a:xfrm>
          <a:prstGeom prst="roundRect">
            <a:avLst>
              <a:gd name="adj" fmla="val 3137"/>
            </a:avLst>
          </a:prstGeom>
          <a:solidFill>
            <a:srgbClr val="13294B"/>
          </a:solidFill>
          <a:ln/>
          <a:effectLst>
            <a:outerShdw blurRad="101600" dist="38100" dir="5400000" algn="bl" rotWithShape="0">
              <a:srgbClr val="000000">
                <a:alpha val="35000"/>
              </a:srgbClr>
            </a:outerShdw>
          </a:effectLst>
        </p:spPr>
      </p:sp>
      <p:sp>
        <p:nvSpPr>
          <p:cNvPr id="38" name="Text 29"/>
          <p:cNvSpPr/>
          <p:nvPr/>
        </p:nvSpPr>
        <p:spPr>
          <a:xfrm>
            <a:off x="6583680" y="4069080"/>
            <a:ext cx="4736592" cy="274320"/>
          </a:xfrm>
          <a:prstGeom prst="rect">
            <a:avLst/>
          </a:prstGeom>
          <a:noFill/>
          <a:ln/>
        </p:spPr>
        <p:txBody>
          <a:bodyPr wrap="square" lIns="0" tIns="0" rIns="0" bIns="0" rtlCol="0" anchor="ctr"/>
          <a:lstStyle/>
          <a:p>
            <a:pPr marL="0" indent="0">
              <a:buNone/>
            </a:pPr>
            <a:r>
              <a:rPr lang="en-US" sz="1100" b="1" kern="0" spc="150" dirty="0">
                <a:solidFill>
                  <a:srgbClr val="38BDF8"/>
                </a:solidFill>
                <a:latin typeface="Calibri" pitchFamily="34" charset="0"/>
                <a:ea typeface="Calibri" pitchFamily="34" charset="-122"/>
                <a:cs typeface="Calibri" pitchFamily="34" charset="-120"/>
              </a:rPr>
              <a:t>RECOVERY STRATEGIES</a:t>
            </a:r>
            <a:endParaRPr lang="en-US" sz="1100" dirty="0"/>
          </a:p>
        </p:txBody>
      </p:sp>
      <p:sp>
        <p:nvSpPr>
          <p:cNvPr id="39" name="Shape 30"/>
          <p:cNvSpPr/>
          <p:nvPr/>
        </p:nvSpPr>
        <p:spPr>
          <a:xfrm>
            <a:off x="6652260" y="4640580"/>
            <a:ext cx="502920" cy="502920"/>
          </a:xfrm>
          <a:prstGeom prst="ellipse">
            <a:avLst/>
          </a:prstGeom>
          <a:solidFill>
            <a:srgbClr val="1B3A63"/>
          </a:solidFill>
          <a:ln/>
        </p:spPr>
      </p:sp>
      <p:pic>
        <p:nvPicPr>
          <p:cNvPr id="40" name="Image 7" descr="icons/unlock_cyan.png"/>
          <p:cNvPicPr>
            <a:picLocks noChangeAspect="1"/>
          </p:cNvPicPr>
          <p:nvPr/>
        </p:nvPicPr>
        <p:blipFill>
          <a:blip r:embed="rId5"/>
          <a:stretch>
            <a:fillRect/>
          </a:stretch>
        </p:blipFill>
        <p:spPr>
          <a:xfrm>
            <a:off x="6780276" y="4768596"/>
            <a:ext cx="246888" cy="246888"/>
          </a:xfrm>
          <a:prstGeom prst="rect">
            <a:avLst/>
          </a:prstGeom>
        </p:spPr>
      </p:pic>
      <p:sp>
        <p:nvSpPr>
          <p:cNvPr id="41" name="Text 31"/>
          <p:cNvSpPr/>
          <p:nvPr/>
        </p:nvSpPr>
        <p:spPr>
          <a:xfrm>
            <a:off x="7269480" y="4617720"/>
            <a:ext cx="4096512"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Release Resources</a:t>
            </a:r>
            <a:endParaRPr lang="en-US" sz="1250" dirty="0"/>
          </a:p>
        </p:txBody>
      </p:sp>
      <p:sp>
        <p:nvSpPr>
          <p:cNvPr id="42" name="Text 32"/>
          <p:cNvSpPr/>
          <p:nvPr/>
        </p:nvSpPr>
        <p:spPr>
          <a:xfrm>
            <a:off x="7269480" y="4892040"/>
            <a:ext cx="4096512" cy="365760"/>
          </a:xfrm>
          <a:prstGeom prst="rect">
            <a:avLst/>
          </a:prstGeom>
          <a:noFill/>
          <a:ln/>
        </p:spPr>
        <p:txBody>
          <a:bodyPr wrap="square" lIns="0" tIns="0" rIns="0" bIns="0" rtlCol="0" anchor="ctr"/>
          <a:lstStyle/>
          <a:p>
            <a:pPr marL="0" indent="0">
              <a:buNone/>
            </a:pPr>
            <a:r>
              <a:rPr lang="en-US" sz="1050" dirty="0">
                <a:solidFill>
                  <a:srgbClr val="B9D4FF"/>
                </a:solidFill>
                <a:latin typeface="Calibri" pitchFamily="34" charset="0"/>
                <a:ea typeface="Calibri" pitchFamily="34" charset="-122"/>
                <a:cs typeface="Calibri" pitchFamily="34" charset="-120"/>
              </a:rPr>
              <a:t>Force one process to give up a held resource, breaking the wait cycle.</a:t>
            </a:r>
            <a:endParaRPr lang="en-US" sz="1050" dirty="0"/>
          </a:p>
        </p:txBody>
      </p:sp>
      <p:sp>
        <p:nvSpPr>
          <p:cNvPr id="43" name="Shape 33"/>
          <p:cNvSpPr/>
          <p:nvPr/>
        </p:nvSpPr>
        <p:spPr>
          <a:xfrm>
            <a:off x="6652260" y="5463540"/>
            <a:ext cx="502920" cy="502920"/>
          </a:xfrm>
          <a:prstGeom prst="ellipse">
            <a:avLst/>
          </a:prstGeom>
          <a:solidFill>
            <a:srgbClr val="1B3A63"/>
          </a:solidFill>
          <a:ln/>
        </p:spPr>
      </p:sp>
      <p:pic>
        <p:nvPicPr>
          <p:cNvPr id="44" name="Image 8" descr="icons/x_red.png"/>
          <p:cNvPicPr>
            <a:picLocks noChangeAspect="1"/>
          </p:cNvPicPr>
          <p:nvPr/>
        </p:nvPicPr>
        <p:blipFill>
          <a:blip r:embed="rId10"/>
          <a:stretch>
            <a:fillRect/>
          </a:stretch>
        </p:blipFill>
        <p:spPr>
          <a:xfrm>
            <a:off x="6780276" y="5591556"/>
            <a:ext cx="246888" cy="246888"/>
          </a:xfrm>
          <a:prstGeom prst="rect">
            <a:avLst/>
          </a:prstGeom>
        </p:spPr>
      </p:pic>
      <p:sp>
        <p:nvSpPr>
          <p:cNvPr id="45" name="Text 34"/>
          <p:cNvSpPr/>
          <p:nvPr/>
        </p:nvSpPr>
        <p:spPr>
          <a:xfrm>
            <a:off x="7269480" y="5440680"/>
            <a:ext cx="4096512"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Terminate a Process</a:t>
            </a:r>
            <a:endParaRPr lang="en-US" sz="1250" dirty="0"/>
          </a:p>
        </p:txBody>
      </p:sp>
      <p:sp>
        <p:nvSpPr>
          <p:cNvPr id="46" name="Text 35"/>
          <p:cNvSpPr/>
          <p:nvPr/>
        </p:nvSpPr>
        <p:spPr>
          <a:xfrm>
            <a:off x="7269480" y="5715000"/>
            <a:ext cx="4096512" cy="365760"/>
          </a:xfrm>
          <a:prstGeom prst="rect">
            <a:avLst/>
          </a:prstGeom>
          <a:noFill/>
          <a:ln/>
        </p:spPr>
        <p:txBody>
          <a:bodyPr wrap="square" lIns="0" tIns="0" rIns="0" bIns="0" rtlCol="0" anchor="ctr"/>
          <a:lstStyle/>
          <a:p>
            <a:pPr marL="0" indent="0">
              <a:buNone/>
            </a:pPr>
            <a:r>
              <a:rPr lang="en-US" sz="1050" dirty="0">
                <a:solidFill>
                  <a:srgbClr val="B9D4FF"/>
                </a:solidFill>
                <a:latin typeface="Calibri" pitchFamily="34" charset="0"/>
                <a:ea typeface="Calibri" pitchFamily="34" charset="-122"/>
                <a:cs typeface="Calibri" pitchFamily="34" charset="-120"/>
              </a:rPr>
              <a:t>End a selected deadlocked process to free its resources for the others.</a:t>
            </a:r>
            <a:endParaRPr lang="en-US" sz="1050" dirty="0"/>
          </a:p>
        </p:txBody>
      </p:sp>
      <p:sp>
        <p:nvSpPr>
          <p:cNvPr id="47" name="Text 36"/>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8FA3C7"/>
                </a:solidFill>
                <a:latin typeface="Calibri" pitchFamily="34" charset="0"/>
                <a:ea typeface="Calibri" pitchFamily="34" charset="-122"/>
                <a:cs typeface="Calibri" pitchFamily="34" charset="-120"/>
              </a:rPr>
              <a:t>Linux Deadlock Detection and Resource Management System</a:t>
            </a:r>
            <a:endParaRPr lang="en-US" sz="900" dirty="0"/>
          </a:p>
        </p:txBody>
      </p:sp>
      <p:sp>
        <p:nvSpPr>
          <p:cNvPr id="48" name="Text 37"/>
          <p:cNvSpPr/>
          <p:nvPr/>
        </p:nvSpPr>
        <p:spPr>
          <a:xfrm>
            <a:off x="11457432" y="6510528"/>
            <a:ext cx="365760" cy="274320"/>
          </a:xfrm>
          <a:prstGeom prst="rect">
            <a:avLst/>
          </a:prstGeom>
          <a:noFill/>
          <a:ln/>
        </p:spPr>
        <p:txBody>
          <a:bodyPr wrap="square" lIns="0" tIns="0" rIns="0" bIns="0" rtlCol="0" anchor="ctr"/>
          <a:lstStyle/>
          <a:p>
            <a:pPr marL="0" indent="0" algn="r">
              <a:buNone/>
            </a:pPr>
            <a:r>
              <a:rPr lang="en-US" sz="900" dirty="0">
                <a:solidFill>
                  <a:srgbClr val="8FA3C7"/>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128"/>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marL="0" indent="0">
              <a:buNone/>
            </a:pPr>
            <a:r>
              <a:rPr lang="en-US" sz="1200" b="1" kern="0" spc="200" dirty="0">
                <a:solidFill>
                  <a:srgbClr val="38BDF8"/>
                </a:solidFill>
                <a:latin typeface="Calibri" pitchFamily="34" charset="0"/>
                <a:ea typeface="Calibri" pitchFamily="34" charset="-122"/>
                <a:cs typeface="Calibri" pitchFamily="34" charset="-120"/>
              </a:rPr>
              <a:t>FOUNDATIONS</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Linux / OS Concepts and APIs</a:t>
            </a:r>
            <a:endParaRPr lang="en-US" sz="3000" dirty="0"/>
          </a:p>
        </p:txBody>
      </p:sp>
      <p:sp>
        <p:nvSpPr>
          <p:cNvPr id="4" name="Shape 2"/>
          <p:cNvSpPr/>
          <p:nvPr/>
        </p:nvSpPr>
        <p:spPr>
          <a:xfrm>
            <a:off x="548640" y="1508760"/>
            <a:ext cx="11064240" cy="457200"/>
          </a:xfrm>
          <a:prstGeom prst="roundRect">
            <a:avLst>
              <a:gd name="adj" fmla="val 16000"/>
            </a:avLst>
          </a:prstGeom>
          <a:solidFill>
            <a:srgbClr val="1B3A63"/>
          </a:solidFill>
          <a:ln/>
        </p:spPr>
      </p:sp>
      <p:sp>
        <p:nvSpPr>
          <p:cNvPr id="5" name="Text 3"/>
          <p:cNvSpPr/>
          <p:nvPr/>
        </p:nvSpPr>
        <p:spPr>
          <a:xfrm>
            <a:off x="822960" y="1508760"/>
            <a:ext cx="3108960" cy="457200"/>
          </a:xfrm>
          <a:prstGeom prst="rect">
            <a:avLst/>
          </a:prstGeom>
          <a:noFill/>
          <a:ln/>
        </p:spPr>
        <p:txBody>
          <a:bodyPr wrap="square" lIns="0" tIns="0" rIns="0" bIns="0" rtlCol="0" anchor="ctr"/>
          <a:lstStyle/>
          <a:p>
            <a:pPr marL="0" indent="0">
              <a:buNone/>
            </a:pPr>
            <a:r>
              <a:rPr lang="en-US" sz="1100" b="1" dirty="0">
                <a:solidFill>
                  <a:srgbClr val="38BDF8"/>
                </a:solidFill>
                <a:latin typeface="Calibri" pitchFamily="34" charset="0"/>
                <a:ea typeface="Calibri" pitchFamily="34" charset="-122"/>
                <a:cs typeface="Calibri" pitchFamily="34" charset="-120"/>
              </a:rPr>
              <a:t>CONCEPT / API</a:t>
            </a:r>
            <a:endParaRPr lang="en-US" sz="1100" dirty="0"/>
          </a:p>
        </p:txBody>
      </p:sp>
      <p:sp>
        <p:nvSpPr>
          <p:cNvPr id="6" name="Text 4"/>
          <p:cNvSpPr/>
          <p:nvPr/>
        </p:nvSpPr>
        <p:spPr>
          <a:xfrm>
            <a:off x="3931920" y="1508760"/>
            <a:ext cx="6309360" cy="457200"/>
          </a:xfrm>
          <a:prstGeom prst="rect">
            <a:avLst/>
          </a:prstGeom>
          <a:noFill/>
          <a:ln/>
        </p:spPr>
        <p:txBody>
          <a:bodyPr wrap="square" lIns="0" tIns="0" rIns="0" bIns="0" rtlCol="0" anchor="ctr"/>
          <a:lstStyle/>
          <a:p>
            <a:pPr marL="0" indent="0">
              <a:buNone/>
            </a:pPr>
            <a:r>
              <a:rPr lang="en-US" sz="1100" b="1" dirty="0">
                <a:solidFill>
                  <a:srgbClr val="38BDF8"/>
                </a:solidFill>
                <a:latin typeface="Calibri" pitchFamily="34" charset="0"/>
                <a:ea typeface="Calibri" pitchFamily="34" charset="-122"/>
                <a:cs typeface="Calibri" pitchFamily="34" charset="-120"/>
              </a:rPr>
              <a:t>PURPOSE</a:t>
            </a:r>
            <a:endParaRPr lang="en-US" sz="1100" dirty="0"/>
          </a:p>
        </p:txBody>
      </p:sp>
      <p:sp>
        <p:nvSpPr>
          <p:cNvPr id="7" name="Text 5"/>
          <p:cNvSpPr/>
          <p:nvPr/>
        </p:nvSpPr>
        <p:spPr>
          <a:xfrm>
            <a:off x="10241280" y="1508760"/>
            <a:ext cx="1371600" cy="457200"/>
          </a:xfrm>
          <a:prstGeom prst="rect">
            <a:avLst/>
          </a:prstGeom>
          <a:noFill/>
          <a:ln/>
        </p:spPr>
        <p:txBody>
          <a:bodyPr wrap="square" lIns="0" tIns="0" rIns="0" bIns="0" rtlCol="0" anchor="ctr"/>
          <a:lstStyle/>
          <a:p>
            <a:pPr marL="0" indent="0" algn="ctr">
              <a:buNone/>
            </a:pPr>
            <a:r>
              <a:rPr lang="en-US" sz="1100" b="1" dirty="0">
                <a:solidFill>
                  <a:srgbClr val="38BDF8"/>
                </a:solidFill>
                <a:latin typeface="Calibri" pitchFamily="34" charset="0"/>
                <a:ea typeface="Calibri" pitchFamily="34" charset="-122"/>
                <a:cs typeface="Calibri" pitchFamily="34" charset="-120"/>
              </a:rPr>
              <a:t>STATUS</a:t>
            </a:r>
            <a:endParaRPr lang="en-US" sz="1100" dirty="0"/>
          </a:p>
        </p:txBody>
      </p:sp>
      <p:sp>
        <p:nvSpPr>
          <p:cNvPr id="8" name="Shape 6"/>
          <p:cNvSpPr/>
          <p:nvPr/>
        </p:nvSpPr>
        <p:spPr>
          <a:xfrm>
            <a:off x="548640" y="1965960"/>
            <a:ext cx="11064240" cy="566928"/>
          </a:xfrm>
          <a:prstGeom prst="rect">
            <a:avLst/>
          </a:prstGeom>
          <a:solidFill>
            <a:srgbClr val="13294B"/>
          </a:solidFill>
          <a:ln/>
        </p:spPr>
      </p:sp>
      <p:sp>
        <p:nvSpPr>
          <p:cNvPr id="9" name="Text 7"/>
          <p:cNvSpPr/>
          <p:nvPr/>
        </p:nvSpPr>
        <p:spPr>
          <a:xfrm>
            <a:off x="822960" y="1965960"/>
            <a:ext cx="3108960" cy="56692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Deadlock Detection</a:t>
            </a:r>
            <a:endParaRPr lang="en-US" sz="1200" dirty="0"/>
          </a:p>
        </p:txBody>
      </p:sp>
      <p:sp>
        <p:nvSpPr>
          <p:cNvPr id="10" name="Text 8"/>
          <p:cNvSpPr/>
          <p:nvPr/>
        </p:nvSpPr>
        <p:spPr>
          <a:xfrm>
            <a:off x="3931920" y="1965960"/>
            <a:ext cx="6126480" cy="566928"/>
          </a:xfrm>
          <a:prstGeom prst="rect">
            <a:avLst/>
          </a:prstGeom>
          <a:noFill/>
          <a:ln/>
        </p:spPr>
        <p:txBody>
          <a:bodyPr wrap="square" lIns="0" tIns="0" rIns="0" bIns="0" rtlCol="0" anchor="ctr"/>
          <a:lstStyle/>
          <a:p>
            <a:pPr marL="0" indent="0">
              <a:buNone/>
            </a:pPr>
            <a:r>
              <a:rPr lang="en-US" sz="1050" dirty="0">
                <a:solidFill>
                  <a:srgbClr val="B9D4FF"/>
                </a:solidFill>
                <a:latin typeface="Calibri" pitchFamily="34" charset="0"/>
                <a:ea typeface="Calibri" pitchFamily="34" charset="-122"/>
                <a:cs typeface="Calibri" pitchFamily="34" charset="-120"/>
              </a:rPr>
              <a:t>Core algorithm that analyzes allocation/request state to find deadlocks.</a:t>
            </a:r>
            <a:endParaRPr lang="en-US" sz="1050" dirty="0"/>
          </a:p>
        </p:txBody>
      </p:sp>
      <p:sp>
        <p:nvSpPr>
          <p:cNvPr id="11" name="Shape 9"/>
          <p:cNvSpPr/>
          <p:nvPr/>
        </p:nvSpPr>
        <p:spPr>
          <a:xfrm>
            <a:off x="10378440" y="2103120"/>
            <a:ext cx="1097280" cy="292608"/>
          </a:xfrm>
          <a:prstGeom prst="roundRect">
            <a:avLst>
              <a:gd name="adj" fmla="val 50000"/>
            </a:avLst>
          </a:prstGeom>
          <a:solidFill>
            <a:srgbClr val="1B3A63"/>
          </a:solidFill>
          <a:ln w="12700">
            <a:solidFill>
              <a:srgbClr val="4ADE80"/>
            </a:solidFill>
            <a:prstDash val="solid"/>
          </a:ln>
        </p:spPr>
      </p:sp>
      <p:sp>
        <p:nvSpPr>
          <p:cNvPr id="12" name="Text 10"/>
          <p:cNvSpPr/>
          <p:nvPr/>
        </p:nvSpPr>
        <p:spPr>
          <a:xfrm>
            <a:off x="10378440" y="2103120"/>
            <a:ext cx="1097280" cy="292608"/>
          </a:xfrm>
          <a:prstGeom prst="rect">
            <a:avLst/>
          </a:prstGeom>
          <a:noFill/>
          <a:ln/>
        </p:spPr>
        <p:txBody>
          <a:bodyPr wrap="square" lIns="0" tIns="0" rIns="0" bIns="0" rtlCol="0" anchor="ctr"/>
          <a:lstStyle/>
          <a:p>
            <a:pPr marL="0" indent="0" algn="ctr">
              <a:buNone/>
            </a:pPr>
            <a:r>
              <a:rPr lang="en-US" sz="850" b="1" kern="0" spc="100" dirty="0">
                <a:solidFill>
                  <a:srgbClr val="4ADE80"/>
                </a:solidFill>
                <a:latin typeface="Calibri" pitchFamily="34" charset="0"/>
                <a:ea typeface="Calibri" pitchFamily="34" charset="-122"/>
                <a:cs typeface="Calibri" pitchFamily="34" charset="-120"/>
              </a:rPr>
              <a:t>CORE</a:t>
            </a:r>
            <a:endParaRPr lang="en-US" sz="850" dirty="0"/>
          </a:p>
        </p:txBody>
      </p:sp>
      <p:sp>
        <p:nvSpPr>
          <p:cNvPr id="13" name="Shape 11"/>
          <p:cNvSpPr/>
          <p:nvPr/>
        </p:nvSpPr>
        <p:spPr>
          <a:xfrm>
            <a:off x="548640" y="2532888"/>
            <a:ext cx="11064240" cy="566928"/>
          </a:xfrm>
          <a:prstGeom prst="rect">
            <a:avLst/>
          </a:prstGeom>
          <a:solidFill>
            <a:srgbClr val="0A1128"/>
          </a:solidFill>
          <a:ln/>
        </p:spPr>
      </p:sp>
      <p:sp>
        <p:nvSpPr>
          <p:cNvPr id="14" name="Text 12"/>
          <p:cNvSpPr/>
          <p:nvPr/>
        </p:nvSpPr>
        <p:spPr>
          <a:xfrm>
            <a:off x="822960" y="2532888"/>
            <a:ext cx="3108960" cy="56692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Resource Allocation</a:t>
            </a:r>
            <a:endParaRPr lang="en-US" sz="1200" dirty="0"/>
          </a:p>
        </p:txBody>
      </p:sp>
      <p:sp>
        <p:nvSpPr>
          <p:cNvPr id="15" name="Text 13"/>
          <p:cNvSpPr/>
          <p:nvPr/>
        </p:nvSpPr>
        <p:spPr>
          <a:xfrm>
            <a:off x="3931920" y="2532888"/>
            <a:ext cx="6126480" cy="566928"/>
          </a:xfrm>
          <a:prstGeom prst="rect">
            <a:avLst/>
          </a:prstGeom>
          <a:noFill/>
          <a:ln/>
        </p:spPr>
        <p:txBody>
          <a:bodyPr wrap="square" lIns="0" tIns="0" rIns="0" bIns="0" rtlCol="0" anchor="ctr"/>
          <a:lstStyle/>
          <a:p>
            <a:pPr marL="0" indent="0">
              <a:buNone/>
            </a:pPr>
            <a:r>
              <a:rPr lang="en-US" sz="1050" dirty="0">
                <a:solidFill>
                  <a:srgbClr val="B9D4FF"/>
                </a:solidFill>
                <a:latin typeface="Calibri" pitchFamily="34" charset="0"/>
                <a:ea typeface="Calibri" pitchFamily="34" charset="-122"/>
                <a:cs typeface="Calibri" pitchFamily="34" charset="-120"/>
              </a:rPr>
              <a:t>Assigns and tracks resources granted to each process.</a:t>
            </a:r>
            <a:endParaRPr lang="en-US" sz="1050" dirty="0"/>
          </a:p>
        </p:txBody>
      </p:sp>
      <p:sp>
        <p:nvSpPr>
          <p:cNvPr id="16" name="Shape 14"/>
          <p:cNvSpPr/>
          <p:nvPr/>
        </p:nvSpPr>
        <p:spPr>
          <a:xfrm>
            <a:off x="10378440" y="2670048"/>
            <a:ext cx="1097280" cy="292608"/>
          </a:xfrm>
          <a:prstGeom prst="roundRect">
            <a:avLst>
              <a:gd name="adj" fmla="val 50000"/>
            </a:avLst>
          </a:prstGeom>
          <a:solidFill>
            <a:srgbClr val="1B3A63"/>
          </a:solidFill>
          <a:ln w="12700">
            <a:solidFill>
              <a:srgbClr val="4ADE80"/>
            </a:solidFill>
            <a:prstDash val="solid"/>
          </a:ln>
        </p:spPr>
      </p:sp>
      <p:sp>
        <p:nvSpPr>
          <p:cNvPr id="17" name="Text 15"/>
          <p:cNvSpPr/>
          <p:nvPr/>
        </p:nvSpPr>
        <p:spPr>
          <a:xfrm>
            <a:off x="10378440" y="2670048"/>
            <a:ext cx="1097280" cy="292608"/>
          </a:xfrm>
          <a:prstGeom prst="rect">
            <a:avLst/>
          </a:prstGeom>
          <a:noFill/>
          <a:ln/>
        </p:spPr>
        <p:txBody>
          <a:bodyPr wrap="square" lIns="0" tIns="0" rIns="0" bIns="0" rtlCol="0" anchor="ctr"/>
          <a:lstStyle/>
          <a:p>
            <a:pPr marL="0" indent="0" algn="ctr">
              <a:buNone/>
            </a:pPr>
            <a:r>
              <a:rPr lang="en-US" sz="850" b="1" kern="0" spc="100" dirty="0">
                <a:solidFill>
                  <a:srgbClr val="4ADE80"/>
                </a:solidFill>
                <a:latin typeface="Calibri" pitchFamily="34" charset="0"/>
                <a:ea typeface="Calibri" pitchFamily="34" charset="-122"/>
                <a:cs typeface="Calibri" pitchFamily="34" charset="-120"/>
              </a:rPr>
              <a:t>CORE</a:t>
            </a:r>
            <a:endParaRPr lang="en-US" sz="850" dirty="0"/>
          </a:p>
        </p:txBody>
      </p:sp>
      <p:sp>
        <p:nvSpPr>
          <p:cNvPr id="18" name="Shape 16"/>
          <p:cNvSpPr/>
          <p:nvPr/>
        </p:nvSpPr>
        <p:spPr>
          <a:xfrm>
            <a:off x="548640" y="3099816"/>
            <a:ext cx="11064240" cy="566928"/>
          </a:xfrm>
          <a:prstGeom prst="rect">
            <a:avLst/>
          </a:prstGeom>
          <a:solidFill>
            <a:srgbClr val="13294B"/>
          </a:solidFill>
          <a:ln/>
        </p:spPr>
      </p:sp>
      <p:sp>
        <p:nvSpPr>
          <p:cNvPr id="19" name="Text 17"/>
          <p:cNvSpPr/>
          <p:nvPr/>
        </p:nvSpPr>
        <p:spPr>
          <a:xfrm>
            <a:off x="822960" y="3099816"/>
            <a:ext cx="3108960" cy="56692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Resource Allocation Graph</a:t>
            </a:r>
            <a:endParaRPr lang="en-US" sz="1200" dirty="0"/>
          </a:p>
        </p:txBody>
      </p:sp>
      <p:sp>
        <p:nvSpPr>
          <p:cNvPr id="20" name="Text 18"/>
          <p:cNvSpPr/>
          <p:nvPr/>
        </p:nvSpPr>
        <p:spPr>
          <a:xfrm>
            <a:off x="3931920" y="3099816"/>
            <a:ext cx="6126480" cy="566928"/>
          </a:xfrm>
          <a:prstGeom prst="rect">
            <a:avLst/>
          </a:prstGeom>
          <a:noFill/>
          <a:ln/>
        </p:spPr>
        <p:txBody>
          <a:bodyPr wrap="square" lIns="0" tIns="0" rIns="0" bIns="0" rtlCol="0" anchor="ctr"/>
          <a:lstStyle/>
          <a:p>
            <a:pPr marL="0" indent="0">
              <a:buNone/>
            </a:pPr>
            <a:r>
              <a:rPr lang="en-US" sz="1050" dirty="0">
                <a:solidFill>
                  <a:srgbClr val="B9D4FF"/>
                </a:solidFill>
                <a:latin typeface="Calibri" pitchFamily="34" charset="0"/>
                <a:ea typeface="Calibri" pitchFamily="34" charset="-122"/>
                <a:cs typeface="Calibri" pitchFamily="34" charset="-120"/>
              </a:rPr>
              <a:t>Models processes and resources as nodes to visualize wait cycles.</a:t>
            </a:r>
            <a:endParaRPr lang="en-US" sz="1050" dirty="0"/>
          </a:p>
        </p:txBody>
      </p:sp>
      <p:sp>
        <p:nvSpPr>
          <p:cNvPr id="21" name="Shape 19"/>
          <p:cNvSpPr/>
          <p:nvPr/>
        </p:nvSpPr>
        <p:spPr>
          <a:xfrm>
            <a:off x="10378440" y="3236976"/>
            <a:ext cx="1097280" cy="292608"/>
          </a:xfrm>
          <a:prstGeom prst="roundRect">
            <a:avLst>
              <a:gd name="adj" fmla="val 50000"/>
            </a:avLst>
          </a:prstGeom>
          <a:solidFill>
            <a:srgbClr val="1B3A63"/>
          </a:solidFill>
          <a:ln w="12700">
            <a:solidFill>
              <a:srgbClr val="4ADE80"/>
            </a:solidFill>
            <a:prstDash val="solid"/>
          </a:ln>
        </p:spPr>
      </p:sp>
      <p:sp>
        <p:nvSpPr>
          <p:cNvPr id="22" name="Text 20"/>
          <p:cNvSpPr/>
          <p:nvPr/>
        </p:nvSpPr>
        <p:spPr>
          <a:xfrm>
            <a:off x="10378440" y="3236976"/>
            <a:ext cx="1097280" cy="292608"/>
          </a:xfrm>
          <a:prstGeom prst="rect">
            <a:avLst/>
          </a:prstGeom>
          <a:noFill/>
          <a:ln/>
        </p:spPr>
        <p:txBody>
          <a:bodyPr wrap="square" lIns="0" tIns="0" rIns="0" bIns="0" rtlCol="0" anchor="ctr"/>
          <a:lstStyle/>
          <a:p>
            <a:pPr marL="0" indent="0" algn="ctr">
              <a:buNone/>
            </a:pPr>
            <a:r>
              <a:rPr lang="en-US" sz="850" b="1" kern="0" spc="100" dirty="0">
                <a:solidFill>
                  <a:srgbClr val="4ADE80"/>
                </a:solidFill>
                <a:latin typeface="Calibri" pitchFamily="34" charset="0"/>
                <a:ea typeface="Calibri" pitchFamily="34" charset="-122"/>
                <a:cs typeface="Calibri" pitchFamily="34" charset="-120"/>
              </a:rPr>
              <a:t>CORE</a:t>
            </a:r>
            <a:endParaRPr lang="en-US" sz="850" dirty="0"/>
          </a:p>
        </p:txBody>
      </p:sp>
      <p:sp>
        <p:nvSpPr>
          <p:cNvPr id="23" name="Shape 21"/>
          <p:cNvSpPr/>
          <p:nvPr/>
        </p:nvSpPr>
        <p:spPr>
          <a:xfrm>
            <a:off x="548640" y="3666744"/>
            <a:ext cx="11064240" cy="566928"/>
          </a:xfrm>
          <a:prstGeom prst="rect">
            <a:avLst/>
          </a:prstGeom>
          <a:solidFill>
            <a:srgbClr val="0A1128"/>
          </a:solidFill>
          <a:ln/>
        </p:spPr>
      </p:sp>
      <p:sp>
        <p:nvSpPr>
          <p:cNvPr id="24" name="Text 22"/>
          <p:cNvSpPr/>
          <p:nvPr/>
        </p:nvSpPr>
        <p:spPr>
          <a:xfrm>
            <a:off x="822960" y="3666744"/>
            <a:ext cx="3108960" cy="56692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Banker's Algorithm / Safety Check</a:t>
            </a:r>
            <a:endParaRPr lang="en-US" sz="1200" dirty="0"/>
          </a:p>
        </p:txBody>
      </p:sp>
      <p:sp>
        <p:nvSpPr>
          <p:cNvPr id="25" name="Text 23"/>
          <p:cNvSpPr/>
          <p:nvPr/>
        </p:nvSpPr>
        <p:spPr>
          <a:xfrm>
            <a:off x="3931920" y="3666744"/>
            <a:ext cx="6126480" cy="566928"/>
          </a:xfrm>
          <a:prstGeom prst="rect">
            <a:avLst/>
          </a:prstGeom>
          <a:noFill/>
          <a:ln/>
        </p:spPr>
        <p:txBody>
          <a:bodyPr wrap="square" lIns="0" tIns="0" rIns="0" bIns="0" rtlCol="0" anchor="ctr"/>
          <a:lstStyle/>
          <a:p>
            <a:pPr marL="0" indent="0">
              <a:buNone/>
            </a:pPr>
            <a:r>
              <a:rPr lang="en-US" sz="1050" dirty="0">
                <a:solidFill>
                  <a:srgbClr val="B9D4FF"/>
                </a:solidFill>
                <a:latin typeface="Calibri" pitchFamily="34" charset="0"/>
                <a:ea typeface="Calibri" pitchFamily="34" charset="-122"/>
                <a:cs typeface="Calibri" pitchFamily="34" charset="-120"/>
              </a:rPr>
              <a:t>Conceptual reference for evaluating whether a state is safe.</a:t>
            </a:r>
            <a:endParaRPr lang="en-US" sz="1050" dirty="0"/>
          </a:p>
        </p:txBody>
      </p:sp>
      <p:sp>
        <p:nvSpPr>
          <p:cNvPr id="26" name="Shape 24"/>
          <p:cNvSpPr/>
          <p:nvPr/>
        </p:nvSpPr>
        <p:spPr>
          <a:xfrm>
            <a:off x="10378440" y="3803904"/>
            <a:ext cx="1097280" cy="292608"/>
          </a:xfrm>
          <a:prstGeom prst="roundRect">
            <a:avLst>
              <a:gd name="adj" fmla="val 50000"/>
            </a:avLst>
          </a:prstGeom>
          <a:solidFill>
            <a:srgbClr val="1B3A63"/>
          </a:solidFill>
          <a:ln w="12700">
            <a:solidFill>
              <a:srgbClr val="FBBF24"/>
            </a:solidFill>
            <a:prstDash val="solid"/>
          </a:ln>
        </p:spPr>
      </p:sp>
      <p:sp>
        <p:nvSpPr>
          <p:cNvPr id="27" name="Text 25"/>
          <p:cNvSpPr/>
          <p:nvPr/>
        </p:nvSpPr>
        <p:spPr>
          <a:xfrm>
            <a:off x="10378440" y="3803904"/>
            <a:ext cx="1097280" cy="292608"/>
          </a:xfrm>
          <a:prstGeom prst="rect">
            <a:avLst/>
          </a:prstGeom>
          <a:noFill/>
          <a:ln/>
        </p:spPr>
        <p:txBody>
          <a:bodyPr wrap="square" lIns="0" tIns="0" rIns="0" bIns="0" rtlCol="0" anchor="ctr"/>
          <a:lstStyle/>
          <a:p>
            <a:pPr marL="0" indent="0" algn="ctr">
              <a:buNone/>
            </a:pPr>
            <a:r>
              <a:rPr lang="en-US" sz="850" b="1" kern="0" spc="100" dirty="0">
                <a:solidFill>
                  <a:srgbClr val="FBBF24"/>
                </a:solidFill>
                <a:latin typeface="Calibri" pitchFamily="34" charset="0"/>
                <a:ea typeface="Calibri" pitchFamily="34" charset="-122"/>
                <a:cs typeface="Calibri" pitchFamily="34" charset="-120"/>
              </a:rPr>
              <a:t>OPTIONAL</a:t>
            </a:r>
            <a:endParaRPr lang="en-US" sz="850" dirty="0"/>
          </a:p>
        </p:txBody>
      </p:sp>
      <p:sp>
        <p:nvSpPr>
          <p:cNvPr id="28" name="Shape 26"/>
          <p:cNvSpPr/>
          <p:nvPr/>
        </p:nvSpPr>
        <p:spPr>
          <a:xfrm>
            <a:off x="548640" y="4233672"/>
            <a:ext cx="11064240" cy="566928"/>
          </a:xfrm>
          <a:prstGeom prst="rect">
            <a:avLst/>
          </a:prstGeom>
          <a:solidFill>
            <a:srgbClr val="13294B"/>
          </a:solidFill>
          <a:ln/>
        </p:spPr>
      </p:sp>
      <p:sp>
        <p:nvSpPr>
          <p:cNvPr id="29" name="Text 27"/>
          <p:cNvSpPr/>
          <p:nvPr/>
        </p:nvSpPr>
        <p:spPr>
          <a:xfrm>
            <a:off x="822960" y="4233672"/>
            <a:ext cx="3108960" cy="56692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fork()</a:t>
            </a:r>
            <a:endParaRPr lang="en-US" sz="1200" dirty="0"/>
          </a:p>
        </p:txBody>
      </p:sp>
      <p:sp>
        <p:nvSpPr>
          <p:cNvPr id="30" name="Text 28"/>
          <p:cNvSpPr/>
          <p:nvPr/>
        </p:nvSpPr>
        <p:spPr>
          <a:xfrm>
            <a:off x="3931920" y="4233672"/>
            <a:ext cx="6126480" cy="566928"/>
          </a:xfrm>
          <a:prstGeom prst="rect">
            <a:avLst/>
          </a:prstGeom>
          <a:noFill/>
          <a:ln/>
        </p:spPr>
        <p:txBody>
          <a:bodyPr wrap="square" lIns="0" tIns="0" rIns="0" bIns="0" rtlCol="0" anchor="ctr"/>
          <a:lstStyle/>
          <a:p>
            <a:pPr marL="0" indent="0">
              <a:buNone/>
            </a:pPr>
            <a:r>
              <a:rPr lang="en-US" sz="1050" dirty="0">
                <a:solidFill>
                  <a:srgbClr val="B9D4FF"/>
                </a:solidFill>
                <a:latin typeface="Calibri" pitchFamily="34" charset="0"/>
                <a:ea typeface="Calibri" pitchFamily="34" charset="-122"/>
                <a:cs typeface="Calibri" pitchFamily="34" charset="-120"/>
              </a:rPr>
              <a:t>Creates a new process to represent a simulated process entity.</a:t>
            </a:r>
            <a:endParaRPr lang="en-US" sz="1050" dirty="0"/>
          </a:p>
        </p:txBody>
      </p:sp>
      <p:sp>
        <p:nvSpPr>
          <p:cNvPr id="31" name="Shape 29"/>
          <p:cNvSpPr/>
          <p:nvPr/>
        </p:nvSpPr>
        <p:spPr>
          <a:xfrm>
            <a:off x="10378440" y="4370832"/>
            <a:ext cx="1097280" cy="292608"/>
          </a:xfrm>
          <a:prstGeom prst="roundRect">
            <a:avLst>
              <a:gd name="adj" fmla="val 50000"/>
            </a:avLst>
          </a:prstGeom>
          <a:solidFill>
            <a:srgbClr val="1B3A63"/>
          </a:solidFill>
          <a:ln w="12700">
            <a:solidFill>
              <a:srgbClr val="B9D4FF"/>
            </a:solidFill>
            <a:prstDash val="solid"/>
          </a:ln>
        </p:spPr>
      </p:sp>
      <p:sp>
        <p:nvSpPr>
          <p:cNvPr id="32" name="Text 30"/>
          <p:cNvSpPr/>
          <p:nvPr/>
        </p:nvSpPr>
        <p:spPr>
          <a:xfrm>
            <a:off x="10378440" y="4370832"/>
            <a:ext cx="1097280" cy="292608"/>
          </a:xfrm>
          <a:prstGeom prst="rect">
            <a:avLst/>
          </a:prstGeom>
          <a:noFill/>
          <a:ln/>
        </p:spPr>
        <p:txBody>
          <a:bodyPr wrap="square" lIns="0" tIns="0" rIns="0" bIns="0" rtlCol="0" anchor="ctr"/>
          <a:lstStyle/>
          <a:p>
            <a:pPr marL="0" indent="0" algn="ctr">
              <a:buNone/>
            </a:pPr>
            <a:r>
              <a:rPr lang="en-US" sz="850" b="1" kern="0" spc="100" dirty="0">
                <a:solidFill>
                  <a:srgbClr val="B9D4FF"/>
                </a:solidFill>
                <a:latin typeface="Calibri" pitchFamily="34" charset="0"/>
                <a:ea typeface="Calibri" pitchFamily="34" charset="-122"/>
                <a:cs typeface="Calibri" pitchFamily="34" charset="-120"/>
              </a:rPr>
              <a:t>PLANNED</a:t>
            </a:r>
            <a:endParaRPr lang="en-US" sz="850" dirty="0"/>
          </a:p>
        </p:txBody>
      </p:sp>
      <p:sp>
        <p:nvSpPr>
          <p:cNvPr id="33" name="Shape 31"/>
          <p:cNvSpPr/>
          <p:nvPr/>
        </p:nvSpPr>
        <p:spPr>
          <a:xfrm>
            <a:off x="548640" y="4800600"/>
            <a:ext cx="11064240" cy="566928"/>
          </a:xfrm>
          <a:prstGeom prst="rect">
            <a:avLst/>
          </a:prstGeom>
          <a:solidFill>
            <a:srgbClr val="0A1128"/>
          </a:solidFill>
          <a:ln/>
        </p:spPr>
      </p:sp>
      <p:sp>
        <p:nvSpPr>
          <p:cNvPr id="34" name="Text 32"/>
          <p:cNvSpPr/>
          <p:nvPr/>
        </p:nvSpPr>
        <p:spPr>
          <a:xfrm>
            <a:off x="822960" y="4800600"/>
            <a:ext cx="3108960" cy="56692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wait() / waitpid()</a:t>
            </a:r>
            <a:endParaRPr lang="en-US" sz="1200" dirty="0"/>
          </a:p>
        </p:txBody>
      </p:sp>
      <p:sp>
        <p:nvSpPr>
          <p:cNvPr id="35" name="Text 33"/>
          <p:cNvSpPr/>
          <p:nvPr/>
        </p:nvSpPr>
        <p:spPr>
          <a:xfrm>
            <a:off x="3931920" y="4800600"/>
            <a:ext cx="6126480" cy="566928"/>
          </a:xfrm>
          <a:prstGeom prst="rect">
            <a:avLst/>
          </a:prstGeom>
          <a:noFill/>
          <a:ln/>
        </p:spPr>
        <p:txBody>
          <a:bodyPr wrap="square" lIns="0" tIns="0" rIns="0" bIns="0" rtlCol="0" anchor="ctr"/>
          <a:lstStyle/>
          <a:p>
            <a:pPr marL="0" indent="0">
              <a:buNone/>
            </a:pPr>
            <a:r>
              <a:rPr lang="en-US" sz="1050" dirty="0">
                <a:solidFill>
                  <a:srgbClr val="B9D4FF"/>
                </a:solidFill>
                <a:latin typeface="Calibri" pitchFamily="34" charset="0"/>
                <a:ea typeface="Calibri" pitchFamily="34" charset="-122"/>
                <a:cs typeface="Calibri" pitchFamily="34" charset="-120"/>
              </a:rPr>
              <a:t>Lets a parent process wait for a child process to finish.</a:t>
            </a:r>
            <a:endParaRPr lang="en-US" sz="1050" dirty="0"/>
          </a:p>
        </p:txBody>
      </p:sp>
      <p:sp>
        <p:nvSpPr>
          <p:cNvPr id="36" name="Shape 34"/>
          <p:cNvSpPr/>
          <p:nvPr/>
        </p:nvSpPr>
        <p:spPr>
          <a:xfrm>
            <a:off x="10378440" y="4937760"/>
            <a:ext cx="1097280" cy="292608"/>
          </a:xfrm>
          <a:prstGeom prst="roundRect">
            <a:avLst>
              <a:gd name="adj" fmla="val 50000"/>
            </a:avLst>
          </a:prstGeom>
          <a:solidFill>
            <a:srgbClr val="1B3A63"/>
          </a:solidFill>
          <a:ln w="12700">
            <a:solidFill>
              <a:srgbClr val="B9D4FF"/>
            </a:solidFill>
            <a:prstDash val="solid"/>
          </a:ln>
        </p:spPr>
      </p:sp>
      <p:sp>
        <p:nvSpPr>
          <p:cNvPr id="37" name="Text 35"/>
          <p:cNvSpPr/>
          <p:nvPr/>
        </p:nvSpPr>
        <p:spPr>
          <a:xfrm>
            <a:off x="10378440" y="4937760"/>
            <a:ext cx="1097280" cy="292608"/>
          </a:xfrm>
          <a:prstGeom prst="rect">
            <a:avLst/>
          </a:prstGeom>
          <a:noFill/>
          <a:ln/>
        </p:spPr>
        <p:txBody>
          <a:bodyPr wrap="square" lIns="0" tIns="0" rIns="0" bIns="0" rtlCol="0" anchor="ctr"/>
          <a:lstStyle/>
          <a:p>
            <a:pPr marL="0" indent="0" algn="ctr">
              <a:buNone/>
            </a:pPr>
            <a:r>
              <a:rPr lang="en-US" sz="850" b="1" kern="0" spc="100" dirty="0">
                <a:solidFill>
                  <a:srgbClr val="B9D4FF"/>
                </a:solidFill>
                <a:latin typeface="Calibri" pitchFamily="34" charset="0"/>
                <a:ea typeface="Calibri" pitchFamily="34" charset="-122"/>
                <a:cs typeface="Calibri" pitchFamily="34" charset="-120"/>
              </a:rPr>
              <a:t>PLANNED</a:t>
            </a:r>
            <a:endParaRPr lang="en-US" sz="850" dirty="0"/>
          </a:p>
        </p:txBody>
      </p:sp>
      <p:sp>
        <p:nvSpPr>
          <p:cNvPr id="38" name="Shape 36"/>
          <p:cNvSpPr/>
          <p:nvPr/>
        </p:nvSpPr>
        <p:spPr>
          <a:xfrm>
            <a:off x="548640" y="5367528"/>
            <a:ext cx="11064240" cy="566928"/>
          </a:xfrm>
          <a:prstGeom prst="rect">
            <a:avLst/>
          </a:prstGeom>
          <a:solidFill>
            <a:srgbClr val="13294B"/>
          </a:solidFill>
          <a:ln/>
        </p:spPr>
      </p:sp>
      <p:sp>
        <p:nvSpPr>
          <p:cNvPr id="39" name="Text 37"/>
          <p:cNvSpPr/>
          <p:nvPr/>
        </p:nvSpPr>
        <p:spPr>
          <a:xfrm>
            <a:off x="822960" y="5367528"/>
            <a:ext cx="3108960" cy="56692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kill()</a:t>
            </a:r>
            <a:endParaRPr lang="en-US" sz="1200" dirty="0"/>
          </a:p>
        </p:txBody>
      </p:sp>
      <p:sp>
        <p:nvSpPr>
          <p:cNvPr id="40" name="Text 38"/>
          <p:cNvSpPr/>
          <p:nvPr/>
        </p:nvSpPr>
        <p:spPr>
          <a:xfrm>
            <a:off x="3931920" y="5367528"/>
            <a:ext cx="6126480" cy="566928"/>
          </a:xfrm>
          <a:prstGeom prst="rect">
            <a:avLst/>
          </a:prstGeom>
          <a:noFill/>
          <a:ln/>
        </p:spPr>
        <p:txBody>
          <a:bodyPr wrap="square" lIns="0" tIns="0" rIns="0" bIns="0" rtlCol="0" anchor="ctr"/>
          <a:lstStyle/>
          <a:p>
            <a:pPr marL="0" indent="0">
              <a:buNone/>
            </a:pPr>
            <a:r>
              <a:rPr lang="en-US" sz="1050" dirty="0">
                <a:solidFill>
                  <a:srgbClr val="B9D4FF"/>
                </a:solidFill>
                <a:latin typeface="Calibri" pitchFamily="34" charset="0"/>
                <a:ea typeface="Calibri" pitchFamily="34" charset="-122"/>
                <a:cs typeface="Calibri" pitchFamily="34" charset="-120"/>
              </a:rPr>
              <a:t>Sends a signal to terminate a process during recovery.</a:t>
            </a:r>
            <a:endParaRPr lang="en-US" sz="1050" dirty="0"/>
          </a:p>
        </p:txBody>
      </p:sp>
      <p:sp>
        <p:nvSpPr>
          <p:cNvPr id="41" name="Shape 39"/>
          <p:cNvSpPr/>
          <p:nvPr/>
        </p:nvSpPr>
        <p:spPr>
          <a:xfrm>
            <a:off x="10378440" y="5504688"/>
            <a:ext cx="1097280" cy="292608"/>
          </a:xfrm>
          <a:prstGeom prst="roundRect">
            <a:avLst>
              <a:gd name="adj" fmla="val 50000"/>
            </a:avLst>
          </a:prstGeom>
          <a:solidFill>
            <a:srgbClr val="1B3A63"/>
          </a:solidFill>
          <a:ln w="12700">
            <a:solidFill>
              <a:srgbClr val="B9D4FF"/>
            </a:solidFill>
            <a:prstDash val="solid"/>
          </a:ln>
        </p:spPr>
      </p:sp>
      <p:sp>
        <p:nvSpPr>
          <p:cNvPr id="42" name="Text 40"/>
          <p:cNvSpPr/>
          <p:nvPr/>
        </p:nvSpPr>
        <p:spPr>
          <a:xfrm>
            <a:off x="10378440" y="5504688"/>
            <a:ext cx="1097280" cy="292608"/>
          </a:xfrm>
          <a:prstGeom prst="rect">
            <a:avLst/>
          </a:prstGeom>
          <a:noFill/>
          <a:ln/>
        </p:spPr>
        <p:txBody>
          <a:bodyPr wrap="square" lIns="0" tIns="0" rIns="0" bIns="0" rtlCol="0" anchor="ctr"/>
          <a:lstStyle/>
          <a:p>
            <a:pPr marL="0" indent="0" algn="ctr">
              <a:buNone/>
            </a:pPr>
            <a:r>
              <a:rPr lang="en-US" sz="850" b="1" kern="0" spc="100" dirty="0">
                <a:solidFill>
                  <a:srgbClr val="B9D4FF"/>
                </a:solidFill>
                <a:latin typeface="Calibri" pitchFamily="34" charset="0"/>
                <a:ea typeface="Calibri" pitchFamily="34" charset="-122"/>
                <a:cs typeface="Calibri" pitchFamily="34" charset="-120"/>
              </a:rPr>
              <a:t>PLANNED</a:t>
            </a:r>
            <a:endParaRPr lang="en-US" sz="850" dirty="0"/>
          </a:p>
        </p:txBody>
      </p:sp>
      <p:sp>
        <p:nvSpPr>
          <p:cNvPr id="43" name="Text 41"/>
          <p:cNvSpPr/>
          <p:nvPr/>
        </p:nvSpPr>
        <p:spPr>
          <a:xfrm>
            <a:off x="548640" y="6071616"/>
            <a:ext cx="11064240" cy="320040"/>
          </a:xfrm>
          <a:prstGeom prst="rect">
            <a:avLst/>
          </a:prstGeom>
          <a:noFill/>
          <a:ln/>
        </p:spPr>
        <p:txBody>
          <a:bodyPr wrap="square" lIns="0" tIns="0" rIns="0" bIns="0" rtlCol="0" anchor="ctr"/>
          <a:lstStyle/>
          <a:p>
            <a:pPr marL="0" indent="0">
              <a:buNone/>
            </a:pPr>
            <a:r>
              <a:rPr lang="en-US" sz="950" i="1" dirty="0">
                <a:solidFill>
                  <a:srgbClr val="8FA3C7"/>
                </a:solidFill>
                <a:latin typeface="Calibri" pitchFamily="34" charset="0"/>
                <a:ea typeface="Calibri" pitchFamily="34" charset="-122"/>
                <a:cs typeface="Calibri" pitchFamily="34" charset="-120"/>
              </a:rPr>
              <a:t>CORE = implemented in the project.  OPTIONAL = conceptual reference only.  PLANNED = considered for the Linux-based implementation.</a:t>
            </a:r>
            <a:endParaRPr lang="en-US" sz="950" dirty="0"/>
          </a:p>
        </p:txBody>
      </p:sp>
      <p:sp>
        <p:nvSpPr>
          <p:cNvPr id="44" name="Text 42"/>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8FA3C7"/>
                </a:solidFill>
                <a:latin typeface="Calibri" pitchFamily="34" charset="0"/>
                <a:ea typeface="Calibri" pitchFamily="34" charset="-122"/>
                <a:cs typeface="Calibri" pitchFamily="34" charset="-120"/>
              </a:rPr>
              <a:t>Linux Deadlock Detection and Resource Management System</a:t>
            </a:r>
            <a:endParaRPr lang="en-US" sz="900" dirty="0"/>
          </a:p>
        </p:txBody>
      </p:sp>
      <p:sp>
        <p:nvSpPr>
          <p:cNvPr id="45" name="Text 43"/>
          <p:cNvSpPr/>
          <p:nvPr/>
        </p:nvSpPr>
        <p:spPr>
          <a:xfrm>
            <a:off x="11457432" y="6510528"/>
            <a:ext cx="365760" cy="274320"/>
          </a:xfrm>
          <a:prstGeom prst="rect">
            <a:avLst/>
          </a:prstGeom>
          <a:noFill/>
          <a:ln/>
        </p:spPr>
        <p:txBody>
          <a:bodyPr wrap="square" lIns="0" tIns="0" rIns="0" bIns="0" rtlCol="0" anchor="ctr"/>
          <a:lstStyle/>
          <a:p>
            <a:pPr marL="0" indent="0" algn="r">
              <a:buNone/>
            </a:pPr>
            <a:r>
              <a:rPr lang="en-US" sz="900" dirty="0">
                <a:solidFill>
                  <a:srgbClr val="8FA3C7"/>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128"/>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marL="0" indent="0">
              <a:buNone/>
            </a:pPr>
            <a:r>
              <a:rPr lang="en-US" sz="1200" b="1" kern="0" spc="200" dirty="0">
                <a:solidFill>
                  <a:srgbClr val="38BDF8"/>
                </a:solidFill>
                <a:latin typeface="Calibri" pitchFamily="34" charset="0"/>
                <a:ea typeface="Calibri" pitchFamily="34" charset="-122"/>
                <a:cs typeface="Calibri" pitchFamily="34" charset="-120"/>
              </a:rPr>
              <a:t>TECH STACK</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Tools and Technologies</a:t>
            </a:r>
            <a:endParaRPr lang="en-US" sz="3000" dirty="0"/>
          </a:p>
        </p:txBody>
      </p:sp>
      <p:sp>
        <p:nvSpPr>
          <p:cNvPr id="4" name="Text 2"/>
          <p:cNvSpPr/>
          <p:nvPr/>
        </p:nvSpPr>
        <p:spPr>
          <a:xfrm>
            <a:off x="548640" y="1417320"/>
            <a:ext cx="11064240" cy="365760"/>
          </a:xfrm>
          <a:prstGeom prst="rect">
            <a:avLst/>
          </a:prstGeom>
          <a:noFill/>
          <a:ln/>
        </p:spPr>
        <p:txBody>
          <a:bodyPr wrap="square" lIns="0" tIns="0" rIns="0" bIns="0" rtlCol="0" anchor="ctr"/>
          <a:lstStyle/>
          <a:p>
            <a:pPr marL="0" indent="0">
              <a:buNone/>
            </a:pPr>
            <a:r>
              <a:rPr lang="en-US" sz="1350" i="1" dirty="0">
                <a:solidFill>
                  <a:srgbClr val="B9D4FF"/>
                </a:solidFill>
                <a:latin typeface="Calibri" pitchFamily="34" charset="0"/>
                <a:ea typeface="Calibri" pitchFamily="34" charset="-122"/>
                <a:cs typeface="Calibri" pitchFamily="34" charset="-120"/>
              </a:rPr>
              <a:t>Designed and built as a Linux-based system.</a:t>
            </a:r>
            <a:endParaRPr lang="en-US" sz="1350" dirty="0"/>
          </a:p>
        </p:txBody>
      </p:sp>
      <p:sp>
        <p:nvSpPr>
          <p:cNvPr id="5" name="Shape 3"/>
          <p:cNvSpPr/>
          <p:nvPr/>
        </p:nvSpPr>
        <p:spPr>
          <a:xfrm>
            <a:off x="640080" y="1965960"/>
            <a:ext cx="2606040" cy="1874520"/>
          </a:xfrm>
          <a:prstGeom prst="roundRect">
            <a:avLst>
              <a:gd name="adj" fmla="val 3902"/>
            </a:avLst>
          </a:prstGeom>
          <a:solidFill>
            <a:srgbClr val="13294B"/>
          </a:solidFill>
          <a:ln/>
          <a:effectLst>
            <a:outerShdw blurRad="101600" dist="38100" dir="5400000" algn="bl" rotWithShape="0">
              <a:srgbClr val="000000">
                <a:alpha val="35000"/>
              </a:srgbClr>
            </a:outerShdw>
          </a:effectLst>
        </p:spPr>
      </p:sp>
      <p:sp>
        <p:nvSpPr>
          <p:cNvPr id="6" name="Shape 4"/>
          <p:cNvSpPr/>
          <p:nvPr/>
        </p:nvSpPr>
        <p:spPr>
          <a:xfrm>
            <a:off x="1600200" y="2308860"/>
            <a:ext cx="685800" cy="685800"/>
          </a:xfrm>
          <a:prstGeom prst="ellipse">
            <a:avLst/>
          </a:prstGeom>
          <a:solidFill>
            <a:srgbClr val="1B3A63"/>
          </a:solidFill>
          <a:ln/>
        </p:spPr>
      </p:sp>
      <p:pic>
        <p:nvPicPr>
          <p:cNvPr id="7" name="Image 0" descr="icons/terminal_cyan.png"/>
          <p:cNvPicPr>
            <a:picLocks noChangeAspect="1"/>
          </p:cNvPicPr>
          <p:nvPr/>
        </p:nvPicPr>
        <p:blipFill>
          <a:blip r:embed="rId3"/>
          <a:stretch>
            <a:fillRect/>
          </a:stretch>
        </p:blipFill>
        <p:spPr>
          <a:xfrm>
            <a:off x="1773936" y="2482596"/>
            <a:ext cx="338328" cy="338328"/>
          </a:xfrm>
          <a:prstGeom prst="rect">
            <a:avLst/>
          </a:prstGeom>
        </p:spPr>
      </p:pic>
      <p:sp>
        <p:nvSpPr>
          <p:cNvPr id="8" name="Text 5"/>
          <p:cNvSpPr/>
          <p:nvPr/>
        </p:nvSpPr>
        <p:spPr>
          <a:xfrm>
            <a:off x="777240" y="3246120"/>
            <a:ext cx="2331720" cy="457200"/>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Linux / Ubuntu</a:t>
            </a:r>
            <a:endParaRPr lang="en-US" sz="1300" dirty="0"/>
          </a:p>
        </p:txBody>
      </p:sp>
      <p:sp>
        <p:nvSpPr>
          <p:cNvPr id="9" name="Shape 6"/>
          <p:cNvSpPr/>
          <p:nvPr/>
        </p:nvSpPr>
        <p:spPr>
          <a:xfrm>
            <a:off x="3474720" y="1965960"/>
            <a:ext cx="2606040" cy="1874520"/>
          </a:xfrm>
          <a:prstGeom prst="roundRect">
            <a:avLst>
              <a:gd name="adj" fmla="val 3902"/>
            </a:avLst>
          </a:prstGeom>
          <a:solidFill>
            <a:srgbClr val="13294B"/>
          </a:solidFill>
          <a:ln/>
          <a:effectLst>
            <a:outerShdw blurRad="101600" dist="38100" dir="5400000" algn="bl" rotWithShape="0">
              <a:srgbClr val="000000">
                <a:alpha val="35000"/>
              </a:srgbClr>
            </a:outerShdw>
          </a:effectLst>
        </p:spPr>
      </p:sp>
      <p:sp>
        <p:nvSpPr>
          <p:cNvPr id="10" name="Shape 7"/>
          <p:cNvSpPr/>
          <p:nvPr/>
        </p:nvSpPr>
        <p:spPr>
          <a:xfrm>
            <a:off x="4434840" y="2308860"/>
            <a:ext cx="685800" cy="685800"/>
          </a:xfrm>
          <a:prstGeom prst="ellipse">
            <a:avLst/>
          </a:prstGeom>
          <a:solidFill>
            <a:srgbClr val="1B3A63"/>
          </a:solidFill>
          <a:ln/>
        </p:spPr>
      </p:sp>
      <p:pic>
        <p:nvPicPr>
          <p:cNvPr id="11" name="Image 1" descr="icons/code_cyan.png"/>
          <p:cNvPicPr>
            <a:picLocks noChangeAspect="1"/>
          </p:cNvPicPr>
          <p:nvPr/>
        </p:nvPicPr>
        <p:blipFill>
          <a:blip r:embed="rId4"/>
          <a:stretch>
            <a:fillRect/>
          </a:stretch>
        </p:blipFill>
        <p:spPr>
          <a:xfrm>
            <a:off x="4608576" y="2482596"/>
            <a:ext cx="338328" cy="338328"/>
          </a:xfrm>
          <a:prstGeom prst="rect">
            <a:avLst/>
          </a:prstGeom>
        </p:spPr>
      </p:pic>
      <p:sp>
        <p:nvSpPr>
          <p:cNvPr id="12" name="Text 8"/>
          <p:cNvSpPr/>
          <p:nvPr/>
        </p:nvSpPr>
        <p:spPr>
          <a:xfrm>
            <a:off x="3611880" y="3246120"/>
            <a:ext cx="2331720" cy="457200"/>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C / C++</a:t>
            </a:r>
            <a:endParaRPr lang="en-US" sz="1300" dirty="0"/>
          </a:p>
        </p:txBody>
      </p:sp>
      <p:sp>
        <p:nvSpPr>
          <p:cNvPr id="13" name="Shape 9"/>
          <p:cNvSpPr/>
          <p:nvPr/>
        </p:nvSpPr>
        <p:spPr>
          <a:xfrm>
            <a:off x="6309360" y="1965960"/>
            <a:ext cx="2606040" cy="1874520"/>
          </a:xfrm>
          <a:prstGeom prst="roundRect">
            <a:avLst>
              <a:gd name="adj" fmla="val 3902"/>
            </a:avLst>
          </a:prstGeom>
          <a:solidFill>
            <a:srgbClr val="13294B"/>
          </a:solidFill>
          <a:ln/>
          <a:effectLst>
            <a:outerShdw blurRad="101600" dist="38100" dir="5400000" algn="bl" rotWithShape="0">
              <a:srgbClr val="000000">
                <a:alpha val="35000"/>
              </a:srgbClr>
            </a:outerShdw>
          </a:effectLst>
        </p:spPr>
      </p:sp>
      <p:sp>
        <p:nvSpPr>
          <p:cNvPr id="14" name="Shape 10"/>
          <p:cNvSpPr/>
          <p:nvPr/>
        </p:nvSpPr>
        <p:spPr>
          <a:xfrm>
            <a:off x="7269480" y="2308860"/>
            <a:ext cx="685800" cy="685800"/>
          </a:xfrm>
          <a:prstGeom prst="ellipse">
            <a:avLst/>
          </a:prstGeom>
          <a:solidFill>
            <a:srgbClr val="1B3A63"/>
          </a:solidFill>
          <a:ln/>
        </p:spPr>
      </p:sp>
      <p:pic>
        <p:nvPicPr>
          <p:cNvPr id="15" name="Image 2" descr="icons/settings_cyan.png"/>
          <p:cNvPicPr>
            <a:picLocks noChangeAspect="1"/>
          </p:cNvPicPr>
          <p:nvPr/>
        </p:nvPicPr>
        <p:blipFill>
          <a:blip r:embed="rId5"/>
          <a:stretch>
            <a:fillRect/>
          </a:stretch>
        </p:blipFill>
        <p:spPr>
          <a:xfrm>
            <a:off x="7443216" y="2482596"/>
            <a:ext cx="338328" cy="338328"/>
          </a:xfrm>
          <a:prstGeom prst="rect">
            <a:avLst/>
          </a:prstGeom>
        </p:spPr>
      </p:pic>
      <p:sp>
        <p:nvSpPr>
          <p:cNvPr id="16" name="Text 11"/>
          <p:cNvSpPr/>
          <p:nvPr/>
        </p:nvSpPr>
        <p:spPr>
          <a:xfrm>
            <a:off x="6446520" y="3246120"/>
            <a:ext cx="2331720" cy="457200"/>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GCC / G++</a:t>
            </a:r>
            <a:endParaRPr lang="en-US" sz="1300" dirty="0"/>
          </a:p>
        </p:txBody>
      </p:sp>
      <p:sp>
        <p:nvSpPr>
          <p:cNvPr id="17" name="Shape 12"/>
          <p:cNvSpPr/>
          <p:nvPr/>
        </p:nvSpPr>
        <p:spPr>
          <a:xfrm>
            <a:off x="9144000" y="1965960"/>
            <a:ext cx="2606040" cy="1874520"/>
          </a:xfrm>
          <a:prstGeom prst="roundRect">
            <a:avLst>
              <a:gd name="adj" fmla="val 3902"/>
            </a:avLst>
          </a:prstGeom>
          <a:solidFill>
            <a:srgbClr val="13294B"/>
          </a:solidFill>
          <a:ln/>
          <a:effectLst>
            <a:outerShdw blurRad="101600" dist="38100" dir="5400000" algn="bl" rotWithShape="0">
              <a:srgbClr val="000000">
                <a:alpha val="35000"/>
              </a:srgbClr>
            </a:outerShdw>
          </a:effectLst>
        </p:spPr>
      </p:sp>
      <p:sp>
        <p:nvSpPr>
          <p:cNvPr id="18" name="Shape 13"/>
          <p:cNvSpPr/>
          <p:nvPr/>
        </p:nvSpPr>
        <p:spPr>
          <a:xfrm>
            <a:off x="10104120" y="2308860"/>
            <a:ext cx="685800" cy="685800"/>
          </a:xfrm>
          <a:prstGeom prst="ellipse">
            <a:avLst/>
          </a:prstGeom>
          <a:solidFill>
            <a:srgbClr val="1B3A63"/>
          </a:solidFill>
          <a:ln/>
        </p:spPr>
      </p:sp>
      <p:pic>
        <p:nvPicPr>
          <p:cNvPr id="19" name="Image 3" descr="icons/layers_cyan.png"/>
          <p:cNvPicPr>
            <a:picLocks noChangeAspect="1"/>
          </p:cNvPicPr>
          <p:nvPr/>
        </p:nvPicPr>
        <p:blipFill>
          <a:blip r:embed="rId6"/>
          <a:stretch>
            <a:fillRect/>
          </a:stretch>
        </p:blipFill>
        <p:spPr>
          <a:xfrm>
            <a:off x="10277856" y="2482596"/>
            <a:ext cx="338328" cy="338328"/>
          </a:xfrm>
          <a:prstGeom prst="rect">
            <a:avLst/>
          </a:prstGeom>
        </p:spPr>
      </p:pic>
      <p:sp>
        <p:nvSpPr>
          <p:cNvPr id="20" name="Text 14"/>
          <p:cNvSpPr/>
          <p:nvPr/>
        </p:nvSpPr>
        <p:spPr>
          <a:xfrm>
            <a:off x="9281160" y="3246120"/>
            <a:ext cx="2331720" cy="457200"/>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POSIX APIs</a:t>
            </a:r>
            <a:endParaRPr lang="en-US" sz="1300" dirty="0"/>
          </a:p>
        </p:txBody>
      </p:sp>
      <p:sp>
        <p:nvSpPr>
          <p:cNvPr id="21" name="Shape 15"/>
          <p:cNvSpPr/>
          <p:nvPr/>
        </p:nvSpPr>
        <p:spPr>
          <a:xfrm>
            <a:off x="640080" y="4114800"/>
            <a:ext cx="2606040" cy="1874520"/>
          </a:xfrm>
          <a:prstGeom prst="roundRect">
            <a:avLst>
              <a:gd name="adj" fmla="val 3902"/>
            </a:avLst>
          </a:prstGeom>
          <a:solidFill>
            <a:srgbClr val="13294B"/>
          </a:solidFill>
          <a:ln/>
          <a:effectLst>
            <a:outerShdw blurRad="101600" dist="38100" dir="5400000" algn="bl" rotWithShape="0">
              <a:srgbClr val="000000">
                <a:alpha val="35000"/>
              </a:srgbClr>
            </a:outerShdw>
          </a:effectLst>
        </p:spPr>
      </p:sp>
      <p:sp>
        <p:nvSpPr>
          <p:cNvPr id="22" name="Shape 16"/>
          <p:cNvSpPr/>
          <p:nvPr/>
        </p:nvSpPr>
        <p:spPr>
          <a:xfrm>
            <a:off x="1600200" y="4457700"/>
            <a:ext cx="685800" cy="685800"/>
          </a:xfrm>
          <a:prstGeom prst="ellipse">
            <a:avLst/>
          </a:prstGeom>
          <a:solidFill>
            <a:srgbClr val="1B3A63"/>
          </a:solidFill>
          <a:ln/>
        </p:spPr>
      </p:sp>
      <p:pic>
        <p:nvPicPr>
          <p:cNvPr id="23" name="Image 4" descr="icons/monitor_cyan.png"/>
          <p:cNvPicPr>
            <a:picLocks noChangeAspect="1"/>
          </p:cNvPicPr>
          <p:nvPr/>
        </p:nvPicPr>
        <p:blipFill>
          <a:blip r:embed="rId7"/>
          <a:stretch>
            <a:fillRect/>
          </a:stretch>
        </p:blipFill>
        <p:spPr>
          <a:xfrm>
            <a:off x="1773936" y="4631436"/>
            <a:ext cx="338328" cy="338328"/>
          </a:xfrm>
          <a:prstGeom prst="rect">
            <a:avLst/>
          </a:prstGeom>
        </p:spPr>
      </p:pic>
      <p:sp>
        <p:nvSpPr>
          <p:cNvPr id="24" name="Text 17"/>
          <p:cNvSpPr/>
          <p:nvPr/>
        </p:nvSpPr>
        <p:spPr>
          <a:xfrm>
            <a:off x="777240" y="5394960"/>
            <a:ext cx="2331720" cy="457200"/>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Linux Terminal</a:t>
            </a:r>
            <a:endParaRPr lang="en-US" sz="1300" dirty="0"/>
          </a:p>
        </p:txBody>
      </p:sp>
      <p:sp>
        <p:nvSpPr>
          <p:cNvPr id="25" name="Shape 18"/>
          <p:cNvSpPr/>
          <p:nvPr/>
        </p:nvSpPr>
        <p:spPr>
          <a:xfrm>
            <a:off x="3474720" y="4114800"/>
            <a:ext cx="2606040" cy="1874520"/>
          </a:xfrm>
          <a:prstGeom prst="roundRect">
            <a:avLst>
              <a:gd name="adj" fmla="val 3902"/>
            </a:avLst>
          </a:prstGeom>
          <a:solidFill>
            <a:srgbClr val="13294B"/>
          </a:solidFill>
          <a:ln/>
          <a:effectLst>
            <a:outerShdw blurRad="101600" dist="38100" dir="5400000" algn="bl" rotWithShape="0">
              <a:srgbClr val="000000">
                <a:alpha val="35000"/>
              </a:srgbClr>
            </a:outerShdw>
          </a:effectLst>
        </p:spPr>
      </p:sp>
      <p:sp>
        <p:nvSpPr>
          <p:cNvPr id="26" name="Shape 19"/>
          <p:cNvSpPr/>
          <p:nvPr/>
        </p:nvSpPr>
        <p:spPr>
          <a:xfrm>
            <a:off x="4434840" y="4457700"/>
            <a:ext cx="685800" cy="685800"/>
          </a:xfrm>
          <a:prstGeom prst="ellipse">
            <a:avLst/>
          </a:prstGeom>
          <a:solidFill>
            <a:srgbClr val="1B3A63"/>
          </a:solidFill>
          <a:ln/>
        </p:spPr>
      </p:sp>
      <p:pic>
        <p:nvPicPr>
          <p:cNvPr id="27" name="Image 5" descr="icons/gitbranch_cyan.png"/>
          <p:cNvPicPr>
            <a:picLocks noChangeAspect="1"/>
          </p:cNvPicPr>
          <p:nvPr/>
        </p:nvPicPr>
        <p:blipFill>
          <a:blip r:embed="rId8"/>
          <a:stretch>
            <a:fillRect/>
          </a:stretch>
        </p:blipFill>
        <p:spPr>
          <a:xfrm>
            <a:off x="4608576" y="4631436"/>
            <a:ext cx="338328" cy="338328"/>
          </a:xfrm>
          <a:prstGeom prst="rect">
            <a:avLst/>
          </a:prstGeom>
        </p:spPr>
      </p:pic>
      <p:sp>
        <p:nvSpPr>
          <p:cNvPr id="28" name="Text 20"/>
          <p:cNvSpPr/>
          <p:nvPr/>
        </p:nvSpPr>
        <p:spPr>
          <a:xfrm>
            <a:off x="3611880" y="5394960"/>
            <a:ext cx="2331720" cy="457200"/>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Git</a:t>
            </a:r>
            <a:endParaRPr lang="en-US" sz="1300" dirty="0"/>
          </a:p>
        </p:txBody>
      </p:sp>
      <p:sp>
        <p:nvSpPr>
          <p:cNvPr id="29" name="Shape 21"/>
          <p:cNvSpPr/>
          <p:nvPr/>
        </p:nvSpPr>
        <p:spPr>
          <a:xfrm>
            <a:off x="6309360" y="4114800"/>
            <a:ext cx="2606040" cy="1874520"/>
          </a:xfrm>
          <a:prstGeom prst="roundRect">
            <a:avLst>
              <a:gd name="adj" fmla="val 3902"/>
            </a:avLst>
          </a:prstGeom>
          <a:solidFill>
            <a:srgbClr val="13294B"/>
          </a:solidFill>
          <a:ln/>
          <a:effectLst>
            <a:outerShdw blurRad="101600" dist="38100" dir="5400000" algn="bl" rotWithShape="0">
              <a:srgbClr val="000000">
                <a:alpha val="35000"/>
              </a:srgbClr>
            </a:outerShdw>
          </a:effectLst>
        </p:spPr>
      </p:sp>
      <p:sp>
        <p:nvSpPr>
          <p:cNvPr id="30" name="Shape 22"/>
          <p:cNvSpPr/>
          <p:nvPr/>
        </p:nvSpPr>
        <p:spPr>
          <a:xfrm>
            <a:off x="7269480" y="4457700"/>
            <a:ext cx="685800" cy="685800"/>
          </a:xfrm>
          <a:prstGeom prst="ellipse">
            <a:avLst/>
          </a:prstGeom>
          <a:solidFill>
            <a:srgbClr val="1B3A63"/>
          </a:solidFill>
          <a:ln/>
        </p:spPr>
      </p:sp>
      <p:pic>
        <p:nvPicPr>
          <p:cNvPr id="31" name="Image 6" descr="icons/github_cyan.png"/>
          <p:cNvPicPr>
            <a:picLocks noChangeAspect="1"/>
          </p:cNvPicPr>
          <p:nvPr/>
        </p:nvPicPr>
        <p:blipFill>
          <a:blip r:embed="rId9"/>
          <a:stretch>
            <a:fillRect/>
          </a:stretch>
        </p:blipFill>
        <p:spPr>
          <a:xfrm>
            <a:off x="7443216" y="4631436"/>
            <a:ext cx="338328" cy="338328"/>
          </a:xfrm>
          <a:prstGeom prst="rect">
            <a:avLst/>
          </a:prstGeom>
        </p:spPr>
      </p:pic>
      <p:sp>
        <p:nvSpPr>
          <p:cNvPr id="32" name="Text 23"/>
          <p:cNvSpPr/>
          <p:nvPr/>
        </p:nvSpPr>
        <p:spPr>
          <a:xfrm>
            <a:off x="6446520" y="5394960"/>
            <a:ext cx="2331720" cy="457200"/>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GitHub</a:t>
            </a:r>
            <a:endParaRPr lang="en-US" sz="1300" dirty="0"/>
          </a:p>
        </p:txBody>
      </p:sp>
      <p:sp>
        <p:nvSpPr>
          <p:cNvPr id="33" name="Shape 24"/>
          <p:cNvSpPr/>
          <p:nvPr/>
        </p:nvSpPr>
        <p:spPr>
          <a:xfrm>
            <a:off x="9144000" y="4114800"/>
            <a:ext cx="2606040" cy="1874520"/>
          </a:xfrm>
          <a:prstGeom prst="roundRect">
            <a:avLst>
              <a:gd name="adj" fmla="val 3902"/>
            </a:avLst>
          </a:prstGeom>
          <a:solidFill>
            <a:srgbClr val="13294B"/>
          </a:solidFill>
          <a:ln/>
          <a:effectLst>
            <a:outerShdw blurRad="101600" dist="38100" dir="5400000" algn="bl" rotWithShape="0">
              <a:srgbClr val="000000">
                <a:alpha val="35000"/>
              </a:srgbClr>
            </a:outerShdw>
          </a:effectLst>
        </p:spPr>
      </p:sp>
      <p:sp>
        <p:nvSpPr>
          <p:cNvPr id="34" name="Shape 25"/>
          <p:cNvSpPr/>
          <p:nvPr/>
        </p:nvSpPr>
        <p:spPr>
          <a:xfrm>
            <a:off x="10104120" y="4457700"/>
            <a:ext cx="685800" cy="685800"/>
          </a:xfrm>
          <a:prstGeom prst="ellipse">
            <a:avLst/>
          </a:prstGeom>
          <a:solidFill>
            <a:srgbClr val="1B3A63"/>
          </a:solidFill>
          <a:ln/>
        </p:spPr>
      </p:sp>
      <p:pic>
        <p:nvPicPr>
          <p:cNvPr id="35" name="Image 7" descr="icons/code_cyan.png"/>
          <p:cNvPicPr>
            <a:picLocks noChangeAspect="1"/>
          </p:cNvPicPr>
          <p:nvPr/>
        </p:nvPicPr>
        <p:blipFill>
          <a:blip r:embed="rId4"/>
          <a:stretch>
            <a:fillRect/>
          </a:stretch>
        </p:blipFill>
        <p:spPr>
          <a:xfrm>
            <a:off x="10277856" y="4631436"/>
            <a:ext cx="338328" cy="338328"/>
          </a:xfrm>
          <a:prstGeom prst="rect">
            <a:avLst/>
          </a:prstGeom>
        </p:spPr>
      </p:pic>
      <p:sp>
        <p:nvSpPr>
          <p:cNvPr id="36" name="Text 26"/>
          <p:cNvSpPr/>
          <p:nvPr/>
        </p:nvSpPr>
        <p:spPr>
          <a:xfrm>
            <a:off x="9281160" y="5394960"/>
            <a:ext cx="2331720" cy="457200"/>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VS Code</a:t>
            </a:r>
            <a:endParaRPr lang="en-US" sz="1300" dirty="0"/>
          </a:p>
        </p:txBody>
      </p:sp>
      <p:sp>
        <p:nvSpPr>
          <p:cNvPr id="37" name="Text 27"/>
          <p:cNvSpPr/>
          <p:nvPr/>
        </p:nvSpPr>
        <p:spPr>
          <a:xfrm>
            <a:off x="640080" y="6080760"/>
            <a:ext cx="10881360" cy="320040"/>
          </a:xfrm>
          <a:prstGeom prst="rect">
            <a:avLst/>
          </a:prstGeom>
          <a:noFill/>
          <a:ln/>
        </p:spPr>
        <p:txBody>
          <a:bodyPr wrap="square" lIns="0" tIns="0" rIns="0" bIns="0" rtlCol="0" anchor="ctr"/>
          <a:lstStyle/>
          <a:p>
            <a:pPr marL="0" indent="0">
              <a:buNone/>
            </a:pPr>
            <a:r>
              <a:rPr lang="en-US" sz="1100" dirty="0">
                <a:solidFill>
                  <a:srgbClr val="8FA3C7"/>
                </a:solidFill>
                <a:latin typeface="Calibri" pitchFamily="34" charset="0"/>
                <a:ea typeface="Calibri" pitchFamily="34" charset="-122"/>
                <a:cs typeface="Calibri" pitchFamily="34" charset="-120"/>
              </a:rPr>
              <a:t>GitHub Repository: </a:t>
            </a:r>
            <a:endParaRPr lang="en-US" sz="1100" dirty="0"/>
          </a:p>
        </p:txBody>
      </p:sp>
      <p:sp>
        <p:nvSpPr>
          <p:cNvPr id="38" name="Text 28"/>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8FA3C7"/>
                </a:solidFill>
                <a:latin typeface="Calibri" pitchFamily="34" charset="0"/>
                <a:ea typeface="Calibri" pitchFamily="34" charset="-122"/>
                <a:cs typeface="Calibri" pitchFamily="34" charset="-120"/>
              </a:rPr>
              <a:t>Linux Deadlock Detection and Resource Management System</a:t>
            </a:r>
            <a:endParaRPr lang="en-US" sz="900" dirty="0"/>
          </a:p>
        </p:txBody>
      </p:sp>
      <p:sp>
        <p:nvSpPr>
          <p:cNvPr id="39" name="Text 29"/>
          <p:cNvSpPr/>
          <p:nvPr/>
        </p:nvSpPr>
        <p:spPr>
          <a:xfrm>
            <a:off x="11457432" y="6510528"/>
            <a:ext cx="365760" cy="274320"/>
          </a:xfrm>
          <a:prstGeom prst="rect">
            <a:avLst/>
          </a:prstGeom>
          <a:noFill/>
          <a:ln/>
        </p:spPr>
        <p:txBody>
          <a:bodyPr wrap="square" lIns="0" tIns="0" rIns="0" bIns="0" rtlCol="0" anchor="ctr"/>
          <a:lstStyle/>
          <a:p>
            <a:pPr marL="0" indent="0" algn="r">
              <a:buNone/>
            </a:pPr>
            <a:r>
              <a:rPr lang="en-US" sz="900" dirty="0">
                <a:solidFill>
                  <a:srgbClr val="8FA3C7"/>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128"/>
        </a:solidFill>
        <a:effectLst/>
      </p:bgPr>
    </p:bg>
    <p:spTree>
      <p:nvGrpSpPr>
        <p:cNvPr id="1" name=""/>
        <p:cNvGrpSpPr/>
        <p:nvPr/>
      </p:nvGrpSpPr>
      <p:grpSpPr>
        <a:xfrm>
          <a:off x="0" y="0"/>
          <a:ext cx="0" cy="0"/>
          <a:chOff x="0" y="0"/>
          <a:chExt cx="0" cy="0"/>
        </a:xfrm>
      </p:grpSpPr>
      <p:sp>
        <p:nvSpPr>
          <p:cNvPr id="2" name="Text 0"/>
          <p:cNvSpPr/>
          <p:nvPr/>
        </p:nvSpPr>
        <p:spPr>
          <a:xfrm>
            <a:off x="914400" y="594360"/>
            <a:ext cx="10360152" cy="320040"/>
          </a:xfrm>
          <a:prstGeom prst="rect">
            <a:avLst/>
          </a:prstGeom>
          <a:noFill/>
          <a:ln/>
        </p:spPr>
        <p:txBody>
          <a:bodyPr wrap="square" lIns="0" tIns="0" rIns="0" bIns="0" rtlCol="0" anchor="ctr"/>
          <a:lstStyle/>
          <a:p>
            <a:pPr marL="0" indent="0" algn="ctr">
              <a:buNone/>
            </a:pPr>
            <a:r>
              <a:rPr lang="en-US" sz="1300" b="1" kern="0" spc="200" dirty="0">
                <a:solidFill>
                  <a:srgbClr val="38BDF8"/>
                </a:solidFill>
                <a:latin typeface="Calibri" pitchFamily="34" charset="0"/>
                <a:ea typeface="Calibri" pitchFamily="34" charset="-122"/>
                <a:cs typeface="Calibri" pitchFamily="34" charset="-120"/>
              </a:rPr>
              <a:t>EXPECTED OUTCOME</a:t>
            </a:r>
            <a:endParaRPr lang="en-US" sz="1300" dirty="0"/>
          </a:p>
        </p:txBody>
      </p:sp>
      <p:sp>
        <p:nvSpPr>
          <p:cNvPr id="3" name="Text 1"/>
          <p:cNvSpPr/>
          <p:nvPr/>
        </p:nvSpPr>
        <p:spPr>
          <a:xfrm>
            <a:off x="914400" y="914400"/>
            <a:ext cx="10360152" cy="64008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4" name="Shape 2"/>
          <p:cNvSpPr/>
          <p:nvPr/>
        </p:nvSpPr>
        <p:spPr>
          <a:xfrm>
            <a:off x="822960" y="1874520"/>
            <a:ext cx="3520440" cy="1371600"/>
          </a:xfrm>
          <a:prstGeom prst="roundRect">
            <a:avLst>
              <a:gd name="adj" fmla="val 5333"/>
            </a:avLst>
          </a:prstGeom>
          <a:solidFill>
            <a:srgbClr val="13294B"/>
          </a:solidFill>
          <a:ln/>
          <a:effectLst>
            <a:outerShdw blurRad="101600" dist="38100" dir="5400000" algn="bl" rotWithShape="0">
              <a:srgbClr val="000000">
                <a:alpha val="35000"/>
              </a:srgbClr>
            </a:outerShdw>
          </a:effectLst>
        </p:spPr>
      </p:sp>
      <p:sp>
        <p:nvSpPr>
          <p:cNvPr id="5" name="Shape 3"/>
          <p:cNvSpPr/>
          <p:nvPr/>
        </p:nvSpPr>
        <p:spPr>
          <a:xfrm>
            <a:off x="1097280" y="2331720"/>
            <a:ext cx="457200" cy="457200"/>
          </a:xfrm>
          <a:prstGeom prst="ellipse">
            <a:avLst/>
          </a:prstGeom>
          <a:solidFill>
            <a:srgbClr val="1B3A63"/>
          </a:solidFill>
          <a:ln/>
        </p:spPr>
      </p:sp>
      <p:pic>
        <p:nvPicPr>
          <p:cNvPr id="6" name="Image 0" descr="icons/users_cyan.png"/>
          <p:cNvPicPr>
            <a:picLocks noChangeAspect="1"/>
          </p:cNvPicPr>
          <p:nvPr/>
        </p:nvPicPr>
        <p:blipFill>
          <a:blip r:embed="rId3"/>
          <a:stretch>
            <a:fillRect/>
          </a:stretch>
        </p:blipFill>
        <p:spPr>
          <a:xfrm>
            <a:off x="1216152" y="2450592"/>
            <a:ext cx="219456" cy="219456"/>
          </a:xfrm>
          <a:prstGeom prst="rect">
            <a:avLst/>
          </a:prstGeom>
        </p:spPr>
      </p:pic>
      <p:sp>
        <p:nvSpPr>
          <p:cNvPr id="7" name="Text 4"/>
          <p:cNvSpPr/>
          <p:nvPr/>
        </p:nvSpPr>
        <p:spPr>
          <a:xfrm>
            <a:off x="1691640" y="2011680"/>
            <a:ext cx="2468880" cy="1097280"/>
          </a:xfrm>
          <a:prstGeom prst="rect">
            <a:avLst/>
          </a:prstGeom>
          <a:noFill/>
          <a:ln/>
        </p:spPr>
        <p:txBody>
          <a:bodyPr wrap="square" lIns="0" tIns="0" rIns="0" bIns="0" rtlCol="0" anchor="ctr"/>
          <a:lstStyle/>
          <a:p>
            <a:pPr marL="0" indent="0">
              <a:lnSpc>
                <a:spcPct val="115000"/>
              </a:lnSpc>
              <a:buNone/>
            </a:pPr>
            <a:r>
              <a:rPr lang="en-US" sz="1150" dirty="0">
                <a:solidFill>
                  <a:srgbClr val="B9D4FF"/>
                </a:solidFill>
                <a:latin typeface="Calibri" pitchFamily="34" charset="0"/>
                <a:ea typeface="Calibri" pitchFamily="34" charset="-122"/>
                <a:cs typeface="Calibri" pitchFamily="34" charset="-120"/>
              </a:rPr>
              <a:t>Simulates multiple processes and resources</a:t>
            </a:r>
            <a:endParaRPr lang="en-US" sz="1150" dirty="0"/>
          </a:p>
        </p:txBody>
      </p:sp>
      <p:sp>
        <p:nvSpPr>
          <p:cNvPr id="8" name="Shape 5"/>
          <p:cNvSpPr/>
          <p:nvPr/>
        </p:nvSpPr>
        <p:spPr>
          <a:xfrm>
            <a:off x="4572000" y="1874520"/>
            <a:ext cx="3520440" cy="1371600"/>
          </a:xfrm>
          <a:prstGeom prst="roundRect">
            <a:avLst>
              <a:gd name="adj" fmla="val 5333"/>
            </a:avLst>
          </a:prstGeom>
          <a:solidFill>
            <a:srgbClr val="13294B"/>
          </a:solidFill>
          <a:ln/>
          <a:effectLst>
            <a:outerShdw blurRad="101600" dist="38100" dir="5400000" algn="bl" rotWithShape="0">
              <a:srgbClr val="000000">
                <a:alpha val="35000"/>
              </a:srgbClr>
            </a:outerShdw>
          </a:effectLst>
        </p:spPr>
      </p:sp>
      <p:sp>
        <p:nvSpPr>
          <p:cNvPr id="9" name="Shape 6"/>
          <p:cNvSpPr/>
          <p:nvPr/>
        </p:nvSpPr>
        <p:spPr>
          <a:xfrm>
            <a:off x="4846320" y="2331720"/>
            <a:ext cx="457200" cy="457200"/>
          </a:xfrm>
          <a:prstGeom prst="ellipse">
            <a:avLst/>
          </a:prstGeom>
          <a:solidFill>
            <a:srgbClr val="1B3A63"/>
          </a:solidFill>
          <a:ln/>
        </p:spPr>
      </p:sp>
      <p:pic>
        <p:nvPicPr>
          <p:cNvPr id="10" name="Image 1" descr="icons/monitor_cyan.png"/>
          <p:cNvPicPr>
            <a:picLocks noChangeAspect="1"/>
          </p:cNvPicPr>
          <p:nvPr/>
        </p:nvPicPr>
        <p:blipFill>
          <a:blip r:embed="rId4"/>
          <a:stretch>
            <a:fillRect/>
          </a:stretch>
        </p:blipFill>
        <p:spPr>
          <a:xfrm>
            <a:off x="4965192" y="2450592"/>
            <a:ext cx="219456" cy="219456"/>
          </a:xfrm>
          <a:prstGeom prst="rect">
            <a:avLst/>
          </a:prstGeom>
        </p:spPr>
      </p:pic>
      <p:sp>
        <p:nvSpPr>
          <p:cNvPr id="11" name="Text 7"/>
          <p:cNvSpPr/>
          <p:nvPr/>
        </p:nvSpPr>
        <p:spPr>
          <a:xfrm>
            <a:off x="5440680" y="2011680"/>
            <a:ext cx="2468880" cy="1097280"/>
          </a:xfrm>
          <a:prstGeom prst="rect">
            <a:avLst/>
          </a:prstGeom>
          <a:noFill/>
          <a:ln/>
        </p:spPr>
        <p:txBody>
          <a:bodyPr wrap="square" lIns="0" tIns="0" rIns="0" bIns="0" rtlCol="0" anchor="ctr"/>
          <a:lstStyle/>
          <a:p>
            <a:pPr marL="0" indent="0">
              <a:lnSpc>
                <a:spcPct val="115000"/>
              </a:lnSpc>
              <a:buNone/>
            </a:pPr>
            <a:r>
              <a:rPr lang="en-US" sz="1150" dirty="0">
                <a:solidFill>
                  <a:srgbClr val="B9D4FF"/>
                </a:solidFill>
                <a:latin typeface="Calibri" pitchFamily="34" charset="0"/>
                <a:ea typeface="Calibri" pitchFamily="34" charset="-122"/>
                <a:cs typeface="Calibri" pitchFamily="34" charset="-120"/>
              </a:rPr>
              <a:t>Monitors resource allocation and requests</a:t>
            </a:r>
            <a:endParaRPr lang="en-US" sz="1150" dirty="0"/>
          </a:p>
        </p:txBody>
      </p:sp>
      <p:sp>
        <p:nvSpPr>
          <p:cNvPr id="12" name="Shape 8"/>
          <p:cNvSpPr/>
          <p:nvPr/>
        </p:nvSpPr>
        <p:spPr>
          <a:xfrm>
            <a:off x="8321040" y="1874520"/>
            <a:ext cx="3520440" cy="1371600"/>
          </a:xfrm>
          <a:prstGeom prst="roundRect">
            <a:avLst>
              <a:gd name="adj" fmla="val 5333"/>
            </a:avLst>
          </a:prstGeom>
          <a:solidFill>
            <a:srgbClr val="13294B"/>
          </a:solidFill>
          <a:ln/>
          <a:effectLst>
            <a:outerShdw blurRad="101600" dist="38100" dir="5400000" algn="bl" rotWithShape="0">
              <a:srgbClr val="000000">
                <a:alpha val="35000"/>
              </a:srgbClr>
            </a:outerShdw>
          </a:effectLst>
        </p:spPr>
      </p:sp>
      <p:sp>
        <p:nvSpPr>
          <p:cNvPr id="13" name="Shape 9"/>
          <p:cNvSpPr/>
          <p:nvPr/>
        </p:nvSpPr>
        <p:spPr>
          <a:xfrm>
            <a:off x="8595360" y="2331720"/>
            <a:ext cx="457200" cy="457200"/>
          </a:xfrm>
          <a:prstGeom prst="ellipse">
            <a:avLst/>
          </a:prstGeom>
          <a:solidFill>
            <a:srgbClr val="1B3A63"/>
          </a:solidFill>
          <a:ln/>
        </p:spPr>
      </p:sp>
      <p:pic>
        <p:nvPicPr>
          <p:cNvPr id="14" name="Image 2" descr="icons/search_cyan.png"/>
          <p:cNvPicPr>
            <a:picLocks noChangeAspect="1"/>
          </p:cNvPicPr>
          <p:nvPr/>
        </p:nvPicPr>
        <p:blipFill>
          <a:blip r:embed="rId5"/>
          <a:stretch>
            <a:fillRect/>
          </a:stretch>
        </p:blipFill>
        <p:spPr>
          <a:xfrm>
            <a:off x="8714232" y="2450592"/>
            <a:ext cx="219456" cy="219456"/>
          </a:xfrm>
          <a:prstGeom prst="rect">
            <a:avLst/>
          </a:prstGeom>
        </p:spPr>
      </p:pic>
      <p:sp>
        <p:nvSpPr>
          <p:cNvPr id="15" name="Text 10"/>
          <p:cNvSpPr/>
          <p:nvPr/>
        </p:nvSpPr>
        <p:spPr>
          <a:xfrm>
            <a:off x="9189720" y="2011680"/>
            <a:ext cx="2468880" cy="1097280"/>
          </a:xfrm>
          <a:prstGeom prst="rect">
            <a:avLst/>
          </a:prstGeom>
          <a:noFill/>
          <a:ln/>
        </p:spPr>
        <p:txBody>
          <a:bodyPr wrap="square" lIns="0" tIns="0" rIns="0" bIns="0" rtlCol="0" anchor="ctr"/>
          <a:lstStyle/>
          <a:p>
            <a:pPr marL="0" indent="0">
              <a:lnSpc>
                <a:spcPct val="115000"/>
              </a:lnSpc>
              <a:buNone/>
            </a:pPr>
            <a:r>
              <a:rPr lang="en-US" sz="1150" dirty="0">
                <a:solidFill>
                  <a:srgbClr val="B9D4FF"/>
                </a:solidFill>
                <a:latin typeface="Calibri" pitchFamily="34" charset="0"/>
                <a:ea typeface="Calibri" pitchFamily="34" charset="-122"/>
                <a:cs typeface="Calibri" pitchFamily="34" charset="-120"/>
              </a:rPr>
              <a:t>Detects deadlocks reliably</a:t>
            </a:r>
            <a:endParaRPr lang="en-US" sz="1150" dirty="0"/>
          </a:p>
        </p:txBody>
      </p:sp>
      <p:sp>
        <p:nvSpPr>
          <p:cNvPr id="16" name="Shape 11"/>
          <p:cNvSpPr/>
          <p:nvPr/>
        </p:nvSpPr>
        <p:spPr>
          <a:xfrm>
            <a:off x="822960" y="3474720"/>
            <a:ext cx="3520440" cy="1371600"/>
          </a:xfrm>
          <a:prstGeom prst="roundRect">
            <a:avLst>
              <a:gd name="adj" fmla="val 5333"/>
            </a:avLst>
          </a:prstGeom>
          <a:solidFill>
            <a:srgbClr val="13294B"/>
          </a:solidFill>
          <a:ln/>
          <a:effectLst>
            <a:outerShdw blurRad="101600" dist="38100" dir="5400000" algn="bl" rotWithShape="0">
              <a:srgbClr val="000000">
                <a:alpha val="35000"/>
              </a:srgbClr>
            </a:outerShdw>
          </a:effectLst>
        </p:spPr>
      </p:sp>
      <p:sp>
        <p:nvSpPr>
          <p:cNvPr id="17" name="Shape 12"/>
          <p:cNvSpPr/>
          <p:nvPr/>
        </p:nvSpPr>
        <p:spPr>
          <a:xfrm>
            <a:off x="1097280" y="3931920"/>
            <a:ext cx="457200" cy="457200"/>
          </a:xfrm>
          <a:prstGeom prst="ellipse">
            <a:avLst/>
          </a:prstGeom>
          <a:solidFill>
            <a:srgbClr val="1B3A63"/>
          </a:solidFill>
          <a:ln/>
        </p:spPr>
      </p:sp>
      <p:pic>
        <p:nvPicPr>
          <p:cNvPr id="18" name="Image 3" descr="icons/target_cyan.png"/>
          <p:cNvPicPr>
            <a:picLocks noChangeAspect="1"/>
          </p:cNvPicPr>
          <p:nvPr/>
        </p:nvPicPr>
        <p:blipFill>
          <a:blip r:embed="rId6"/>
          <a:stretch>
            <a:fillRect/>
          </a:stretch>
        </p:blipFill>
        <p:spPr>
          <a:xfrm>
            <a:off x="1216152" y="4050792"/>
            <a:ext cx="219456" cy="219456"/>
          </a:xfrm>
          <a:prstGeom prst="rect">
            <a:avLst/>
          </a:prstGeom>
        </p:spPr>
      </p:pic>
      <p:sp>
        <p:nvSpPr>
          <p:cNvPr id="19" name="Text 13"/>
          <p:cNvSpPr/>
          <p:nvPr/>
        </p:nvSpPr>
        <p:spPr>
          <a:xfrm>
            <a:off x="1691640" y="3611880"/>
            <a:ext cx="2468880" cy="1097280"/>
          </a:xfrm>
          <a:prstGeom prst="rect">
            <a:avLst/>
          </a:prstGeom>
          <a:noFill/>
          <a:ln/>
        </p:spPr>
        <p:txBody>
          <a:bodyPr wrap="square" lIns="0" tIns="0" rIns="0" bIns="0" rtlCol="0" anchor="ctr"/>
          <a:lstStyle/>
          <a:p>
            <a:pPr marL="0" indent="0">
              <a:lnSpc>
                <a:spcPct val="115000"/>
              </a:lnSpc>
              <a:buNone/>
            </a:pPr>
            <a:r>
              <a:rPr lang="en-US" sz="1150" dirty="0">
                <a:solidFill>
                  <a:srgbClr val="B9D4FF"/>
                </a:solidFill>
                <a:latin typeface="Calibri" pitchFamily="34" charset="0"/>
                <a:ea typeface="Calibri" pitchFamily="34" charset="-122"/>
                <a:cs typeface="Calibri" pitchFamily="34" charset="-120"/>
              </a:rPr>
              <a:t>Identifies deadlocked processes precisely</a:t>
            </a:r>
            <a:endParaRPr lang="en-US" sz="1150" dirty="0"/>
          </a:p>
        </p:txBody>
      </p:sp>
      <p:sp>
        <p:nvSpPr>
          <p:cNvPr id="20" name="Shape 14"/>
          <p:cNvSpPr/>
          <p:nvPr/>
        </p:nvSpPr>
        <p:spPr>
          <a:xfrm>
            <a:off x="4572000" y="3474720"/>
            <a:ext cx="3520440" cy="1371600"/>
          </a:xfrm>
          <a:prstGeom prst="roundRect">
            <a:avLst>
              <a:gd name="adj" fmla="val 5333"/>
            </a:avLst>
          </a:prstGeom>
          <a:solidFill>
            <a:srgbClr val="13294B"/>
          </a:solidFill>
          <a:ln/>
          <a:effectLst>
            <a:outerShdw blurRad="101600" dist="38100" dir="5400000" algn="bl" rotWithShape="0">
              <a:srgbClr val="000000">
                <a:alpha val="35000"/>
              </a:srgbClr>
            </a:outerShdw>
          </a:effectLst>
        </p:spPr>
      </p:sp>
      <p:sp>
        <p:nvSpPr>
          <p:cNvPr id="21" name="Shape 15"/>
          <p:cNvSpPr/>
          <p:nvPr/>
        </p:nvSpPr>
        <p:spPr>
          <a:xfrm>
            <a:off x="4846320" y="3931920"/>
            <a:ext cx="457200" cy="457200"/>
          </a:xfrm>
          <a:prstGeom prst="ellipse">
            <a:avLst/>
          </a:prstGeom>
          <a:solidFill>
            <a:srgbClr val="1B3A63"/>
          </a:solidFill>
          <a:ln/>
        </p:spPr>
      </p:sp>
      <p:pic>
        <p:nvPicPr>
          <p:cNvPr id="22" name="Image 4" descr="icons/refresh_cyan.png"/>
          <p:cNvPicPr>
            <a:picLocks noChangeAspect="1"/>
          </p:cNvPicPr>
          <p:nvPr/>
        </p:nvPicPr>
        <p:blipFill>
          <a:blip r:embed="rId7"/>
          <a:stretch>
            <a:fillRect/>
          </a:stretch>
        </p:blipFill>
        <p:spPr>
          <a:xfrm>
            <a:off x="4965192" y="4050792"/>
            <a:ext cx="219456" cy="219456"/>
          </a:xfrm>
          <a:prstGeom prst="rect">
            <a:avLst/>
          </a:prstGeom>
        </p:spPr>
      </p:pic>
      <p:sp>
        <p:nvSpPr>
          <p:cNvPr id="23" name="Text 16"/>
          <p:cNvSpPr/>
          <p:nvPr/>
        </p:nvSpPr>
        <p:spPr>
          <a:xfrm>
            <a:off x="5440680" y="3611880"/>
            <a:ext cx="2468880" cy="1097280"/>
          </a:xfrm>
          <a:prstGeom prst="rect">
            <a:avLst/>
          </a:prstGeom>
          <a:noFill/>
          <a:ln/>
        </p:spPr>
        <p:txBody>
          <a:bodyPr wrap="square" lIns="0" tIns="0" rIns="0" bIns="0" rtlCol="0" anchor="ctr"/>
          <a:lstStyle/>
          <a:p>
            <a:pPr marL="0" indent="0">
              <a:lnSpc>
                <a:spcPct val="115000"/>
              </a:lnSpc>
              <a:buNone/>
            </a:pPr>
            <a:r>
              <a:rPr lang="en-US" sz="1150" dirty="0">
                <a:solidFill>
                  <a:srgbClr val="B9D4FF"/>
                </a:solidFill>
                <a:latin typeface="Calibri" pitchFamily="34" charset="0"/>
                <a:ea typeface="Calibri" pitchFamily="34" charset="-122"/>
                <a:cs typeface="Calibri" pitchFamily="34" charset="-120"/>
              </a:rPr>
              <a:t>Demonstrates basic recovery mechanisms</a:t>
            </a:r>
            <a:endParaRPr lang="en-US" sz="1150" dirty="0"/>
          </a:p>
        </p:txBody>
      </p:sp>
      <p:sp>
        <p:nvSpPr>
          <p:cNvPr id="24" name="Shape 17"/>
          <p:cNvSpPr/>
          <p:nvPr/>
        </p:nvSpPr>
        <p:spPr>
          <a:xfrm>
            <a:off x="8321040" y="3474720"/>
            <a:ext cx="3520440" cy="1371600"/>
          </a:xfrm>
          <a:prstGeom prst="roundRect">
            <a:avLst>
              <a:gd name="adj" fmla="val 5333"/>
            </a:avLst>
          </a:prstGeom>
          <a:solidFill>
            <a:srgbClr val="13294B"/>
          </a:solidFill>
          <a:ln/>
          <a:effectLst>
            <a:outerShdw blurRad="101600" dist="38100" dir="5400000" algn="bl" rotWithShape="0">
              <a:srgbClr val="000000">
                <a:alpha val="35000"/>
              </a:srgbClr>
            </a:outerShdw>
          </a:effectLst>
        </p:spPr>
      </p:sp>
      <p:sp>
        <p:nvSpPr>
          <p:cNvPr id="25" name="Shape 18"/>
          <p:cNvSpPr/>
          <p:nvPr/>
        </p:nvSpPr>
        <p:spPr>
          <a:xfrm>
            <a:off x="8595360" y="3931920"/>
            <a:ext cx="457200" cy="457200"/>
          </a:xfrm>
          <a:prstGeom prst="ellipse">
            <a:avLst/>
          </a:prstGeom>
          <a:solidFill>
            <a:srgbClr val="1B3A63"/>
          </a:solidFill>
          <a:ln/>
        </p:spPr>
      </p:sp>
      <p:pic>
        <p:nvPicPr>
          <p:cNvPr id="26" name="Image 5" descr="icons/check_cyan.png"/>
          <p:cNvPicPr>
            <a:picLocks noChangeAspect="1"/>
          </p:cNvPicPr>
          <p:nvPr/>
        </p:nvPicPr>
        <p:blipFill>
          <a:blip r:embed="rId8"/>
          <a:stretch>
            <a:fillRect/>
          </a:stretch>
        </p:blipFill>
        <p:spPr>
          <a:xfrm>
            <a:off x="8714232" y="4050792"/>
            <a:ext cx="219456" cy="219456"/>
          </a:xfrm>
          <a:prstGeom prst="rect">
            <a:avLst/>
          </a:prstGeom>
        </p:spPr>
      </p:pic>
      <p:sp>
        <p:nvSpPr>
          <p:cNvPr id="27" name="Text 19"/>
          <p:cNvSpPr/>
          <p:nvPr/>
        </p:nvSpPr>
        <p:spPr>
          <a:xfrm>
            <a:off x="9189720" y="3611880"/>
            <a:ext cx="2468880" cy="1097280"/>
          </a:xfrm>
          <a:prstGeom prst="rect">
            <a:avLst/>
          </a:prstGeom>
          <a:noFill/>
          <a:ln/>
        </p:spPr>
        <p:txBody>
          <a:bodyPr wrap="square" lIns="0" tIns="0" rIns="0" bIns="0" rtlCol="0" anchor="ctr"/>
          <a:lstStyle/>
          <a:p>
            <a:pPr marL="0" indent="0">
              <a:lnSpc>
                <a:spcPct val="115000"/>
              </a:lnSpc>
              <a:buNone/>
            </a:pPr>
            <a:r>
              <a:rPr lang="en-US" sz="1150" dirty="0">
                <a:solidFill>
                  <a:srgbClr val="B9D4FF"/>
                </a:solidFill>
                <a:latin typeface="Calibri" pitchFamily="34" charset="0"/>
                <a:ea typeface="Calibri" pitchFamily="34" charset="-122"/>
                <a:cs typeface="Calibri" pitchFamily="34" charset="-120"/>
              </a:rPr>
              <a:t>Builds practical understanding of process &amp; resource management</a:t>
            </a:r>
            <a:endParaRPr lang="en-US" sz="1150" dirty="0"/>
          </a:p>
        </p:txBody>
      </p:sp>
      <p:sp>
        <p:nvSpPr>
          <p:cNvPr id="28" name="Shape 20"/>
          <p:cNvSpPr/>
          <p:nvPr/>
        </p:nvSpPr>
        <p:spPr>
          <a:xfrm>
            <a:off x="4727448" y="5166360"/>
            <a:ext cx="2743200" cy="0"/>
          </a:xfrm>
          <a:prstGeom prst="line">
            <a:avLst/>
          </a:prstGeom>
          <a:noFill/>
          <a:ln w="12700">
            <a:solidFill>
              <a:srgbClr val="2A4574"/>
            </a:solidFill>
            <a:prstDash val="solid"/>
          </a:ln>
        </p:spPr>
      </p:sp>
      <p:sp>
        <p:nvSpPr>
          <p:cNvPr id="29" name="Text 21"/>
          <p:cNvSpPr/>
          <p:nvPr/>
        </p:nvSpPr>
        <p:spPr>
          <a:xfrm>
            <a:off x="914400" y="5349240"/>
            <a:ext cx="10360152"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Thank You</a:t>
            </a:r>
            <a:endParaRPr lang="en-US" sz="2600" dirty="0"/>
          </a:p>
        </p:txBody>
      </p:sp>
      <p:sp>
        <p:nvSpPr>
          <p:cNvPr id="30" name="Text 22"/>
          <p:cNvSpPr/>
          <p:nvPr/>
        </p:nvSpPr>
        <p:spPr>
          <a:xfrm>
            <a:off x="914400" y="5806440"/>
            <a:ext cx="10360152" cy="411480"/>
          </a:xfrm>
          <a:prstGeom prst="rect">
            <a:avLst/>
          </a:prstGeom>
          <a:noFill/>
          <a:ln/>
        </p:spPr>
        <p:txBody>
          <a:bodyPr wrap="square" lIns="0" tIns="0" rIns="0" bIns="0" rtlCol="0" anchor="ctr"/>
          <a:lstStyle/>
          <a:p>
            <a:pPr marL="0" indent="0" algn="ctr">
              <a:buNone/>
            </a:pPr>
            <a:r>
              <a:rPr lang="en-US" sz="1600" dirty="0">
                <a:solidFill>
                  <a:srgbClr val="38BDF8"/>
                </a:solidFill>
                <a:latin typeface="Calibri" pitchFamily="34" charset="0"/>
                <a:ea typeface="Calibri" pitchFamily="34" charset="-122"/>
                <a:cs typeface="Calibri" pitchFamily="34" charset="-120"/>
              </a:rPr>
              <a:t>Questions?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496</TotalTime>
  <Words>1874</Words>
  <Application>Microsoft Office PowerPoint</Application>
  <PresentationFormat>Widescreen</PresentationFormat>
  <Paragraphs>238</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Shashanth Manchi</cp:lastModifiedBy>
  <cp:revision>4</cp:revision>
  <dcterms:created xsi:type="dcterms:W3CDTF">2026-09-02T03:35:19Z</dcterms:created>
  <dcterms:modified xsi:type="dcterms:W3CDTF">2026-09-30T03:05:58Z</dcterms:modified>
</cp:coreProperties>
</file>